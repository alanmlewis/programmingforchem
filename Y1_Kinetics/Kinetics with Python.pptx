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</p:sldIdLst>
  <p:sldSz cy="5148250" cx="9144000"/>
  <p:notesSz cx="9144000" cy="685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43" roundtripDataSignature="AMtx7mgaTPZu8NOiHb6zwEUDSIGmsQnf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2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customschemas.google.com/relationships/presentationmetadata" Target="meta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962400" cy="3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5180013" y="0"/>
            <a:ext cx="3962400" cy="3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6513513"/>
            <a:ext cx="3962400" cy="3444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2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3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4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6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7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8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9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0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0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1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1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2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2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3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4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5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6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6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7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7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8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9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9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0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0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1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1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2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2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3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23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4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4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5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25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6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26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7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7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8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28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9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9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0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30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31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2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32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3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33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4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34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5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35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6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36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7:notes"/>
          <p:cNvSpPr txBox="1"/>
          <p:nvPr>
            <p:ph idx="1" type="body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37:notes"/>
          <p:cNvSpPr/>
          <p:nvPr>
            <p:ph idx="2" type="sldImg"/>
          </p:nvPr>
        </p:nvSpPr>
        <p:spPr>
          <a:xfrm>
            <a:off x="2516188" y="857250"/>
            <a:ext cx="4111625" cy="23145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/>
          <p:nvPr>
            <p:ph type="title"/>
          </p:nvPr>
        </p:nvSpPr>
        <p:spPr>
          <a:xfrm>
            <a:off x="293355" y="1709081"/>
            <a:ext cx="8229600" cy="8580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00"/>
              <a:buFont typeface="Cambria"/>
              <a:buNone/>
              <a:defRPr sz="49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9"/>
          <p:cNvSpPr txBox="1"/>
          <p:nvPr>
            <p:ph idx="1" type="body"/>
          </p:nvPr>
        </p:nvSpPr>
        <p:spPr>
          <a:xfrm>
            <a:off x="293077" y="2470263"/>
            <a:ext cx="4778117" cy="1009381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  <a:defRPr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15" name="Google Shape;15;p39"/>
          <p:cNvCxnSpPr/>
          <p:nvPr/>
        </p:nvCxnSpPr>
        <p:spPr>
          <a:xfrm>
            <a:off x="293077" y="4900251"/>
            <a:ext cx="8534397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" name="Google Shape;16;p39"/>
          <p:cNvSpPr txBox="1"/>
          <p:nvPr/>
        </p:nvSpPr>
        <p:spPr>
          <a:xfrm>
            <a:off x="8417170" y="4900251"/>
            <a:ext cx="51581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000" u="none" cap="none" strike="noStrike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18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0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Cambria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0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20" name="Google Shape;20;p40"/>
          <p:cNvCxnSpPr/>
          <p:nvPr/>
        </p:nvCxnSpPr>
        <p:spPr>
          <a:xfrm>
            <a:off x="293077" y="4900251"/>
            <a:ext cx="8534397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" name="Google Shape;21;p40"/>
          <p:cNvSpPr txBox="1"/>
          <p:nvPr/>
        </p:nvSpPr>
        <p:spPr>
          <a:xfrm>
            <a:off x="8417170" y="4900251"/>
            <a:ext cx="51581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000" u="none" cap="none" strike="noStrike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1"/>
          <p:cNvSpPr txBox="1"/>
          <p:nvPr>
            <p:ph type="title"/>
          </p:nvPr>
        </p:nvSpPr>
        <p:spPr>
          <a:xfrm>
            <a:off x="457201" y="2230849"/>
            <a:ext cx="8229600" cy="8580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Cambria"/>
              <a:buNone/>
              <a:defRPr sz="5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7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&amp; Image">
  <p:cSld name="Content &amp; Imag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2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Cambria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2"/>
          <p:cNvSpPr txBox="1"/>
          <p:nvPr>
            <p:ph idx="1" type="body"/>
          </p:nvPr>
        </p:nvSpPr>
        <p:spPr>
          <a:xfrm>
            <a:off x="293217" y="1073431"/>
            <a:ext cx="444774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27" name="Google Shape;27;p42"/>
          <p:cNvCxnSpPr/>
          <p:nvPr/>
        </p:nvCxnSpPr>
        <p:spPr>
          <a:xfrm>
            <a:off x="293077" y="4900251"/>
            <a:ext cx="8534397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" name="Google Shape;28;p42"/>
          <p:cNvSpPr txBox="1"/>
          <p:nvPr/>
        </p:nvSpPr>
        <p:spPr>
          <a:xfrm>
            <a:off x="8417170" y="4900251"/>
            <a:ext cx="51581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0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000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2"/>
          <p:cNvSpPr/>
          <p:nvPr>
            <p:ph idx="2" type="pic"/>
          </p:nvPr>
        </p:nvSpPr>
        <p:spPr>
          <a:xfrm>
            <a:off x="5019675" y="1073150"/>
            <a:ext cx="3727450" cy="3481388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3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Cambria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3"/>
          <p:cNvSpPr txBox="1"/>
          <p:nvPr>
            <p:ph idx="1" type="body"/>
          </p:nvPr>
        </p:nvSpPr>
        <p:spPr>
          <a:xfrm>
            <a:off x="293217" y="1653539"/>
            <a:ext cx="4126383" cy="290099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" name="Google Shape;33;p43"/>
          <p:cNvCxnSpPr/>
          <p:nvPr/>
        </p:nvCxnSpPr>
        <p:spPr>
          <a:xfrm>
            <a:off x="293077" y="4900251"/>
            <a:ext cx="8534397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" name="Google Shape;34;p43"/>
          <p:cNvSpPr txBox="1"/>
          <p:nvPr/>
        </p:nvSpPr>
        <p:spPr>
          <a:xfrm>
            <a:off x="8417170" y="4900251"/>
            <a:ext cx="51581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0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000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3"/>
          <p:cNvSpPr txBox="1"/>
          <p:nvPr>
            <p:ph idx="2" type="body"/>
          </p:nvPr>
        </p:nvSpPr>
        <p:spPr>
          <a:xfrm>
            <a:off x="293077" y="1073151"/>
            <a:ext cx="4126523" cy="51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  <a:defRPr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43"/>
          <p:cNvSpPr txBox="1"/>
          <p:nvPr>
            <p:ph idx="3" type="body"/>
          </p:nvPr>
        </p:nvSpPr>
        <p:spPr>
          <a:xfrm>
            <a:off x="4724542" y="1653539"/>
            <a:ext cx="4126383" cy="290099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43"/>
          <p:cNvSpPr txBox="1"/>
          <p:nvPr>
            <p:ph idx="4" type="body"/>
          </p:nvPr>
        </p:nvSpPr>
        <p:spPr>
          <a:xfrm>
            <a:off x="4724402" y="1073151"/>
            <a:ext cx="4126523" cy="51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  <a:defRPr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 3 way">
  <p:cSld name="Comparison 3 way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44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Cambria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4"/>
          <p:cNvSpPr txBox="1"/>
          <p:nvPr>
            <p:ph idx="1" type="body"/>
          </p:nvPr>
        </p:nvSpPr>
        <p:spPr>
          <a:xfrm>
            <a:off x="293218" y="1653539"/>
            <a:ext cx="2853580" cy="290099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41" name="Google Shape;41;p44"/>
          <p:cNvCxnSpPr/>
          <p:nvPr/>
        </p:nvCxnSpPr>
        <p:spPr>
          <a:xfrm>
            <a:off x="293077" y="4900251"/>
            <a:ext cx="8534397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44"/>
          <p:cNvSpPr txBox="1"/>
          <p:nvPr/>
        </p:nvSpPr>
        <p:spPr>
          <a:xfrm>
            <a:off x="8417170" y="4900251"/>
            <a:ext cx="51581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0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000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4"/>
          <p:cNvSpPr txBox="1"/>
          <p:nvPr>
            <p:ph idx="2" type="body"/>
          </p:nvPr>
        </p:nvSpPr>
        <p:spPr>
          <a:xfrm>
            <a:off x="293077" y="1073151"/>
            <a:ext cx="2853721" cy="51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  <a:defRPr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44"/>
          <p:cNvSpPr txBox="1"/>
          <p:nvPr>
            <p:ph idx="3" type="body"/>
          </p:nvPr>
        </p:nvSpPr>
        <p:spPr>
          <a:xfrm>
            <a:off x="3268860" y="1653539"/>
            <a:ext cx="2853580" cy="290099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44"/>
          <p:cNvSpPr txBox="1"/>
          <p:nvPr>
            <p:ph idx="4" type="body"/>
          </p:nvPr>
        </p:nvSpPr>
        <p:spPr>
          <a:xfrm>
            <a:off x="3268719" y="1073151"/>
            <a:ext cx="2853721" cy="51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  <a:defRPr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44"/>
          <p:cNvSpPr txBox="1"/>
          <p:nvPr>
            <p:ph idx="5" type="body"/>
          </p:nvPr>
        </p:nvSpPr>
        <p:spPr>
          <a:xfrm>
            <a:off x="6219278" y="1653539"/>
            <a:ext cx="2853580" cy="290099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44"/>
          <p:cNvSpPr txBox="1"/>
          <p:nvPr>
            <p:ph idx="6" type="body"/>
          </p:nvPr>
        </p:nvSpPr>
        <p:spPr>
          <a:xfrm>
            <a:off x="6219137" y="1073151"/>
            <a:ext cx="2853721" cy="519430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  <a:defRPr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wo column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5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Cambria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45"/>
          <p:cNvSpPr txBox="1"/>
          <p:nvPr>
            <p:ph idx="1" type="body"/>
          </p:nvPr>
        </p:nvSpPr>
        <p:spPr>
          <a:xfrm>
            <a:off x="293217" y="1073151"/>
            <a:ext cx="4126383" cy="3481387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51" name="Google Shape;51;p45"/>
          <p:cNvCxnSpPr/>
          <p:nvPr/>
        </p:nvCxnSpPr>
        <p:spPr>
          <a:xfrm>
            <a:off x="293077" y="4900251"/>
            <a:ext cx="8534397" cy="0"/>
          </a:xfrm>
          <a:prstGeom prst="straightConnector1">
            <a:avLst/>
          </a:prstGeom>
          <a:noFill/>
          <a:ln cap="flat" cmpd="sng" w="9525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" name="Google Shape;52;p45"/>
          <p:cNvSpPr txBox="1"/>
          <p:nvPr/>
        </p:nvSpPr>
        <p:spPr>
          <a:xfrm>
            <a:off x="8417170" y="4900251"/>
            <a:ext cx="515816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0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000">
              <a:solidFill>
                <a:srgbClr val="A5A5A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5"/>
          <p:cNvSpPr txBox="1"/>
          <p:nvPr>
            <p:ph idx="2" type="body"/>
          </p:nvPr>
        </p:nvSpPr>
        <p:spPr>
          <a:xfrm>
            <a:off x="4724542" y="1073151"/>
            <a:ext cx="4126383" cy="3481387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  <a:defRPr sz="1800" cap="none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8"/>
          <p:cNvSpPr txBox="1"/>
          <p:nvPr>
            <p:ph type="title"/>
          </p:nvPr>
        </p:nvSpPr>
        <p:spPr>
          <a:xfrm>
            <a:off x="457201" y="1709081"/>
            <a:ext cx="8229600" cy="8580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00"/>
              <a:buFont typeface="Cambria"/>
              <a:buNone/>
              <a:defRPr b="1" i="0" sz="49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8"/>
          <p:cNvSpPr txBox="1"/>
          <p:nvPr>
            <p:ph idx="1" type="body"/>
          </p:nvPr>
        </p:nvSpPr>
        <p:spPr>
          <a:xfrm>
            <a:off x="457201" y="2668450"/>
            <a:ext cx="8229600" cy="507820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>
            <a:lvl1pPr indent="-228600" lvl="0" marL="457200" marR="0" rtl="0" algn="l">
              <a:spcBef>
                <a:spcPts val="600"/>
              </a:spcBef>
              <a:spcAft>
                <a:spcPts val="0"/>
              </a:spcAft>
              <a:buClr>
                <a:srgbClr val="25303B"/>
              </a:buClr>
              <a:buSzPts val="3000"/>
              <a:buFont typeface="Arial"/>
              <a:buNone/>
              <a:defRPr b="0" i="0" sz="3000" u="none" cap="none" strike="noStrike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7350" lvl="1" marL="9144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Char char="–"/>
              <a:defRPr b="0" i="0" sz="2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61950" lvl="2" marL="1371600" marR="0" rtl="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869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37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hemtl.york.ac.uk/data-analysis-reporting/data-manipulation/python" TargetMode="External"/><Relationship Id="rId4" Type="http://schemas.openxmlformats.org/officeDocument/2006/relationships/hyperlink" Target="https://forms.gle/6wU4PHuNug4mFGD57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9.png"/><Relationship Id="rId5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Relationship Id="rId4" Type="http://schemas.openxmlformats.org/officeDocument/2006/relationships/image" Target="../media/image8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drive.google.com/file/d/1-AeRry80hnoOy0wmQqq5nd4BGE1ElEy-/view?usp=drive_link" TargetMode="External"/><Relationship Id="rId4" Type="http://schemas.openxmlformats.org/officeDocument/2006/relationships/image" Target="../media/image17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7.png"/><Relationship Id="rId6" Type="http://schemas.openxmlformats.org/officeDocument/2006/relationships/image" Target="../media/image2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8.png"/><Relationship Id="rId4" Type="http://schemas.openxmlformats.org/officeDocument/2006/relationships/image" Target="../media/image26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"/>
          <p:cNvSpPr txBox="1"/>
          <p:nvPr>
            <p:ph type="title"/>
          </p:nvPr>
        </p:nvSpPr>
        <p:spPr>
          <a:xfrm>
            <a:off x="293355" y="1709081"/>
            <a:ext cx="8229600" cy="8580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00"/>
              <a:buFont typeface="Cambria"/>
              <a:buNone/>
            </a:pPr>
            <a:r>
              <a:rPr lang="en-GB"/>
              <a:t>Kinetics with Python</a:t>
            </a:r>
            <a:endParaRPr/>
          </a:p>
        </p:txBody>
      </p:sp>
      <p:sp>
        <p:nvSpPr>
          <p:cNvPr id="59" name="Google Shape;59;p1"/>
          <p:cNvSpPr txBox="1"/>
          <p:nvPr>
            <p:ph idx="1" type="body"/>
          </p:nvPr>
        </p:nvSpPr>
        <p:spPr>
          <a:xfrm>
            <a:off x="293076" y="2842790"/>
            <a:ext cx="8229599" cy="91251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3000"/>
              <a:buNone/>
            </a:pPr>
            <a:r>
              <a:rPr lang="en-GB"/>
              <a:t>Handling multiple data files with Python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Things you’ll need</a:t>
            </a:r>
            <a:endParaRPr/>
          </a:p>
        </p:txBody>
      </p:sp>
      <p:sp>
        <p:nvSpPr>
          <p:cNvPr id="65" name="Google Shape;65;p2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VLE page: </a:t>
            </a:r>
            <a:r>
              <a:rPr lang="en-GB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Introductory Skills and Practical 2 &gt; PC Sessions &gt; Temperature Dependent Kinetics (Python)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Five CSV files of Kinetic data from the VLE (download and unzip!)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This powerpoint (downloading it is best!)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Python scripts (test.py and plot.py) available at (also on VLE):</a:t>
            </a:r>
            <a:br>
              <a:rPr lang="en-GB"/>
            </a:br>
            <a:r>
              <a:rPr lang="en-GB" sz="1400" u="sng">
                <a:solidFill>
                  <a:schemeClr val="hlink"/>
                </a:solidFill>
                <a:hlinkClick r:id="rId3"/>
              </a:rPr>
              <a:t>https://chemtl.york.ac.uk/data-analysis-reporting/data-manipulation/python</a:t>
            </a:r>
            <a:endParaRPr sz="1400"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Download all of these into a folder on your M: or H: drive and open that folder in Windows Explorer. Make sure the .py and .csv files are in the same folder.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 u="sng">
                <a:solidFill>
                  <a:schemeClr val="hlink"/>
                </a:solidFill>
                <a:hlinkClick r:id="rId4"/>
              </a:rPr>
              <a:t>Google submission form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Graphs and calculations</a:t>
            </a:r>
            <a:endParaRPr/>
          </a:p>
        </p:txBody>
      </p:sp>
      <p:sp>
        <p:nvSpPr>
          <p:cNvPr id="71" name="Google Shape;71;p3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Last PC session you made use of spreadsheets to carry out data analysis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Spreadsheets are useful tools for data visualisation and analysis, especially for one-off sets of data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However, carrying out repetitive analyses can be quite time consuming, even using templates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This session will look at using pre-written Python scripts to allow for bulk data processing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Python scripts</a:t>
            </a:r>
            <a:endParaRPr/>
          </a:p>
        </p:txBody>
      </p:sp>
      <p:sp>
        <p:nvSpPr>
          <p:cNvPr id="77" name="Google Shape;77;p4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These scripts are just text files which contain instructions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need to run these files using a Python interpreter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Usually need to run with </a:t>
            </a:r>
            <a:r>
              <a:rPr i="1" lang="en-GB"/>
              <a:t>arguments</a:t>
            </a:r>
            <a:r>
              <a:rPr lang="en-GB"/>
              <a:t> which provide information such as the files to analyse when the script runs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Later, we will edit variables in the scripts to suit what you want to achieve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Eg set axes labels, choose columns for x and y, whether to include a line of best fit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script can be run on one file, or many files, and will process all the data in the same manner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5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Python terminology</a:t>
            </a:r>
            <a:endParaRPr/>
          </a:p>
        </p:txBody>
      </p:sp>
      <p:sp>
        <p:nvSpPr>
          <p:cNvPr id="83" name="Google Shape;83;p5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Variable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Used to store things at one point in the script which can be used later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Comment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Lines prefixed with # are ignored by the script and are used for notes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Loop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Instructions which are repeated by the script: for something, do some function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Function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A set of instructions for the computer to execute (eg draw graph, label axes)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Libraries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Pre-written code which can imported into our scripts to provide common functions (eg plotting, maths functions, reading files, displaying windows)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Executing a script</a:t>
            </a:r>
            <a:endParaRPr/>
          </a:p>
        </p:txBody>
      </p:sp>
      <p:sp>
        <p:nvSpPr>
          <p:cNvPr id="89" name="Google Shape;89;p6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Open the folder containing your python script in Windows Explorer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Open Powershell: hold shift, right click in the folder, and select “Open PowerShell window here”.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Check the ‘Working Directory’ is displayed in Powershell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Call the python interpreter and pass the script name and any arguments: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</a:pPr>
            <a:r>
              <a:rPr i="1" lang="en-GB">
                <a:solidFill>
                  <a:srgbClr val="002060"/>
                </a:solidFill>
              </a:rPr>
              <a:t>python</a:t>
            </a:r>
            <a:r>
              <a:rPr i="1" lang="en-GB"/>
              <a:t> </a:t>
            </a:r>
            <a:r>
              <a:rPr i="1" lang="en-GB">
                <a:solidFill>
                  <a:srgbClr val="FF0000"/>
                </a:solidFill>
              </a:rPr>
              <a:t>script.py</a:t>
            </a:r>
            <a:r>
              <a:rPr i="1" lang="en-GB"/>
              <a:t> </a:t>
            </a:r>
            <a:r>
              <a:rPr i="1" lang="en-GB">
                <a:solidFill>
                  <a:srgbClr val="2C5818"/>
                </a:solidFill>
              </a:rPr>
              <a:t>arguments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  <p:pic>
        <p:nvPicPr>
          <p:cNvPr descr="Powershell command for calling the Python interpreter to run a test script" id="90" name="Google Shape;9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45117" y="3745897"/>
            <a:ext cx="4119816" cy="10969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7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Test script</a:t>
            </a:r>
            <a:endParaRPr/>
          </a:p>
        </p:txBody>
      </p:sp>
      <p:sp>
        <p:nvSpPr>
          <p:cNvPr id="96" name="Google Shape;96;p7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Download the test script (test.py)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This script </a:t>
            </a:r>
            <a:r>
              <a:rPr i="1" lang="en-GB"/>
              <a:t>should</a:t>
            </a:r>
            <a:r>
              <a:rPr lang="en-GB"/>
              <a:t> run correctly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</a:pPr>
            <a:r>
              <a:rPr i="1" lang="en-GB">
                <a:solidFill>
                  <a:srgbClr val="002060"/>
                </a:solidFill>
              </a:rPr>
              <a:t>python</a:t>
            </a:r>
            <a:r>
              <a:rPr i="1" lang="en-GB"/>
              <a:t> </a:t>
            </a:r>
            <a:r>
              <a:rPr i="1" lang="en-GB">
                <a:solidFill>
                  <a:srgbClr val="FF0000"/>
                </a:solidFill>
              </a:rPr>
              <a:t>test.py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script checks you have a working python environment with all the packages installed that we will be using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Run the test script </a:t>
            </a:r>
            <a:r>
              <a:rPr i="1" lang="en-GB"/>
              <a:t>first</a:t>
            </a:r>
            <a:r>
              <a:rPr lang="en-GB"/>
              <a:t> when working on a different computer to check the setup!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If this script won’t run, get help to fix your setup…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Is Python installed?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If you are on a campus machine, try another PC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Test script</a:t>
            </a:r>
            <a:endParaRPr/>
          </a:p>
        </p:txBody>
      </p:sp>
      <p:pic>
        <p:nvPicPr>
          <p:cNvPr descr="Python output after running the Python test script successfully." id="102" name="Google Shape;10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1912" y="1151414"/>
            <a:ext cx="6480175" cy="28454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9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Pseudo-First order kinetics</a:t>
            </a:r>
            <a:endParaRPr/>
          </a:p>
        </p:txBody>
      </p:sp>
      <p:sp>
        <p:nvSpPr>
          <p:cNvPr id="108" name="Google Shape;108;p9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Going to look at the temperature dependent kinetics for the bleaching of Brilliant Green dye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This is the same analysis you carried out before using spreadsheets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But we’re going to look at using Python so that we can carry out large amounts of data analysis with minimal effort</a:t>
            </a:r>
            <a:endParaRPr/>
          </a:p>
        </p:txBody>
      </p:sp>
      <p:pic>
        <p:nvPicPr>
          <p:cNvPr descr="Video of the bleaching of a green dye. A rectangular cuvette on the left contains a green liquid, and on the right a colourless liquid." id="109" name="Google Shape;10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76800" y="1574694"/>
            <a:ext cx="2973983" cy="16728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Reaction of sodium hydroxide and brilliant green " id="110" name="Google Shape;11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65822" y="1725977"/>
            <a:ext cx="3770703" cy="1234979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9"/>
          <p:cNvSpPr/>
          <p:nvPr/>
        </p:nvSpPr>
        <p:spPr>
          <a:xfrm>
            <a:off x="2838919" y="3055440"/>
            <a:ext cx="2018106" cy="46820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0" l="-301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600" u="none" cap="none" strike="noStrike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0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Steps we’re going to do</a:t>
            </a:r>
            <a:endParaRPr/>
          </a:p>
        </p:txBody>
      </p:sp>
      <p:sp>
        <p:nvSpPr>
          <p:cNvPr id="117" name="Google Shape;117;p10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Plot the raw data for each run: abs v time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Create linearised plots: ln(abs) v time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Collate all the kobs values from the individual plots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Create an Arrhenius plot and determine the activation energy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Will get the settings right on one file first for each step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Then will run the same script to process all the files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Plotting a graph</a:t>
            </a:r>
            <a:endParaRPr/>
          </a:p>
        </p:txBody>
      </p:sp>
      <p:sp>
        <p:nvSpPr>
          <p:cNvPr id="123" name="Google Shape;123;p11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Download the plot script and the CSV files from the kinetic runs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Start with running the script and passing an argument of one filename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0" lvl="1" marL="408331" rtl="0" algn="ctr">
              <a:spcBef>
                <a:spcPts val="36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</a:pPr>
            <a:r>
              <a:rPr lang="en-GB">
                <a:solidFill>
                  <a:srgbClr val="002060"/>
                </a:solidFill>
              </a:rPr>
              <a:t>python</a:t>
            </a:r>
            <a:r>
              <a:rPr lang="en-GB"/>
              <a:t> </a:t>
            </a:r>
            <a:r>
              <a:rPr lang="en-GB">
                <a:solidFill>
                  <a:srgbClr val="FF0000"/>
                </a:solidFill>
              </a:rPr>
              <a:t>plot.py</a:t>
            </a:r>
            <a:r>
              <a:rPr lang="en-GB"/>
              <a:t> </a:t>
            </a:r>
            <a:r>
              <a:rPr lang="en-GB">
                <a:solidFill>
                  <a:srgbClr val="2C5818"/>
                </a:solidFill>
              </a:rPr>
              <a:t>20_deg_C.csv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script should run and will create a graph from the file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then need to look at how to improve the output to suit our analysis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2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Plotting a graph</a:t>
            </a:r>
            <a:endParaRPr/>
          </a:p>
        </p:txBody>
      </p:sp>
      <p:pic>
        <p:nvPicPr>
          <p:cNvPr descr="A graph with a blue line, and no axis labels" id="129" name="Google Shape;12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93832" y="826731"/>
            <a:ext cx="5104510" cy="38283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The script</a:t>
            </a:r>
            <a:endParaRPr/>
          </a:p>
        </p:txBody>
      </p:sp>
      <p:sp>
        <p:nvSpPr>
          <p:cNvPr id="135" name="Google Shape;135;p13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Each script is a series of instructions in a text file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Comments are prefixed with a # and are ignored when the script is run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There are lots of options to configure in the script, and these are highlighted by the comments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Open the script up in a text editor (right click, Edit with Notepad++)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Axes labels</a:t>
            </a:r>
            <a:endParaRPr/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Need to set some appropriate axes labels with units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These come from the lines:</a:t>
            </a:r>
            <a:endParaRPr/>
          </a:p>
          <a:p>
            <a:pPr indent="0" lvl="1" marL="408331" rtl="0" algn="ctr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ax.set_xlabel("X axis")</a:t>
            </a:r>
            <a:endParaRPr/>
          </a:p>
          <a:p>
            <a:pPr indent="0" lvl="1" marL="408331" rtl="0" algn="ctr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ax.set_ylabel("Y axis")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Change the text between the quotes to set appropriate labels with units, following IUPAC style: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lang="en-GB"/>
              <a:t>Axis label / units</a:t>
            </a:r>
            <a:br>
              <a:rPr lang="en-GB"/>
            </a:br>
            <a:r>
              <a:rPr lang="en-GB"/>
              <a:t>e.g. time / s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Edit and save the file, then rerun the script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Axes labels</a:t>
            </a:r>
            <a:endParaRPr/>
          </a:p>
        </p:txBody>
      </p:sp>
      <p:pic>
        <p:nvPicPr>
          <p:cNvPr descr="A graph with a blue line, and absorption on the y axis label and time on the x axis label." id="147" name="Google Shape;14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66054" y="902181"/>
            <a:ext cx="5075260" cy="3806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Setting limits</a:t>
            </a:r>
            <a:endParaRPr/>
          </a:p>
        </p:txBody>
      </p:sp>
      <p:sp>
        <p:nvSpPr>
          <p:cNvPr id="153" name="Google Shape;153;p16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By default the axes ranges are automatically scaled to fit the data being plotted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This isn’t always desirable, such as for the y-axis here, where it doesn’t reach zero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limits can be set in these lines if uncommented:</a:t>
            </a:r>
            <a:endParaRPr/>
          </a:p>
          <a:p>
            <a:pPr indent="0" lvl="1" marL="408331" rtl="0" algn="ctr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 # ax.set_xlim([0,200])</a:t>
            </a:r>
            <a:endParaRPr/>
          </a:p>
          <a:p>
            <a:pPr indent="0" lvl="1" marL="408331" rtl="0" algn="ctr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# ax.set_ylim([0.0,1.0])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Need to take care when setting limits that suitable values are chosen for the entire dataset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Setting limits</a:t>
            </a:r>
            <a:endParaRPr/>
          </a:p>
        </p:txBody>
      </p:sp>
      <p:pic>
        <p:nvPicPr>
          <p:cNvPr descr="A graph with a blue line, and absorption on the y axis label and time on the x axis label, and the y axis normalised to start at 1." id="159" name="Google Shape;15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52939" y="920536"/>
            <a:ext cx="4988492" cy="37413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Setting output filenames</a:t>
            </a:r>
            <a:endParaRPr/>
          </a:p>
        </p:txBody>
      </p:sp>
      <p:sp>
        <p:nvSpPr>
          <p:cNvPr id="165" name="Google Shape;165;p18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script allows the setting of a custom file suffix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suffix = '_output’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can change this output as we use the script for different purposes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Right now we’re creating ‘raw data’ plots and we will go onto creating linearised plots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can change the suffix to reflect the files we’re creating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suffix = ‘_rawplot’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Raw data plots</a:t>
            </a:r>
            <a:endParaRPr/>
          </a:p>
        </p:txBody>
      </p:sp>
      <p:sp>
        <p:nvSpPr>
          <p:cNvPr id="171" name="Google Shape;171;p19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Now ready to create raw data plots for the whole dataset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</a:pPr>
            <a:r>
              <a:rPr lang="en-GB">
                <a:solidFill>
                  <a:srgbClr val="002060"/>
                </a:solidFill>
              </a:rPr>
              <a:t>python</a:t>
            </a:r>
            <a:r>
              <a:rPr lang="en-GB"/>
              <a:t> </a:t>
            </a:r>
            <a:r>
              <a:rPr lang="en-GB">
                <a:solidFill>
                  <a:srgbClr val="FF0000"/>
                </a:solidFill>
              </a:rPr>
              <a:t>plot.py</a:t>
            </a:r>
            <a:r>
              <a:rPr lang="en-GB"/>
              <a:t> </a:t>
            </a:r>
            <a:r>
              <a:rPr lang="en-GB">
                <a:solidFill>
                  <a:srgbClr val="2C5818"/>
                </a:solidFill>
              </a:rPr>
              <a:t>*.csv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Once the files are created, we might choose to move these files out of the working directory to store as files we want to keep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E.g. put in a subdirectory that describes what these plots are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0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Changing output filenames</a:t>
            </a:r>
            <a:endParaRPr/>
          </a:p>
        </p:txBody>
      </p:sp>
      <p:sp>
        <p:nvSpPr>
          <p:cNvPr id="177" name="Google Shape;177;p20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Next we’re going to start creating linearised plots of this data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Best to change the suffix to reflect this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suffix = ‘_linearised’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1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Data manipulation</a:t>
            </a:r>
            <a:endParaRPr/>
          </a:p>
        </p:txBody>
      </p:sp>
      <p:sp>
        <p:nvSpPr>
          <p:cNvPr id="183" name="Google Shape;183;p21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In order to determine the pseudo-first order rate constants for each of the kinetics runs, we’re going to linearise the data: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can set this manipulation to happen inside the script, so that the data gets manipulated before plotting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Eg we might need to :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Convert time in min to time in seconds: </a:t>
            </a:r>
            <a:r>
              <a:rPr i="1" lang="en-GB"/>
              <a:t>x = x*60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Convert °C to K: </a:t>
            </a:r>
            <a:r>
              <a:rPr i="1" lang="en-GB"/>
              <a:t>y = y + 273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Or in this case, take the natural log of y: </a:t>
            </a:r>
            <a:r>
              <a:rPr i="1" lang="en-GB"/>
              <a:t>y = np.log(y)</a:t>
            </a:r>
            <a:endParaRPr/>
          </a:p>
          <a:p>
            <a:pPr indent="-1714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  <p:sp>
        <p:nvSpPr>
          <p:cNvPr id="184" name="Google Shape;184;p21"/>
          <p:cNvSpPr/>
          <p:nvPr/>
        </p:nvSpPr>
        <p:spPr>
          <a:xfrm>
            <a:off x="3310982" y="1813748"/>
            <a:ext cx="1937710" cy="369332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Data manipulation</a:t>
            </a:r>
            <a:endParaRPr/>
          </a:p>
        </p:txBody>
      </p:sp>
      <p:sp>
        <p:nvSpPr>
          <p:cNvPr id="190" name="Google Shape;190;p22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In the data manipulation section we are going to uncomment the line to convert y before plotting: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# y = np.log(y)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We’ll also need to change out y-axis label to reflect the data now being plotted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And return the axes limits to automatic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can then run the script on our 20°C CSV file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3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Data manipulation</a:t>
            </a:r>
            <a:endParaRPr/>
          </a:p>
        </p:txBody>
      </p:sp>
      <p:pic>
        <p:nvPicPr>
          <p:cNvPr descr="A graph with a straight blue line, and log absorption on the y axis label and time on the x axis label." id="196" name="Google Shape;19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58206" y="981145"/>
            <a:ext cx="4827587" cy="36206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4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Line of best fit</a:t>
            </a:r>
            <a:endParaRPr/>
          </a:p>
        </p:txBody>
      </p:sp>
      <p:sp>
        <p:nvSpPr>
          <p:cNvPr id="202" name="Google Shape;202;p24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Now we have linear data, we want to include a line of best fit, and calculate the gradient and y-intercept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# Set fit to True to calculate a fit to the (possibly manipulated) data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fit = False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# Define the form of the function to be fit to the data (default: linear a*x+b)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def func(x,m,c):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    return m*x+c</a:t>
            </a:r>
            <a:endParaRPr i="1"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Also enable legend so we know what things are: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#ax.legend()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5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Line of best fit</a:t>
            </a:r>
            <a:endParaRPr/>
          </a:p>
        </p:txBody>
      </p:sp>
      <p:pic>
        <p:nvPicPr>
          <p:cNvPr descr="A graph with a straight blue line, and log absorption on the y axis label and time on the x axis label. An orange line of best fit is included" id="208" name="Google Shape;20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95912" y="994494"/>
            <a:ext cx="4952176" cy="37141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6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Collating results</a:t>
            </a:r>
            <a:endParaRPr/>
          </a:p>
        </p:txBody>
      </p:sp>
      <p:sp>
        <p:nvSpPr>
          <p:cNvPr id="214" name="Google Shape;214;p26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Often if we are performing linear regression, we want to collate the results from the individual sets of data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can have these values collated into a new file, along with the filename of the input file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We need to turn on the collation: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# Set output to True to write the parameters of the line of best fit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# of every processed data file to a single external file.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output = False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And optionally change the filename: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output_fname = 'fit_data'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7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Collating results</a:t>
            </a:r>
            <a:endParaRPr/>
          </a:p>
        </p:txBody>
      </p:sp>
      <p:sp>
        <p:nvSpPr>
          <p:cNvPr id="220" name="Google Shape;220;p27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Now ready to create linearised data plots for the whole dataset, complete with ‘fit data’ output file: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</a:pPr>
            <a:r>
              <a:rPr lang="en-GB">
                <a:solidFill>
                  <a:srgbClr val="002060"/>
                </a:solidFill>
              </a:rPr>
              <a:t>python</a:t>
            </a:r>
            <a:r>
              <a:rPr lang="en-GB"/>
              <a:t> </a:t>
            </a:r>
            <a:r>
              <a:rPr lang="en-GB">
                <a:solidFill>
                  <a:srgbClr val="FF0000"/>
                </a:solidFill>
              </a:rPr>
              <a:t>plot.py</a:t>
            </a:r>
            <a:r>
              <a:rPr lang="en-GB"/>
              <a:t> </a:t>
            </a:r>
            <a:r>
              <a:rPr lang="en-GB">
                <a:solidFill>
                  <a:srgbClr val="2C5818"/>
                </a:solidFill>
              </a:rPr>
              <a:t>*.csv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8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Collating results</a:t>
            </a:r>
            <a:endParaRPr/>
          </a:p>
        </p:txBody>
      </p:sp>
      <p:pic>
        <p:nvPicPr>
          <p:cNvPr descr="Collected observed rate constants" id="226" name="Google Shape;22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7477" y="2986728"/>
            <a:ext cx="2848373" cy="15242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inearised kinetics plot at 20 degrees C." id="227" name="Google Shape;227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3808" y="836393"/>
            <a:ext cx="2602773" cy="19520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inearised kinetics plot at 25 degrees C." id="228" name="Google Shape;228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849594" y="836394"/>
            <a:ext cx="2602772" cy="19520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inearised kinetics plot at 30 degrees C." id="229" name="Google Shape;229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525379" y="836394"/>
            <a:ext cx="2602772" cy="19520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inearised kinetics plot at 35 degrees C." id="230" name="Google Shape;230;p2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73808" y="2872912"/>
            <a:ext cx="2602770" cy="19520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inearised kinetics plot at 40 degrees C." id="231" name="Google Shape;231;p2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849594" y="2872913"/>
            <a:ext cx="2602770" cy="19520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9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Changing output filenames</a:t>
            </a:r>
            <a:endParaRPr/>
          </a:p>
        </p:txBody>
      </p:sp>
      <p:sp>
        <p:nvSpPr>
          <p:cNvPr id="237" name="Google Shape;237;p29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Best to change the suffix before going onto the Arrhenius plot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suffix = ‘_</a:t>
            </a:r>
            <a:r>
              <a:rPr lang="en-GB"/>
              <a:t> arrhenius</a:t>
            </a:r>
            <a:r>
              <a:rPr i="1" lang="en-GB"/>
              <a:t>’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0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Arrhenius equation</a:t>
            </a:r>
            <a:endParaRPr/>
          </a:p>
        </p:txBody>
      </p:sp>
      <p:sp>
        <p:nvSpPr>
          <p:cNvPr id="243" name="Google Shape;243;p30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Arrhenius equation is the relationship for the temperature dependence of reaction rates and is given by: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Where: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k is the rate constant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T is the absolute temperature (in K)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A is the pre-exponential factor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Eₐ is the activation energy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R is the gas constant</a:t>
            </a:r>
            <a:endParaRPr/>
          </a:p>
        </p:txBody>
      </p:sp>
      <p:sp>
        <p:nvSpPr>
          <p:cNvPr id="244" name="Google Shape;244;p30"/>
          <p:cNvSpPr/>
          <p:nvPr/>
        </p:nvSpPr>
        <p:spPr>
          <a:xfrm>
            <a:off x="3039898" y="1677988"/>
            <a:ext cx="2730235" cy="89614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1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Arrhenius plot</a:t>
            </a:r>
            <a:endParaRPr/>
          </a:p>
        </p:txBody>
      </p:sp>
      <p:sp>
        <p:nvSpPr>
          <p:cNvPr id="250" name="Google Shape;250;p31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From a series of rate constants determined at different temperatures, this expression can be plotted in order to determine the activation energy and pre-exponential factor.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To make a plot using the data in our ‘fit_data’ file, we need to add the temperatures.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CSV files are just text files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Data is separated with a comma delimiter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Open the CSV file in Notepad++ and edit the values in the first column to just be the temperature (in °C)</a:t>
            </a:r>
            <a:endParaRPr/>
          </a:p>
          <a:p>
            <a:pPr indent="-1714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2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Python or Excel</a:t>
            </a:r>
            <a:endParaRPr/>
          </a:p>
        </p:txBody>
      </p:sp>
      <p:sp>
        <p:nvSpPr>
          <p:cNvPr id="256" name="Google Shape;256;p32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1714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Now it’s time to use the tools you’ve learned to make an Arrhenius plot (ln(k) v 1/T):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Load the data in the ‘fit_data’ file, modify the data manipulation section to make sure you plot the right variables, add the line of best fit.</a:t>
            </a:r>
            <a:endParaRPr/>
          </a:p>
          <a:p>
            <a:pPr indent="-285750" lvl="1" marL="69408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For help with the data manipulation, try </a:t>
            </a:r>
            <a:r>
              <a:rPr lang="en-GB" u="sng">
                <a:solidFill>
                  <a:schemeClr val="hlink"/>
                </a:solidFill>
                <a:hlinkClick r:id="rId3"/>
              </a:rPr>
              <a:t>this list of functions</a:t>
            </a:r>
            <a:r>
              <a:rPr lang="en-GB"/>
              <a:t>.</a:t>
            </a:r>
            <a:endParaRPr/>
          </a:p>
          <a:p>
            <a:pPr indent="-285750" lvl="1" marL="694080" rtl="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pPr>
            <a:r>
              <a:rPr lang="en-GB"/>
              <a:t>You almost certainly won’t get this right first time, but that’s normal! Trial and error is how most programming works.</a:t>
            </a:r>
            <a:endParaRPr/>
          </a:p>
        </p:txBody>
      </p:sp>
      <p:sp>
        <p:nvSpPr>
          <p:cNvPr id="257" name="Google Shape;257;p32"/>
          <p:cNvSpPr/>
          <p:nvPr/>
        </p:nvSpPr>
        <p:spPr>
          <a:xfrm>
            <a:off x="3206882" y="855470"/>
            <a:ext cx="2730235" cy="896143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3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Setting data to plot</a:t>
            </a:r>
            <a:endParaRPr/>
          </a:p>
        </p:txBody>
      </p:sp>
      <p:sp>
        <p:nvSpPr>
          <p:cNvPr id="263" name="Google Shape;263;p33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Our data from earlier has been formatted in the default way the script expects CSV data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X-values in the first column (index 0)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Y-values in the second column (index 1)</a:t>
            </a:r>
            <a:endParaRPr/>
          </a:p>
          <a:p>
            <a:pPr indent="-285750" lvl="1" marL="69408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▪"/>
            </a:pPr>
            <a:r>
              <a:rPr lang="en-GB"/>
              <a:t>Single header row containing column headings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Not all data will be like this!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These settings can be configured:</a:t>
            </a:r>
            <a:endParaRPr/>
          </a:p>
          <a:p>
            <a:pPr indent="0" lvl="1" marL="40833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data = np.loadtxt(fname,delimiter=",",skiprows=1)</a:t>
            </a:r>
            <a:endParaRPr/>
          </a:p>
          <a:p>
            <a:pPr indent="0" lvl="1" marL="40833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x = data[:,0]</a:t>
            </a:r>
            <a:endParaRPr/>
          </a:p>
          <a:p>
            <a:pPr indent="0" lvl="1" marL="408331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i="1" lang="en-GB"/>
              <a:t>y = data[:,1]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4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Arrhenius plot</a:t>
            </a:r>
            <a:endParaRPr/>
          </a:p>
        </p:txBody>
      </p:sp>
      <p:sp>
        <p:nvSpPr>
          <p:cNvPr id="269" name="Google Shape;269;p34"/>
          <p:cNvSpPr txBox="1"/>
          <p:nvPr>
            <p:ph idx="1" type="body"/>
          </p:nvPr>
        </p:nvSpPr>
        <p:spPr>
          <a:xfrm>
            <a:off x="293217" y="1073431"/>
            <a:ext cx="4278783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lang="en-GB"/>
              <a:t>Make sure you change:</a:t>
            </a:r>
            <a:endParaRPr/>
          </a:p>
          <a:p>
            <a:pPr indent="0" lvl="0" marL="0" rtl="0" algn="ctr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i="1" lang="en-GB"/>
              <a:t>suffix = ‘_</a:t>
            </a:r>
            <a:r>
              <a:rPr lang="en-GB"/>
              <a:t> arrhenius</a:t>
            </a:r>
            <a:r>
              <a:rPr i="1" lang="en-GB"/>
              <a:t>’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lang="en-GB"/>
              <a:t>You might lose data otherwise!</a:t>
            </a:r>
            <a:endParaRPr/>
          </a:p>
          <a:p>
            <a:pPr indent="0" lvl="0" marL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None/>
            </a:pPr>
            <a:r>
              <a:rPr lang="en-GB"/>
              <a:t>Goal: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Plot ln(k) v 1/T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Set axes labels with units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Include line of best fit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Include legend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Output m and c from the line of best fit</a:t>
            </a:r>
            <a:endParaRPr/>
          </a:p>
        </p:txBody>
      </p:sp>
      <p:sp>
        <p:nvSpPr>
          <p:cNvPr id="270" name="Google Shape;270;p34"/>
          <p:cNvSpPr txBox="1"/>
          <p:nvPr/>
        </p:nvSpPr>
        <p:spPr>
          <a:xfrm>
            <a:off x="4557101" y="1071798"/>
            <a:ext cx="4278783" cy="3829219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rPr lang="en-GB" sz="1800" cap="none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  <a:t>Equations:</a:t>
            </a:r>
            <a:endParaRPr/>
          </a:p>
          <a:p>
            <a:pPr indent="-285750" lvl="0" marL="285750" marR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 sz="1800" cap="none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  <a:t>The first set of plots used:</a:t>
            </a:r>
            <a:endParaRPr/>
          </a:p>
          <a:p>
            <a:pPr indent="-171450" lvl="0" marL="285750" marR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 sz="1800" cap="none">
              <a:solidFill>
                <a:srgbClr val="2530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 sz="1800" cap="none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  <a:t>What are the m values we have in our ‘fit_data’ file equal to?</a:t>
            </a:r>
            <a:endParaRPr/>
          </a:p>
          <a:p>
            <a:pPr indent="-285750" lvl="0" marL="285750" marR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 sz="1800" cap="none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  <a:t>To find the true rate constant, we need:</a:t>
            </a:r>
            <a:endParaRPr/>
          </a:p>
          <a:p>
            <a:pPr indent="-171450" lvl="0" marL="285750" marR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br>
              <a:rPr lang="en-GB" sz="1800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cap="none">
              <a:solidFill>
                <a:srgbClr val="2530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 sz="1800" cap="none">
                <a:solidFill>
                  <a:srgbClr val="25303B"/>
                </a:solidFill>
                <a:latin typeface="Calibri"/>
                <a:ea typeface="Calibri"/>
                <a:cs typeface="Calibri"/>
                <a:sym typeface="Calibri"/>
              </a:rPr>
              <a:t>The Arrhenius equation is:</a:t>
            </a:r>
            <a:endParaRPr/>
          </a:p>
        </p:txBody>
      </p:sp>
      <p:sp>
        <p:nvSpPr>
          <p:cNvPr id="271" name="Google Shape;271;p34"/>
          <p:cNvSpPr/>
          <p:nvPr/>
        </p:nvSpPr>
        <p:spPr>
          <a:xfrm>
            <a:off x="5433717" y="4005273"/>
            <a:ext cx="2730300" cy="7815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272" name="Google Shape;272;p34"/>
          <p:cNvSpPr/>
          <p:nvPr/>
        </p:nvSpPr>
        <p:spPr>
          <a:xfrm>
            <a:off x="5338824" y="1666782"/>
            <a:ext cx="2920023" cy="461665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-2631" l="-624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273" name="Google Shape;273;p34"/>
          <p:cNvSpPr/>
          <p:nvPr/>
        </p:nvSpPr>
        <p:spPr>
          <a:xfrm>
            <a:off x="5461134" y="2926366"/>
            <a:ext cx="2229600" cy="461700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17102" l="0" r="-545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274" name="Google Shape;274;p34"/>
          <p:cNvSpPr/>
          <p:nvPr/>
        </p:nvSpPr>
        <p:spPr>
          <a:xfrm>
            <a:off x="5263242" y="3314042"/>
            <a:ext cx="2734800" cy="461700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-17102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5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Arrhenius plot</a:t>
            </a:r>
            <a:endParaRPr/>
          </a:p>
        </p:txBody>
      </p:sp>
      <p:sp>
        <p:nvSpPr>
          <p:cNvPr id="280" name="Google Shape;280;p35"/>
          <p:cNvSpPr txBox="1"/>
          <p:nvPr>
            <p:ph idx="1" type="body"/>
          </p:nvPr>
        </p:nvSpPr>
        <p:spPr>
          <a:xfrm>
            <a:off x="293217" y="923304"/>
            <a:ext cx="8554948" cy="3976947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Change the suffix to ‘</a:t>
            </a:r>
            <a:r>
              <a:rPr i="1" lang="en-GB"/>
              <a:t>_arrhenius</a:t>
            </a:r>
            <a:r>
              <a:rPr lang="en-GB"/>
              <a:t>’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first column in `fit_data` contains T in °C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second column in `fit_data` contains -</a:t>
            </a:r>
            <a:r>
              <a:rPr i="1" lang="en-GB"/>
              <a:t>k</a:t>
            </a:r>
            <a:r>
              <a:rPr baseline="-25000" lang="en-GB"/>
              <a:t>obs</a:t>
            </a:r>
            <a:endParaRPr baseline="-25000"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Convert T into K then to 1/T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Convert -</a:t>
            </a:r>
            <a:r>
              <a:rPr i="1" lang="en-GB"/>
              <a:t>k</a:t>
            </a:r>
            <a:r>
              <a:rPr baseline="-25000" lang="en-GB"/>
              <a:t>obs</a:t>
            </a:r>
            <a:r>
              <a:rPr lang="en-GB"/>
              <a:t> into </a:t>
            </a:r>
            <a:r>
              <a:rPr i="1" lang="en-GB"/>
              <a:t>k</a:t>
            </a:r>
            <a:r>
              <a:rPr lang="en-GB"/>
              <a:t> using the relationship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[-OH] is 0.0185 M</a:t>
            </a:r>
            <a:endParaRPr/>
          </a:p>
          <a:p>
            <a:pPr indent="-1714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None/>
            </a:pPr>
            <a:r>
              <a:t/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Plot ln(k) against 1/T and a line of best fit. Output the fit parameters to a file, and convert from the gradient m to the activation energy </a:t>
            </a:r>
            <a:r>
              <a:rPr i="1" lang="en-GB"/>
              <a:t>E</a:t>
            </a:r>
            <a:r>
              <a:rPr baseline="-25000" i="1" lang="en-GB"/>
              <a:t>a</a:t>
            </a:r>
            <a:endParaRPr baseline="-25000" i="1"/>
          </a:p>
        </p:txBody>
      </p:sp>
      <p:sp>
        <p:nvSpPr>
          <p:cNvPr id="281" name="Google Shape;281;p35"/>
          <p:cNvSpPr/>
          <p:nvPr/>
        </p:nvSpPr>
        <p:spPr>
          <a:xfrm>
            <a:off x="3813105" y="761687"/>
            <a:ext cx="2730235" cy="89614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  <p:sp>
        <p:nvSpPr>
          <p:cNvPr id="282" name="Google Shape;282;p35"/>
          <p:cNvSpPr/>
          <p:nvPr/>
        </p:nvSpPr>
        <p:spPr>
          <a:xfrm>
            <a:off x="4570691" y="2882149"/>
            <a:ext cx="1716304" cy="369332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-16665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libri"/>
                <a:ea typeface="Calibri"/>
                <a:cs typeface="Calibri"/>
                <a:sym typeface="Calibri"/>
              </a:rPr>
              <a:t> 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6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Arrhenius plot</a:t>
            </a:r>
            <a:endParaRPr/>
          </a:p>
        </p:txBody>
      </p:sp>
      <p:pic>
        <p:nvPicPr>
          <p:cNvPr descr="A graph with a straight blue line, and log of the rate on the y axis label and inverse temperature on the x axis label." id="288" name="Google Shape;288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769" y="1007842"/>
            <a:ext cx="4916580" cy="368743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he line of best fit parameters for the Arrhenius plot" id="289" name="Google Shape;289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3605" y="1137512"/>
            <a:ext cx="2610214" cy="657317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6"/>
          <p:cNvSpPr txBox="1"/>
          <p:nvPr/>
        </p:nvSpPr>
        <p:spPr>
          <a:xfrm>
            <a:off x="6728862" y="3184157"/>
            <a:ext cx="1494833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 = 29 kJ mol⁻¹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7"/>
          <p:cNvSpPr txBox="1"/>
          <p:nvPr>
            <p:ph type="ctrTitle"/>
          </p:nvPr>
        </p:nvSpPr>
        <p:spPr>
          <a:xfrm>
            <a:off x="173808" y="248011"/>
            <a:ext cx="6892914" cy="57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825" lIns="81650" spcFirstLastPara="1" rIns="81650" wrap="square" tIns="408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en-GB"/>
              <a:t>Summary</a:t>
            </a:r>
            <a:endParaRPr/>
          </a:p>
        </p:txBody>
      </p:sp>
      <p:sp>
        <p:nvSpPr>
          <p:cNvPr id="296" name="Google Shape;296;p37"/>
          <p:cNvSpPr txBox="1"/>
          <p:nvPr>
            <p:ph idx="1" type="body"/>
          </p:nvPr>
        </p:nvSpPr>
        <p:spPr>
          <a:xfrm>
            <a:off x="293217" y="1073431"/>
            <a:ext cx="8223598" cy="3481108"/>
          </a:xfrm>
          <a:prstGeom prst="rect">
            <a:avLst/>
          </a:prstGeom>
          <a:noFill/>
          <a:ln>
            <a:noFill/>
          </a:ln>
        </p:spPr>
        <p:txBody>
          <a:bodyPr anchorCtr="0" anchor="t" bIns="40825" lIns="81650" spcFirstLastPara="1" rIns="81650" wrap="square" tIns="40825">
            <a:noAutofit/>
          </a:bodyPr>
          <a:lstStyle/>
          <a:p>
            <a:pPr indent="-285750" lvl="0" marL="285750" rtl="0" algn="l">
              <a:spcBef>
                <a:spcPts val="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use of computer scripts allows repetitive analysis to be carried out easily, in a consistent manner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The collating of results automatically minimises the risk of errors from manual transcription</a:t>
            </a:r>
            <a:endParaRPr/>
          </a:p>
          <a:p>
            <a:pPr indent="-285750" lvl="0" marL="285750" rtl="0" algn="l">
              <a:spcBef>
                <a:spcPts val="360"/>
              </a:spcBef>
              <a:spcAft>
                <a:spcPts val="0"/>
              </a:spcAft>
              <a:buClr>
                <a:srgbClr val="25303B"/>
              </a:buClr>
              <a:buSzPts val="1800"/>
              <a:buFont typeface="Noto Sans Symbols"/>
              <a:buChar char="▪"/>
            </a:pPr>
            <a:r>
              <a:rPr lang="en-GB"/>
              <a:t>Python and Spreadsheets can both be very valuable tools in analysis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University of York Colour Palette">
      <a:dk1>
        <a:srgbClr val="25303B"/>
      </a:dk1>
      <a:lt1>
        <a:srgbClr val="FFFFFF"/>
      </a:lt1>
      <a:dk2>
        <a:srgbClr val="E3E6E5"/>
      </a:dk2>
      <a:lt2>
        <a:srgbClr val="00627D"/>
      </a:lt2>
      <a:accent1>
        <a:srgbClr val="5AB031"/>
      </a:accent1>
      <a:accent2>
        <a:srgbClr val="9067A9"/>
      </a:accent2>
      <a:accent3>
        <a:srgbClr val="E2388C"/>
      </a:accent3>
      <a:accent4>
        <a:srgbClr val="E62A32"/>
      </a:accent4>
      <a:accent5>
        <a:srgbClr val="F18626"/>
      </a:accent5>
      <a:accent6>
        <a:srgbClr val="00ABAA"/>
      </a:accent6>
      <a:hlink>
        <a:srgbClr val="0096D6"/>
      </a:hlink>
      <a:folHlink>
        <a:srgbClr val="E238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2018-04-16T10:49:56Z</dcterms:created>
  <dc:creator>Microsoft Office User</dc:creator>
</cp:coreProperties>
</file>