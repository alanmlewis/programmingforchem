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514825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2">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2"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44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44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3962400" cy="3444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13513"/>
            <a:ext cx="3962400" cy="3444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p1: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p2: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4: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p5: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6: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7: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8: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9: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09bc51316d_1_57: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g309bc51316d_1_57: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10: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11: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12: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13: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14: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15: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2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23: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2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24: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2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25: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09bc51316d_1_72: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g309bc51316d_1_72: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0a9d03273a_0_0: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g30a9d03273a_0_0: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26: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097435c59e_0_12: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g3097435c59e_0_12: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3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30: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097435c59e_0_20: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097435c59e_0_20: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g3097435c59e_0_20:notes"/>
          <p:cNvSpPr txBox="1"/>
          <p:nvPr>
            <p:ph idx="12" type="sldNum"/>
          </p:nvPr>
        </p:nvSpPr>
        <p:spPr>
          <a:xfrm>
            <a:off x="5180013" y="6513513"/>
            <a:ext cx="3962400" cy="344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097435c59e_0_27: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097435c59e_0_27: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g3097435c59e_0_27:notes"/>
          <p:cNvSpPr txBox="1"/>
          <p:nvPr>
            <p:ph idx="12" type="sldNum"/>
          </p:nvPr>
        </p:nvSpPr>
        <p:spPr>
          <a:xfrm>
            <a:off x="5180013" y="6513513"/>
            <a:ext cx="3962400" cy="344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09954a1a80_0_0: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09954a1a80_0_0: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g309954a1a80_0_0:notes"/>
          <p:cNvSpPr txBox="1"/>
          <p:nvPr>
            <p:ph idx="12" type="sldNum"/>
          </p:nvPr>
        </p:nvSpPr>
        <p:spPr>
          <a:xfrm>
            <a:off x="5180013" y="6513513"/>
            <a:ext cx="3962400" cy="344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09bc51316d_1_78: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09bc51316d_1_78: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g309bc51316d_1_78:notes"/>
          <p:cNvSpPr txBox="1"/>
          <p:nvPr>
            <p:ph idx="12" type="sldNum"/>
          </p:nvPr>
        </p:nvSpPr>
        <p:spPr>
          <a:xfrm>
            <a:off x="5180013" y="6513513"/>
            <a:ext cx="3962400" cy="344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09954a1a80_0_11: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09954a1a80_0_11: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g309954a1a80_0_11:notes"/>
          <p:cNvSpPr txBox="1"/>
          <p:nvPr>
            <p:ph idx="12" type="sldNum"/>
          </p:nvPr>
        </p:nvSpPr>
        <p:spPr>
          <a:xfrm>
            <a:off x="5180013" y="6513513"/>
            <a:ext cx="3962400" cy="344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09954a1a80_0_19: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09954a1a80_0_19: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g309954a1a80_0_19:notes"/>
          <p:cNvSpPr txBox="1"/>
          <p:nvPr>
            <p:ph idx="12" type="sldNum"/>
          </p:nvPr>
        </p:nvSpPr>
        <p:spPr>
          <a:xfrm>
            <a:off x="5180013" y="6513513"/>
            <a:ext cx="3962400" cy="344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09bc51316d_1_87: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09bc51316d_1_87: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g309bc51316d_1_87:notes"/>
          <p:cNvSpPr txBox="1"/>
          <p:nvPr>
            <p:ph idx="12" type="sldNum"/>
          </p:nvPr>
        </p:nvSpPr>
        <p:spPr>
          <a:xfrm>
            <a:off x="5180013" y="6513513"/>
            <a:ext cx="3962400" cy="344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09954a1a80_0_26: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09954a1a80_0_26: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g309954a1a80_0_26:notes"/>
          <p:cNvSpPr txBox="1"/>
          <p:nvPr>
            <p:ph idx="12" type="sldNum"/>
          </p:nvPr>
        </p:nvSpPr>
        <p:spPr>
          <a:xfrm>
            <a:off x="5180013" y="6513513"/>
            <a:ext cx="3962400" cy="344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09bc51316d_1_0: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09bc51316d_1_0: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g309bc51316d_1_0:notes"/>
          <p:cNvSpPr txBox="1"/>
          <p:nvPr>
            <p:ph idx="12" type="sldNum"/>
          </p:nvPr>
        </p:nvSpPr>
        <p:spPr>
          <a:xfrm>
            <a:off x="5180013" y="6513513"/>
            <a:ext cx="3962400" cy="344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0a9d03273a_0_14: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0a9d03273a_0_14: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g30a9d03273a_0_14:notes"/>
          <p:cNvSpPr txBox="1"/>
          <p:nvPr>
            <p:ph idx="12" type="sldNum"/>
          </p:nvPr>
        </p:nvSpPr>
        <p:spPr>
          <a:xfrm>
            <a:off x="5180013" y="6513513"/>
            <a:ext cx="3962400" cy="344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37: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bg>
      <p:bgPr>
        <a:blipFill>
          <a:blip r:embed="rId2">
            <a:alphaModFix/>
          </a:blip>
          <a:stretch>
            <a:fillRect/>
          </a:stretch>
        </a:blipFill>
      </p:bgPr>
    </p:bg>
    <p:spTree>
      <p:nvGrpSpPr>
        <p:cNvPr id="12" name="Shape 12"/>
        <p:cNvGrpSpPr/>
        <p:nvPr/>
      </p:nvGrpSpPr>
      <p:grpSpPr>
        <a:xfrm>
          <a:off x="0" y="0"/>
          <a:ext cx="0" cy="0"/>
          <a:chOff x="0" y="0"/>
          <a:chExt cx="0" cy="0"/>
        </a:xfrm>
      </p:grpSpPr>
      <p:sp>
        <p:nvSpPr>
          <p:cNvPr id="13" name="Google Shape;13;p2"/>
          <p:cNvSpPr txBox="1"/>
          <p:nvPr>
            <p:ph type="title"/>
          </p:nvPr>
        </p:nvSpPr>
        <p:spPr>
          <a:xfrm>
            <a:off x="293355" y="1709081"/>
            <a:ext cx="8229600" cy="858044"/>
          </a:xfrm>
          <a:prstGeom prst="rect">
            <a:avLst/>
          </a:prstGeom>
          <a:noFill/>
          <a:ln>
            <a:noFill/>
          </a:ln>
        </p:spPr>
        <p:txBody>
          <a:bodyPr anchorCtr="0" anchor="ctr" bIns="40825" lIns="81650" spcFirstLastPara="1" rIns="81650" wrap="square" tIns="40825">
            <a:normAutofit/>
          </a:bodyPr>
          <a:lstStyle>
            <a:lvl1pPr lvl="0" algn="l">
              <a:spcBef>
                <a:spcPts val="0"/>
              </a:spcBef>
              <a:spcAft>
                <a:spcPts val="0"/>
              </a:spcAft>
              <a:buClr>
                <a:schemeClr val="dk1"/>
              </a:buClr>
              <a:buSzPts val="4900"/>
              <a:buFont typeface="Cambria"/>
              <a:buNone/>
              <a:defRPr sz="49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 type="body"/>
          </p:nvPr>
        </p:nvSpPr>
        <p:spPr>
          <a:xfrm>
            <a:off x="293077" y="2470263"/>
            <a:ext cx="4778117" cy="1009381"/>
          </a:xfrm>
          <a:prstGeom prst="rect">
            <a:avLst/>
          </a:prstGeom>
          <a:noFill/>
          <a:ln>
            <a:noFill/>
          </a:ln>
        </p:spPr>
        <p:txBody>
          <a:bodyPr anchorCtr="0" anchor="t" bIns="40825" lIns="81650" spcFirstLastPara="1" rIns="81650" wrap="square" tIns="40825">
            <a:normAutofit/>
          </a:bodyPr>
          <a:lstStyle>
            <a:lvl1pPr indent="-228600" lvl="0" marL="457200" algn="l">
              <a:spcBef>
                <a:spcPts val="600"/>
              </a:spcBef>
              <a:spcAft>
                <a:spcPts val="0"/>
              </a:spcAft>
              <a:buClr>
                <a:srgbClr val="25303B"/>
              </a:buClr>
              <a:buSzPts val="3000"/>
              <a:buNone/>
              <a:defRPr cap="none"/>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15" name="Google Shape;15;p2"/>
          <p:cNvCxnSpPr/>
          <p:nvPr/>
        </p:nvCxnSpPr>
        <p:spPr>
          <a:xfrm>
            <a:off x="293077" y="4900251"/>
            <a:ext cx="8534397" cy="0"/>
          </a:xfrm>
          <a:prstGeom prst="straightConnector1">
            <a:avLst/>
          </a:prstGeom>
          <a:noFill/>
          <a:ln cap="flat" cmpd="sng" w="9525">
            <a:solidFill>
              <a:srgbClr val="7F7F7F"/>
            </a:solidFill>
            <a:prstDash val="solid"/>
            <a:round/>
            <a:headEnd len="sm" w="sm" type="none"/>
            <a:tailEnd len="sm" w="sm" type="none"/>
          </a:ln>
        </p:spPr>
      </p:cxnSp>
      <p:sp>
        <p:nvSpPr>
          <p:cNvPr id="16" name="Google Shape;16;p2"/>
          <p:cNvSpPr txBox="1"/>
          <p:nvPr/>
        </p:nvSpPr>
        <p:spPr>
          <a:xfrm>
            <a:off x="8417170" y="4900251"/>
            <a:ext cx="515816" cy="24622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b="0" i="0" lang="en-GB" sz="1000" u="none" cap="none" strike="noStrike">
                <a:solidFill>
                  <a:srgbClr val="A5A5A5"/>
                </a:solidFill>
                <a:latin typeface="Calibri"/>
                <a:ea typeface="Calibri"/>
                <a:cs typeface="Calibri"/>
                <a:sym typeface="Calibri"/>
              </a:rPr>
              <a:t>‹#›</a:t>
            </a:fld>
            <a:endParaRPr b="0" i="0" sz="1000" u="none" cap="none" strike="noStrike">
              <a:solidFill>
                <a:srgbClr val="A5A5A5"/>
              </a:solidFill>
              <a:latin typeface="Calibri"/>
              <a:ea typeface="Calibri"/>
              <a:cs typeface="Calibri"/>
              <a:sym typeface="Calibri"/>
            </a:endParaRPr>
          </a:p>
        </p:txBody>
      </p:sp>
    </p:spTree>
  </p:cSld>
  <p:clrMapOvr>
    <a:masterClrMapping/>
  </p:clrMapOvr>
  <p:extLst>
    <p:ext uri="{DCECCB84-F9BA-43D5-87BE-67443E8EF086}">
      <p15:sldGuideLst>
        <p15:guide id="1" pos="18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3"/>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a:bodyPr>
          <a:lstStyle>
            <a:lvl1pPr lvl="0" algn="l">
              <a:spcBef>
                <a:spcPts val="0"/>
              </a:spcBef>
              <a:spcAft>
                <a:spcPts val="0"/>
              </a:spcAft>
              <a:buClr>
                <a:schemeClr val="dk1"/>
              </a:buClr>
              <a:buSzPts val="3800"/>
              <a:buFont typeface="Cambria"/>
              <a:buNone/>
              <a:defRPr sz="3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293217" y="1073431"/>
            <a:ext cx="8223598" cy="3481108"/>
          </a:xfrm>
          <a:prstGeom prst="rect">
            <a:avLst/>
          </a:prstGeom>
          <a:noFill/>
          <a:ln>
            <a:noFill/>
          </a:ln>
        </p:spPr>
        <p:txBody>
          <a:bodyPr anchorCtr="0" anchor="t" bIns="40825" lIns="81650" spcFirstLastPara="1" rIns="81650" wrap="square" tIns="40825">
            <a:noAutofit/>
          </a:bodyPr>
          <a:lstStyle>
            <a:lvl1pPr indent="-342900" lvl="0" marL="457200" algn="l">
              <a:spcBef>
                <a:spcPts val="360"/>
              </a:spcBef>
              <a:spcAft>
                <a:spcPts val="0"/>
              </a:spcAft>
              <a:buClr>
                <a:srgbClr val="25303B"/>
              </a:buClr>
              <a:buSzPts val="1800"/>
              <a:buFont typeface="Noto Sans Symbols"/>
              <a:buChar char="▪"/>
              <a:defRPr sz="1800" cap="none"/>
            </a:lvl1pPr>
            <a:lvl2pPr indent="-342900" lvl="1" marL="914400" algn="l">
              <a:spcBef>
                <a:spcPts val="360"/>
              </a:spcBef>
              <a:spcAft>
                <a:spcPts val="0"/>
              </a:spcAft>
              <a:buClr>
                <a:schemeClr val="dk1"/>
              </a:buClr>
              <a:buSzPts val="1800"/>
              <a:buFont typeface="Noto Sans Symbols"/>
              <a:buChar char="▪"/>
              <a:defRPr sz="1800"/>
            </a:lvl2pPr>
            <a:lvl3pPr indent="-342900" lvl="2" marL="1371600" algn="l">
              <a:spcBef>
                <a:spcPts val="360"/>
              </a:spcBef>
              <a:spcAft>
                <a:spcPts val="0"/>
              </a:spcAft>
              <a:buClr>
                <a:schemeClr val="dk1"/>
              </a:buClr>
              <a:buSzPts val="1800"/>
              <a:buFont typeface="Noto Sans Symbols"/>
              <a:buChar char="▪"/>
              <a:defRPr sz="1800"/>
            </a:lvl3pPr>
            <a:lvl4pPr indent="-342900" lvl="3" marL="1828800" algn="l">
              <a:spcBef>
                <a:spcPts val="360"/>
              </a:spcBef>
              <a:spcAft>
                <a:spcPts val="0"/>
              </a:spcAft>
              <a:buClr>
                <a:schemeClr val="dk1"/>
              </a:buClr>
              <a:buSzPts val="1800"/>
              <a:buFont typeface="Noto Sans Symbols"/>
              <a:buChar char="▪"/>
              <a:defRPr sz="1800"/>
            </a:lvl4pPr>
            <a:lvl5pPr indent="-342900" lvl="4" marL="2286000" algn="l">
              <a:spcBef>
                <a:spcPts val="360"/>
              </a:spcBef>
              <a:spcAft>
                <a:spcPts val="0"/>
              </a:spcAft>
              <a:buClr>
                <a:schemeClr val="dk1"/>
              </a:buClr>
              <a:buSzPts val="1800"/>
              <a:buFont typeface="Noto Sans Symbols"/>
              <a:buChar char="▪"/>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20" name="Google Shape;20;p3"/>
          <p:cNvCxnSpPr/>
          <p:nvPr/>
        </p:nvCxnSpPr>
        <p:spPr>
          <a:xfrm>
            <a:off x="293077" y="4900251"/>
            <a:ext cx="8534397" cy="0"/>
          </a:xfrm>
          <a:prstGeom prst="straightConnector1">
            <a:avLst/>
          </a:prstGeom>
          <a:noFill/>
          <a:ln cap="flat" cmpd="sng" w="9525">
            <a:solidFill>
              <a:srgbClr val="7F7F7F"/>
            </a:solidFill>
            <a:prstDash val="solid"/>
            <a:round/>
            <a:headEnd len="sm" w="sm" type="none"/>
            <a:tailEnd len="sm" w="sm" type="none"/>
          </a:ln>
        </p:spPr>
      </p:cxnSp>
      <p:sp>
        <p:nvSpPr>
          <p:cNvPr id="21" name="Google Shape;21;p3"/>
          <p:cNvSpPr txBox="1"/>
          <p:nvPr/>
        </p:nvSpPr>
        <p:spPr>
          <a:xfrm>
            <a:off x="8417170" y="4900251"/>
            <a:ext cx="515816" cy="24622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b="0" i="0" lang="en-GB" sz="1000" u="none" cap="none" strike="noStrike">
                <a:solidFill>
                  <a:srgbClr val="A5A5A5"/>
                </a:solidFill>
                <a:latin typeface="Calibri"/>
                <a:ea typeface="Calibri"/>
                <a:cs typeface="Calibri"/>
                <a:sym typeface="Calibri"/>
              </a:rPr>
              <a:t>‹#›</a:t>
            </a:fld>
            <a:endParaRPr b="0" i="0" sz="1000" u="none" cap="none" strike="noStrike">
              <a:solidFill>
                <a:srgbClr val="A5A5A5"/>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4"/>
          <p:cNvSpPr txBox="1"/>
          <p:nvPr>
            <p:ph type="title"/>
          </p:nvPr>
        </p:nvSpPr>
        <p:spPr>
          <a:xfrm>
            <a:off x="457201" y="2230849"/>
            <a:ext cx="8229600" cy="858044"/>
          </a:xfrm>
          <a:prstGeom prst="rect">
            <a:avLst/>
          </a:prstGeom>
          <a:noFill/>
          <a:ln>
            <a:noFill/>
          </a:ln>
        </p:spPr>
        <p:txBody>
          <a:bodyPr anchorCtr="0" anchor="ctr" bIns="40825" lIns="81650" spcFirstLastPara="1" rIns="81650" wrap="square" tIns="40825">
            <a:normAutofit/>
          </a:bodyPr>
          <a:lstStyle>
            <a:lvl1pPr lvl="0" algn="l">
              <a:spcBef>
                <a:spcPts val="0"/>
              </a:spcBef>
              <a:spcAft>
                <a:spcPts val="0"/>
              </a:spcAft>
              <a:buClr>
                <a:schemeClr val="dk1"/>
              </a:buClr>
              <a:buSzPts val="5500"/>
              <a:buFont typeface="Cambria"/>
              <a:buNone/>
              <a:defRPr sz="5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pos="27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amp; Image">
  <p:cSld name="Content &amp; Image">
    <p:bg>
      <p:bgPr>
        <a:blipFill>
          <a:blip r:embed="rId2">
            <a:alphaModFix/>
          </a:blip>
          <a:stretch>
            <a:fillRect/>
          </a:stretch>
        </a:blipFill>
      </p:bgPr>
    </p:bg>
    <p:spTree>
      <p:nvGrpSpPr>
        <p:cNvPr id="24" name="Shape 24"/>
        <p:cNvGrpSpPr/>
        <p:nvPr/>
      </p:nvGrpSpPr>
      <p:grpSpPr>
        <a:xfrm>
          <a:off x="0" y="0"/>
          <a:ext cx="0" cy="0"/>
          <a:chOff x="0" y="0"/>
          <a:chExt cx="0" cy="0"/>
        </a:xfrm>
      </p:grpSpPr>
      <p:sp>
        <p:nvSpPr>
          <p:cNvPr id="25" name="Google Shape;25;p5"/>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a:bodyPr>
          <a:lstStyle>
            <a:lvl1pPr lvl="0" algn="l">
              <a:spcBef>
                <a:spcPts val="0"/>
              </a:spcBef>
              <a:spcAft>
                <a:spcPts val="0"/>
              </a:spcAft>
              <a:buClr>
                <a:schemeClr val="dk1"/>
              </a:buClr>
              <a:buSzPts val="3800"/>
              <a:buFont typeface="Cambria"/>
              <a:buNone/>
              <a:defRPr sz="3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5"/>
          <p:cNvSpPr txBox="1"/>
          <p:nvPr>
            <p:ph idx="1" type="body"/>
          </p:nvPr>
        </p:nvSpPr>
        <p:spPr>
          <a:xfrm>
            <a:off x="293217" y="1073431"/>
            <a:ext cx="4447748" cy="3481108"/>
          </a:xfrm>
          <a:prstGeom prst="rect">
            <a:avLst/>
          </a:prstGeom>
          <a:noFill/>
          <a:ln>
            <a:noFill/>
          </a:ln>
        </p:spPr>
        <p:txBody>
          <a:bodyPr anchorCtr="0" anchor="t" bIns="40825" lIns="81650" spcFirstLastPara="1" rIns="81650" wrap="square" tIns="40825">
            <a:noAutofit/>
          </a:bodyPr>
          <a:lstStyle>
            <a:lvl1pPr indent="-342900" lvl="0" marL="457200" algn="l">
              <a:spcBef>
                <a:spcPts val="360"/>
              </a:spcBef>
              <a:spcAft>
                <a:spcPts val="0"/>
              </a:spcAft>
              <a:buClr>
                <a:srgbClr val="25303B"/>
              </a:buClr>
              <a:buSzPts val="1800"/>
              <a:buFont typeface="Noto Sans Symbols"/>
              <a:buChar char="▪"/>
              <a:defRPr sz="1800" cap="none"/>
            </a:lvl1pPr>
            <a:lvl2pPr indent="-342900" lvl="1" marL="914400" algn="l">
              <a:spcBef>
                <a:spcPts val="360"/>
              </a:spcBef>
              <a:spcAft>
                <a:spcPts val="0"/>
              </a:spcAft>
              <a:buClr>
                <a:schemeClr val="dk1"/>
              </a:buClr>
              <a:buSzPts val="1800"/>
              <a:buFont typeface="Noto Sans Symbols"/>
              <a:buChar char="▪"/>
              <a:defRPr sz="1800"/>
            </a:lvl2pPr>
            <a:lvl3pPr indent="-342900" lvl="2" marL="1371600" algn="l">
              <a:spcBef>
                <a:spcPts val="360"/>
              </a:spcBef>
              <a:spcAft>
                <a:spcPts val="0"/>
              </a:spcAft>
              <a:buClr>
                <a:schemeClr val="dk1"/>
              </a:buClr>
              <a:buSzPts val="1800"/>
              <a:buFont typeface="Noto Sans Symbols"/>
              <a:buChar char="▪"/>
              <a:defRPr sz="1800"/>
            </a:lvl3pPr>
            <a:lvl4pPr indent="-342900" lvl="3" marL="1828800" algn="l">
              <a:spcBef>
                <a:spcPts val="360"/>
              </a:spcBef>
              <a:spcAft>
                <a:spcPts val="0"/>
              </a:spcAft>
              <a:buClr>
                <a:schemeClr val="dk1"/>
              </a:buClr>
              <a:buSzPts val="1800"/>
              <a:buFont typeface="Noto Sans Symbols"/>
              <a:buChar char="▪"/>
              <a:defRPr sz="1800"/>
            </a:lvl4pPr>
            <a:lvl5pPr indent="-342900" lvl="4" marL="2286000" algn="l">
              <a:spcBef>
                <a:spcPts val="360"/>
              </a:spcBef>
              <a:spcAft>
                <a:spcPts val="0"/>
              </a:spcAft>
              <a:buClr>
                <a:schemeClr val="dk1"/>
              </a:buClr>
              <a:buSzPts val="1800"/>
              <a:buFont typeface="Noto Sans Symbols"/>
              <a:buChar char="▪"/>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27" name="Google Shape;27;p5"/>
          <p:cNvCxnSpPr/>
          <p:nvPr/>
        </p:nvCxnSpPr>
        <p:spPr>
          <a:xfrm>
            <a:off x="293077" y="4900251"/>
            <a:ext cx="8534397" cy="0"/>
          </a:xfrm>
          <a:prstGeom prst="straightConnector1">
            <a:avLst/>
          </a:prstGeom>
          <a:noFill/>
          <a:ln cap="flat" cmpd="sng" w="9525">
            <a:solidFill>
              <a:srgbClr val="7F7F7F"/>
            </a:solidFill>
            <a:prstDash val="solid"/>
            <a:round/>
            <a:headEnd len="sm" w="sm" type="none"/>
            <a:tailEnd len="sm" w="sm" type="none"/>
          </a:ln>
        </p:spPr>
      </p:cxnSp>
      <p:sp>
        <p:nvSpPr>
          <p:cNvPr id="28" name="Google Shape;28;p5"/>
          <p:cNvSpPr txBox="1"/>
          <p:nvPr/>
        </p:nvSpPr>
        <p:spPr>
          <a:xfrm>
            <a:off x="8417170" y="4900251"/>
            <a:ext cx="515816" cy="24622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GB" sz="1000">
                <a:solidFill>
                  <a:srgbClr val="A5A5A5"/>
                </a:solidFill>
                <a:latin typeface="Calibri"/>
                <a:ea typeface="Calibri"/>
                <a:cs typeface="Calibri"/>
                <a:sym typeface="Calibri"/>
              </a:rPr>
              <a:t>‹#›</a:t>
            </a:fld>
            <a:endParaRPr sz="1000">
              <a:solidFill>
                <a:srgbClr val="A5A5A5"/>
              </a:solidFill>
              <a:latin typeface="Calibri"/>
              <a:ea typeface="Calibri"/>
              <a:cs typeface="Calibri"/>
              <a:sym typeface="Calibri"/>
            </a:endParaRPr>
          </a:p>
        </p:txBody>
      </p:sp>
      <p:sp>
        <p:nvSpPr>
          <p:cNvPr id="29" name="Google Shape;29;p5"/>
          <p:cNvSpPr/>
          <p:nvPr>
            <p:ph idx="2" type="pic"/>
          </p:nvPr>
        </p:nvSpPr>
        <p:spPr>
          <a:xfrm>
            <a:off x="5019675" y="1073150"/>
            <a:ext cx="3727450" cy="3481388"/>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bg>
      <p:bgPr>
        <a:blipFill>
          <a:blip r:embed="rId2">
            <a:alphaModFix/>
          </a:blip>
          <a:stretch>
            <a:fillRect/>
          </a:stretch>
        </a:blipFill>
      </p:bgPr>
    </p:bg>
    <p:spTree>
      <p:nvGrpSpPr>
        <p:cNvPr id="30" name="Shape 30"/>
        <p:cNvGrpSpPr/>
        <p:nvPr/>
      </p:nvGrpSpPr>
      <p:grpSpPr>
        <a:xfrm>
          <a:off x="0" y="0"/>
          <a:ext cx="0" cy="0"/>
          <a:chOff x="0" y="0"/>
          <a:chExt cx="0" cy="0"/>
        </a:xfrm>
      </p:grpSpPr>
      <p:sp>
        <p:nvSpPr>
          <p:cNvPr id="31" name="Google Shape;31;p6"/>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a:bodyPr>
          <a:lstStyle>
            <a:lvl1pPr lvl="0" algn="l">
              <a:spcBef>
                <a:spcPts val="0"/>
              </a:spcBef>
              <a:spcAft>
                <a:spcPts val="0"/>
              </a:spcAft>
              <a:buClr>
                <a:schemeClr val="dk1"/>
              </a:buClr>
              <a:buSzPts val="3800"/>
              <a:buFont typeface="Cambria"/>
              <a:buNone/>
              <a:defRPr sz="3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6"/>
          <p:cNvSpPr txBox="1"/>
          <p:nvPr>
            <p:ph idx="1" type="body"/>
          </p:nvPr>
        </p:nvSpPr>
        <p:spPr>
          <a:xfrm>
            <a:off x="293217" y="1653539"/>
            <a:ext cx="4126383" cy="2900999"/>
          </a:xfrm>
          <a:prstGeom prst="rect">
            <a:avLst/>
          </a:prstGeom>
          <a:noFill/>
          <a:ln>
            <a:noFill/>
          </a:ln>
        </p:spPr>
        <p:txBody>
          <a:bodyPr anchorCtr="0" anchor="t" bIns="40825" lIns="81650" spcFirstLastPara="1" rIns="81650" wrap="square" tIns="40825">
            <a:noAutofit/>
          </a:bodyPr>
          <a:lstStyle>
            <a:lvl1pPr indent="-342900" lvl="0" marL="457200" algn="l">
              <a:spcBef>
                <a:spcPts val="360"/>
              </a:spcBef>
              <a:spcAft>
                <a:spcPts val="0"/>
              </a:spcAft>
              <a:buClr>
                <a:srgbClr val="25303B"/>
              </a:buClr>
              <a:buSzPts val="1800"/>
              <a:buFont typeface="Noto Sans Symbols"/>
              <a:buChar char="▪"/>
              <a:defRPr sz="1800" cap="none"/>
            </a:lvl1pPr>
            <a:lvl2pPr indent="-342900" lvl="1" marL="914400" algn="l">
              <a:spcBef>
                <a:spcPts val="360"/>
              </a:spcBef>
              <a:spcAft>
                <a:spcPts val="0"/>
              </a:spcAft>
              <a:buClr>
                <a:schemeClr val="dk1"/>
              </a:buClr>
              <a:buSzPts val="1800"/>
              <a:buFont typeface="Noto Sans Symbols"/>
              <a:buChar char="▪"/>
              <a:defRPr sz="1800"/>
            </a:lvl2pPr>
            <a:lvl3pPr indent="-342900" lvl="2" marL="1371600" algn="l">
              <a:spcBef>
                <a:spcPts val="360"/>
              </a:spcBef>
              <a:spcAft>
                <a:spcPts val="0"/>
              </a:spcAft>
              <a:buClr>
                <a:schemeClr val="dk1"/>
              </a:buClr>
              <a:buSzPts val="1800"/>
              <a:buFont typeface="Noto Sans Symbols"/>
              <a:buChar char="▪"/>
              <a:defRPr sz="1800"/>
            </a:lvl3pPr>
            <a:lvl4pPr indent="-342900" lvl="3" marL="1828800" algn="l">
              <a:spcBef>
                <a:spcPts val="360"/>
              </a:spcBef>
              <a:spcAft>
                <a:spcPts val="0"/>
              </a:spcAft>
              <a:buClr>
                <a:schemeClr val="dk1"/>
              </a:buClr>
              <a:buSzPts val="1800"/>
              <a:buFont typeface="Noto Sans Symbols"/>
              <a:buChar char="▪"/>
              <a:defRPr sz="1800"/>
            </a:lvl4pPr>
            <a:lvl5pPr indent="-342900" lvl="4" marL="2286000" algn="l">
              <a:spcBef>
                <a:spcPts val="360"/>
              </a:spcBef>
              <a:spcAft>
                <a:spcPts val="0"/>
              </a:spcAft>
              <a:buClr>
                <a:schemeClr val="dk1"/>
              </a:buClr>
              <a:buSzPts val="1800"/>
              <a:buFont typeface="Noto Sans Symbols"/>
              <a:buChar char="▪"/>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33" name="Google Shape;33;p6"/>
          <p:cNvCxnSpPr/>
          <p:nvPr/>
        </p:nvCxnSpPr>
        <p:spPr>
          <a:xfrm>
            <a:off x="293077" y="4900251"/>
            <a:ext cx="8534397" cy="0"/>
          </a:xfrm>
          <a:prstGeom prst="straightConnector1">
            <a:avLst/>
          </a:prstGeom>
          <a:noFill/>
          <a:ln cap="flat" cmpd="sng" w="9525">
            <a:solidFill>
              <a:srgbClr val="7F7F7F"/>
            </a:solidFill>
            <a:prstDash val="solid"/>
            <a:round/>
            <a:headEnd len="sm" w="sm" type="none"/>
            <a:tailEnd len="sm" w="sm" type="none"/>
          </a:ln>
        </p:spPr>
      </p:cxnSp>
      <p:sp>
        <p:nvSpPr>
          <p:cNvPr id="34" name="Google Shape;34;p6"/>
          <p:cNvSpPr txBox="1"/>
          <p:nvPr/>
        </p:nvSpPr>
        <p:spPr>
          <a:xfrm>
            <a:off x="8417170" y="4900251"/>
            <a:ext cx="515816" cy="24622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GB" sz="1000">
                <a:solidFill>
                  <a:srgbClr val="A5A5A5"/>
                </a:solidFill>
                <a:latin typeface="Calibri"/>
                <a:ea typeface="Calibri"/>
                <a:cs typeface="Calibri"/>
                <a:sym typeface="Calibri"/>
              </a:rPr>
              <a:t>‹#›</a:t>
            </a:fld>
            <a:endParaRPr sz="1000">
              <a:solidFill>
                <a:srgbClr val="A5A5A5"/>
              </a:solidFill>
              <a:latin typeface="Calibri"/>
              <a:ea typeface="Calibri"/>
              <a:cs typeface="Calibri"/>
              <a:sym typeface="Calibri"/>
            </a:endParaRPr>
          </a:p>
        </p:txBody>
      </p:sp>
      <p:sp>
        <p:nvSpPr>
          <p:cNvPr id="35" name="Google Shape;35;p6"/>
          <p:cNvSpPr txBox="1"/>
          <p:nvPr>
            <p:ph idx="2" type="body"/>
          </p:nvPr>
        </p:nvSpPr>
        <p:spPr>
          <a:xfrm>
            <a:off x="293077" y="1073151"/>
            <a:ext cx="4126523" cy="519430"/>
          </a:xfrm>
          <a:prstGeom prst="rect">
            <a:avLst/>
          </a:prstGeom>
          <a:noFill/>
          <a:ln>
            <a:noFill/>
          </a:ln>
        </p:spPr>
        <p:txBody>
          <a:bodyPr anchorCtr="0" anchor="t" bIns="40825" lIns="81650" spcFirstLastPara="1" rIns="81650" wrap="square" tIns="40825">
            <a:normAutofit/>
          </a:bodyPr>
          <a:lstStyle>
            <a:lvl1pPr indent="-228600" lvl="0" marL="457200" algn="l">
              <a:spcBef>
                <a:spcPts val="600"/>
              </a:spcBef>
              <a:spcAft>
                <a:spcPts val="0"/>
              </a:spcAft>
              <a:buClr>
                <a:srgbClr val="25303B"/>
              </a:buClr>
              <a:buSzPts val="3000"/>
              <a:buNone/>
              <a:defRPr cap="none"/>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6" name="Google Shape;36;p6"/>
          <p:cNvSpPr txBox="1"/>
          <p:nvPr>
            <p:ph idx="3" type="body"/>
          </p:nvPr>
        </p:nvSpPr>
        <p:spPr>
          <a:xfrm>
            <a:off x="4724542" y="1653539"/>
            <a:ext cx="4126383" cy="2900999"/>
          </a:xfrm>
          <a:prstGeom prst="rect">
            <a:avLst/>
          </a:prstGeom>
          <a:noFill/>
          <a:ln>
            <a:noFill/>
          </a:ln>
        </p:spPr>
        <p:txBody>
          <a:bodyPr anchorCtr="0" anchor="t" bIns="40825" lIns="81650" spcFirstLastPara="1" rIns="81650" wrap="square" tIns="40825">
            <a:noAutofit/>
          </a:bodyPr>
          <a:lstStyle>
            <a:lvl1pPr indent="-342900" lvl="0" marL="457200" algn="l">
              <a:spcBef>
                <a:spcPts val="360"/>
              </a:spcBef>
              <a:spcAft>
                <a:spcPts val="0"/>
              </a:spcAft>
              <a:buClr>
                <a:srgbClr val="25303B"/>
              </a:buClr>
              <a:buSzPts val="1800"/>
              <a:buFont typeface="Noto Sans Symbols"/>
              <a:buChar char="▪"/>
              <a:defRPr sz="1800" cap="none"/>
            </a:lvl1pPr>
            <a:lvl2pPr indent="-342900" lvl="1" marL="914400" algn="l">
              <a:spcBef>
                <a:spcPts val="360"/>
              </a:spcBef>
              <a:spcAft>
                <a:spcPts val="0"/>
              </a:spcAft>
              <a:buClr>
                <a:schemeClr val="dk1"/>
              </a:buClr>
              <a:buSzPts val="1800"/>
              <a:buFont typeface="Noto Sans Symbols"/>
              <a:buChar char="▪"/>
              <a:defRPr sz="1800"/>
            </a:lvl2pPr>
            <a:lvl3pPr indent="-342900" lvl="2" marL="1371600" algn="l">
              <a:spcBef>
                <a:spcPts val="360"/>
              </a:spcBef>
              <a:spcAft>
                <a:spcPts val="0"/>
              </a:spcAft>
              <a:buClr>
                <a:schemeClr val="dk1"/>
              </a:buClr>
              <a:buSzPts val="1800"/>
              <a:buFont typeface="Noto Sans Symbols"/>
              <a:buChar char="▪"/>
              <a:defRPr sz="1800"/>
            </a:lvl3pPr>
            <a:lvl4pPr indent="-342900" lvl="3" marL="1828800" algn="l">
              <a:spcBef>
                <a:spcPts val="360"/>
              </a:spcBef>
              <a:spcAft>
                <a:spcPts val="0"/>
              </a:spcAft>
              <a:buClr>
                <a:schemeClr val="dk1"/>
              </a:buClr>
              <a:buSzPts val="1800"/>
              <a:buFont typeface="Noto Sans Symbols"/>
              <a:buChar char="▪"/>
              <a:defRPr sz="1800"/>
            </a:lvl4pPr>
            <a:lvl5pPr indent="-342900" lvl="4" marL="2286000" algn="l">
              <a:spcBef>
                <a:spcPts val="360"/>
              </a:spcBef>
              <a:spcAft>
                <a:spcPts val="0"/>
              </a:spcAft>
              <a:buClr>
                <a:schemeClr val="dk1"/>
              </a:buClr>
              <a:buSzPts val="1800"/>
              <a:buFont typeface="Noto Sans Symbols"/>
              <a:buChar char="▪"/>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7" name="Google Shape;37;p6"/>
          <p:cNvSpPr txBox="1"/>
          <p:nvPr>
            <p:ph idx="4" type="body"/>
          </p:nvPr>
        </p:nvSpPr>
        <p:spPr>
          <a:xfrm>
            <a:off x="4724402" y="1073151"/>
            <a:ext cx="4126523" cy="519430"/>
          </a:xfrm>
          <a:prstGeom prst="rect">
            <a:avLst/>
          </a:prstGeom>
          <a:noFill/>
          <a:ln>
            <a:noFill/>
          </a:ln>
        </p:spPr>
        <p:txBody>
          <a:bodyPr anchorCtr="0" anchor="t" bIns="40825" lIns="81650" spcFirstLastPara="1" rIns="81650" wrap="square" tIns="40825">
            <a:normAutofit/>
          </a:bodyPr>
          <a:lstStyle>
            <a:lvl1pPr indent="-228600" lvl="0" marL="457200" algn="l">
              <a:spcBef>
                <a:spcPts val="600"/>
              </a:spcBef>
              <a:spcAft>
                <a:spcPts val="0"/>
              </a:spcAft>
              <a:buClr>
                <a:srgbClr val="25303B"/>
              </a:buClr>
              <a:buSzPts val="3000"/>
              <a:buNone/>
              <a:defRPr cap="none"/>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3 way">
  <p:cSld name="Comparison 3 way">
    <p:bg>
      <p:bgPr>
        <a:blipFill>
          <a:blip r:embed="rId2">
            <a:alphaModFix/>
          </a:blip>
          <a:stretch>
            <a:fillRect/>
          </a:stretch>
        </a:blipFill>
      </p:bgPr>
    </p:bg>
    <p:spTree>
      <p:nvGrpSpPr>
        <p:cNvPr id="38" name="Shape 38"/>
        <p:cNvGrpSpPr/>
        <p:nvPr/>
      </p:nvGrpSpPr>
      <p:grpSpPr>
        <a:xfrm>
          <a:off x="0" y="0"/>
          <a:ext cx="0" cy="0"/>
          <a:chOff x="0" y="0"/>
          <a:chExt cx="0" cy="0"/>
        </a:xfrm>
      </p:grpSpPr>
      <p:sp>
        <p:nvSpPr>
          <p:cNvPr id="39" name="Google Shape;39;p7"/>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a:bodyPr>
          <a:lstStyle>
            <a:lvl1pPr lvl="0" algn="l">
              <a:spcBef>
                <a:spcPts val="0"/>
              </a:spcBef>
              <a:spcAft>
                <a:spcPts val="0"/>
              </a:spcAft>
              <a:buClr>
                <a:schemeClr val="dk1"/>
              </a:buClr>
              <a:buSzPts val="3800"/>
              <a:buFont typeface="Cambria"/>
              <a:buNone/>
              <a:defRPr sz="3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7"/>
          <p:cNvSpPr txBox="1"/>
          <p:nvPr>
            <p:ph idx="1" type="body"/>
          </p:nvPr>
        </p:nvSpPr>
        <p:spPr>
          <a:xfrm>
            <a:off x="293218" y="1653539"/>
            <a:ext cx="2853580" cy="2900999"/>
          </a:xfrm>
          <a:prstGeom prst="rect">
            <a:avLst/>
          </a:prstGeom>
          <a:noFill/>
          <a:ln>
            <a:noFill/>
          </a:ln>
        </p:spPr>
        <p:txBody>
          <a:bodyPr anchorCtr="0" anchor="t" bIns="40825" lIns="81650" spcFirstLastPara="1" rIns="81650" wrap="square" tIns="40825">
            <a:noAutofit/>
          </a:bodyPr>
          <a:lstStyle>
            <a:lvl1pPr indent="-342900" lvl="0" marL="457200" algn="l">
              <a:spcBef>
                <a:spcPts val="360"/>
              </a:spcBef>
              <a:spcAft>
                <a:spcPts val="0"/>
              </a:spcAft>
              <a:buClr>
                <a:srgbClr val="25303B"/>
              </a:buClr>
              <a:buSzPts val="1800"/>
              <a:buFont typeface="Noto Sans Symbols"/>
              <a:buChar char="▪"/>
              <a:defRPr sz="1800" cap="none"/>
            </a:lvl1pPr>
            <a:lvl2pPr indent="-342900" lvl="1" marL="914400" algn="l">
              <a:spcBef>
                <a:spcPts val="360"/>
              </a:spcBef>
              <a:spcAft>
                <a:spcPts val="0"/>
              </a:spcAft>
              <a:buClr>
                <a:schemeClr val="dk1"/>
              </a:buClr>
              <a:buSzPts val="1800"/>
              <a:buFont typeface="Noto Sans Symbols"/>
              <a:buChar char="▪"/>
              <a:defRPr sz="1800"/>
            </a:lvl2pPr>
            <a:lvl3pPr indent="-342900" lvl="2" marL="1371600" algn="l">
              <a:spcBef>
                <a:spcPts val="360"/>
              </a:spcBef>
              <a:spcAft>
                <a:spcPts val="0"/>
              </a:spcAft>
              <a:buClr>
                <a:schemeClr val="dk1"/>
              </a:buClr>
              <a:buSzPts val="1800"/>
              <a:buFont typeface="Noto Sans Symbols"/>
              <a:buChar char="▪"/>
              <a:defRPr sz="1800"/>
            </a:lvl3pPr>
            <a:lvl4pPr indent="-342900" lvl="3" marL="1828800" algn="l">
              <a:spcBef>
                <a:spcPts val="360"/>
              </a:spcBef>
              <a:spcAft>
                <a:spcPts val="0"/>
              </a:spcAft>
              <a:buClr>
                <a:schemeClr val="dk1"/>
              </a:buClr>
              <a:buSzPts val="1800"/>
              <a:buFont typeface="Noto Sans Symbols"/>
              <a:buChar char="▪"/>
              <a:defRPr sz="1800"/>
            </a:lvl4pPr>
            <a:lvl5pPr indent="-342900" lvl="4" marL="2286000" algn="l">
              <a:spcBef>
                <a:spcPts val="360"/>
              </a:spcBef>
              <a:spcAft>
                <a:spcPts val="0"/>
              </a:spcAft>
              <a:buClr>
                <a:schemeClr val="dk1"/>
              </a:buClr>
              <a:buSzPts val="1800"/>
              <a:buFont typeface="Noto Sans Symbols"/>
              <a:buChar char="▪"/>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41" name="Google Shape;41;p7"/>
          <p:cNvCxnSpPr/>
          <p:nvPr/>
        </p:nvCxnSpPr>
        <p:spPr>
          <a:xfrm>
            <a:off x="293077" y="4900251"/>
            <a:ext cx="8534397" cy="0"/>
          </a:xfrm>
          <a:prstGeom prst="straightConnector1">
            <a:avLst/>
          </a:prstGeom>
          <a:noFill/>
          <a:ln cap="flat" cmpd="sng" w="9525">
            <a:solidFill>
              <a:srgbClr val="7F7F7F"/>
            </a:solidFill>
            <a:prstDash val="solid"/>
            <a:round/>
            <a:headEnd len="sm" w="sm" type="none"/>
            <a:tailEnd len="sm" w="sm" type="none"/>
          </a:ln>
        </p:spPr>
      </p:cxnSp>
      <p:sp>
        <p:nvSpPr>
          <p:cNvPr id="42" name="Google Shape;42;p7"/>
          <p:cNvSpPr txBox="1"/>
          <p:nvPr/>
        </p:nvSpPr>
        <p:spPr>
          <a:xfrm>
            <a:off x="8417170" y="4900251"/>
            <a:ext cx="515816" cy="24622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GB" sz="1000">
                <a:solidFill>
                  <a:srgbClr val="A5A5A5"/>
                </a:solidFill>
                <a:latin typeface="Calibri"/>
                <a:ea typeface="Calibri"/>
                <a:cs typeface="Calibri"/>
                <a:sym typeface="Calibri"/>
              </a:rPr>
              <a:t>‹#›</a:t>
            </a:fld>
            <a:endParaRPr sz="1000">
              <a:solidFill>
                <a:srgbClr val="A5A5A5"/>
              </a:solidFill>
              <a:latin typeface="Calibri"/>
              <a:ea typeface="Calibri"/>
              <a:cs typeface="Calibri"/>
              <a:sym typeface="Calibri"/>
            </a:endParaRPr>
          </a:p>
        </p:txBody>
      </p:sp>
      <p:sp>
        <p:nvSpPr>
          <p:cNvPr id="43" name="Google Shape;43;p7"/>
          <p:cNvSpPr txBox="1"/>
          <p:nvPr>
            <p:ph idx="2" type="body"/>
          </p:nvPr>
        </p:nvSpPr>
        <p:spPr>
          <a:xfrm>
            <a:off x="293077" y="1073151"/>
            <a:ext cx="2853721" cy="519430"/>
          </a:xfrm>
          <a:prstGeom prst="rect">
            <a:avLst/>
          </a:prstGeom>
          <a:noFill/>
          <a:ln>
            <a:noFill/>
          </a:ln>
        </p:spPr>
        <p:txBody>
          <a:bodyPr anchorCtr="0" anchor="t" bIns="40825" lIns="81650" spcFirstLastPara="1" rIns="81650" wrap="square" tIns="40825">
            <a:normAutofit/>
          </a:bodyPr>
          <a:lstStyle>
            <a:lvl1pPr indent="-228600" lvl="0" marL="457200" algn="l">
              <a:spcBef>
                <a:spcPts val="600"/>
              </a:spcBef>
              <a:spcAft>
                <a:spcPts val="0"/>
              </a:spcAft>
              <a:buClr>
                <a:srgbClr val="25303B"/>
              </a:buClr>
              <a:buSzPts val="3000"/>
              <a:buNone/>
              <a:defRPr cap="none"/>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4" name="Google Shape;44;p7"/>
          <p:cNvSpPr txBox="1"/>
          <p:nvPr>
            <p:ph idx="3" type="body"/>
          </p:nvPr>
        </p:nvSpPr>
        <p:spPr>
          <a:xfrm>
            <a:off x="3268860" y="1653539"/>
            <a:ext cx="2853580" cy="2900999"/>
          </a:xfrm>
          <a:prstGeom prst="rect">
            <a:avLst/>
          </a:prstGeom>
          <a:noFill/>
          <a:ln>
            <a:noFill/>
          </a:ln>
        </p:spPr>
        <p:txBody>
          <a:bodyPr anchorCtr="0" anchor="t" bIns="40825" lIns="81650" spcFirstLastPara="1" rIns="81650" wrap="square" tIns="40825">
            <a:noAutofit/>
          </a:bodyPr>
          <a:lstStyle>
            <a:lvl1pPr indent="-342900" lvl="0" marL="457200" algn="l">
              <a:spcBef>
                <a:spcPts val="360"/>
              </a:spcBef>
              <a:spcAft>
                <a:spcPts val="0"/>
              </a:spcAft>
              <a:buClr>
                <a:srgbClr val="25303B"/>
              </a:buClr>
              <a:buSzPts val="1800"/>
              <a:buFont typeface="Noto Sans Symbols"/>
              <a:buChar char="▪"/>
              <a:defRPr sz="1800" cap="none"/>
            </a:lvl1pPr>
            <a:lvl2pPr indent="-342900" lvl="1" marL="914400" algn="l">
              <a:spcBef>
                <a:spcPts val="360"/>
              </a:spcBef>
              <a:spcAft>
                <a:spcPts val="0"/>
              </a:spcAft>
              <a:buClr>
                <a:schemeClr val="dk1"/>
              </a:buClr>
              <a:buSzPts val="1800"/>
              <a:buFont typeface="Noto Sans Symbols"/>
              <a:buChar char="▪"/>
              <a:defRPr sz="1800"/>
            </a:lvl2pPr>
            <a:lvl3pPr indent="-342900" lvl="2" marL="1371600" algn="l">
              <a:spcBef>
                <a:spcPts val="360"/>
              </a:spcBef>
              <a:spcAft>
                <a:spcPts val="0"/>
              </a:spcAft>
              <a:buClr>
                <a:schemeClr val="dk1"/>
              </a:buClr>
              <a:buSzPts val="1800"/>
              <a:buFont typeface="Noto Sans Symbols"/>
              <a:buChar char="▪"/>
              <a:defRPr sz="1800"/>
            </a:lvl3pPr>
            <a:lvl4pPr indent="-342900" lvl="3" marL="1828800" algn="l">
              <a:spcBef>
                <a:spcPts val="360"/>
              </a:spcBef>
              <a:spcAft>
                <a:spcPts val="0"/>
              </a:spcAft>
              <a:buClr>
                <a:schemeClr val="dk1"/>
              </a:buClr>
              <a:buSzPts val="1800"/>
              <a:buFont typeface="Noto Sans Symbols"/>
              <a:buChar char="▪"/>
              <a:defRPr sz="1800"/>
            </a:lvl4pPr>
            <a:lvl5pPr indent="-342900" lvl="4" marL="2286000" algn="l">
              <a:spcBef>
                <a:spcPts val="360"/>
              </a:spcBef>
              <a:spcAft>
                <a:spcPts val="0"/>
              </a:spcAft>
              <a:buClr>
                <a:schemeClr val="dk1"/>
              </a:buClr>
              <a:buSzPts val="1800"/>
              <a:buFont typeface="Noto Sans Symbols"/>
              <a:buChar char="▪"/>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5" name="Google Shape;45;p7"/>
          <p:cNvSpPr txBox="1"/>
          <p:nvPr>
            <p:ph idx="4" type="body"/>
          </p:nvPr>
        </p:nvSpPr>
        <p:spPr>
          <a:xfrm>
            <a:off x="3268719" y="1073151"/>
            <a:ext cx="2853721" cy="519430"/>
          </a:xfrm>
          <a:prstGeom prst="rect">
            <a:avLst/>
          </a:prstGeom>
          <a:noFill/>
          <a:ln>
            <a:noFill/>
          </a:ln>
        </p:spPr>
        <p:txBody>
          <a:bodyPr anchorCtr="0" anchor="t" bIns="40825" lIns="81650" spcFirstLastPara="1" rIns="81650" wrap="square" tIns="40825">
            <a:normAutofit/>
          </a:bodyPr>
          <a:lstStyle>
            <a:lvl1pPr indent="-228600" lvl="0" marL="457200" algn="l">
              <a:spcBef>
                <a:spcPts val="600"/>
              </a:spcBef>
              <a:spcAft>
                <a:spcPts val="0"/>
              </a:spcAft>
              <a:buClr>
                <a:srgbClr val="25303B"/>
              </a:buClr>
              <a:buSzPts val="3000"/>
              <a:buNone/>
              <a:defRPr cap="none"/>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6" name="Google Shape;46;p7"/>
          <p:cNvSpPr txBox="1"/>
          <p:nvPr>
            <p:ph idx="5" type="body"/>
          </p:nvPr>
        </p:nvSpPr>
        <p:spPr>
          <a:xfrm>
            <a:off x="6219278" y="1653539"/>
            <a:ext cx="2853580" cy="2900999"/>
          </a:xfrm>
          <a:prstGeom prst="rect">
            <a:avLst/>
          </a:prstGeom>
          <a:noFill/>
          <a:ln>
            <a:noFill/>
          </a:ln>
        </p:spPr>
        <p:txBody>
          <a:bodyPr anchorCtr="0" anchor="t" bIns="40825" lIns="81650" spcFirstLastPara="1" rIns="81650" wrap="square" tIns="40825">
            <a:noAutofit/>
          </a:bodyPr>
          <a:lstStyle>
            <a:lvl1pPr indent="-342900" lvl="0" marL="457200" algn="l">
              <a:spcBef>
                <a:spcPts val="360"/>
              </a:spcBef>
              <a:spcAft>
                <a:spcPts val="0"/>
              </a:spcAft>
              <a:buClr>
                <a:srgbClr val="25303B"/>
              </a:buClr>
              <a:buSzPts val="1800"/>
              <a:buFont typeface="Noto Sans Symbols"/>
              <a:buChar char="▪"/>
              <a:defRPr sz="1800" cap="none"/>
            </a:lvl1pPr>
            <a:lvl2pPr indent="-342900" lvl="1" marL="914400" algn="l">
              <a:spcBef>
                <a:spcPts val="360"/>
              </a:spcBef>
              <a:spcAft>
                <a:spcPts val="0"/>
              </a:spcAft>
              <a:buClr>
                <a:schemeClr val="dk1"/>
              </a:buClr>
              <a:buSzPts val="1800"/>
              <a:buFont typeface="Noto Sans Symbols"/>
              <a:buChar char="▪"/>
              <a:defRPr sz="1800"/>
            </a:lvl2pPr>
            <a:lvl3pPr indent="-342900" lvl="2" marL="1371600" algn="l">
              <a:spcBef>
                <a:spcPts val="360"/>
              </a:spcBef>
              <a:spcAft>
                <a:spcPts val="0"/>
              </a:spcAft>
              <a:buClr>
                <a:schemeClr val="dk1"/>
              </a:buClr>
              <a:buSzPts val="1800"/>
              <a:buFont typeface="Noto Sans Symbols"/>
              <a:buChar char="▪"/>
              <a:defRPr sz="1800"/>
            </a:lvl3pPr>
            <a:lvl4pPr indent="-342900" lvl="3" marL="1828800" algn="l">
              <a:spcBef>
                <a:spcPts val="360"/>
              </a:spcBef>
              <a:spcAft>
                <a:spcPts val="0"/>
              </a:spcAft>
              <a:buClr>
                <a:schemeClr val="dk1"/>
              </a:buClr>
              <a:buSzPts val="1800"/>
              <a:buFont typeface="Noto Sans Symbols"/>
              <a:buChar char="▪"/>
              <a:defRPr sz="1800"/>
            </a:lvl4pPr>
            <a:lvl5pPr indent="-342900" lvl="4" marL="2286000" algn="l">
              <a:spcBef>
                <a:spcPts val="360"/>
              </a:spcBef>
              <a:spcAft>
                <a:spcPts val="0"/>
              </a:spcAft>
              <a:buClr>
                <a:schemeClr val="dk1"/>
              </a:buClr>
              <a:buSzPts val="1800"/>
              <a:buFont typeface="Noto Sans Symbols"/>
              <a:buChar char="▪"/>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7" name="Google Shape;47;p7"/>
          <p:cNvSpPr txBox="1"/>
          <p:nvPr>
            <p:ph idx="6" type="body"/>
          </p:nvPr>
        </p:nvSpPr>
        <p:spPr>
          <a:xfrm>
            <a:off x="6219137" y="1073151"/>
            <a:ext cx="2853721" cy="519430"/>
          </a:xfrm>
          <a:prstGeom prst="rect">
            <a:avLst/>
          </a:prstGeom>
          <a:noFill/>
          <a:ln>
            <a:noFill/>
          </a:ln>
        </p:spPr>
        <p:txBody>
          <a:bodyPr anchorCtr="0" anchor="t" bIns="40825" lIns="81650" spcFirstLastPara="1" rIns="81650" wrap="square" tIns="40825">
            <a:normAutofit/>
          </a:bodyPr>
          <a:lstStyle>
            <a:lvl1pPr indent="-228600" lvl="0" marL="457200" algn="l">
              <a:spcBef>
                <a:spcPts val="600"/>
              </a:spcBef>
              <a:spcAft>
                <a:spcPts val="0"/>
              </a:spcAft>
              <a:buClr>
                <a:srgbClr val="25303B"/>
              </a:buClr>
              <a:buSzPts val="3000"/>
              <a:buNone/>
              <a:defRPr cap="none"/>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p:cSld name="Two column">
    <p:bg>
      <p:bgPr>
        <a:blipFill>
          <a:blip r:embed="rId2">
            <a:alphaModFix/>
          </a:blip>
          <a:stretch>
            <a:fillRect/>
          </a:stretch>
        </a:blipFill>
      </p:bgPr>
    </p:bg>
    <p:spTree>
      <p:nvGrpSpPr>
        <p:cNvPr id="48" name="Shape 48"/>
        <p:cNvGrpSpPr/>
        <p:nvPr/>
      </p:nvGrpSpPr>
      <p:grpSpPr>
        <a:xfrm>
          <a:off x="0" y="0"/>
          <a:ext cx="0" cy="0"/>
          <a:chOff x="0" y="0"/>
          <a:chExt cx="0" cy="0"/>
        </a:xfrm>
      </p:grpSpPr>
      <p:sp>
        <p:nvSpPr>
          <p:cNvPr id="49" name="Google Shape;49;p8"/>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a:bodyPr>
          <a:lstStyle>
            <a:lvl1pPr lvl="0" algn="l">
              <a:spcBef>
                <a:spcPts val="0"/>
              </a:spcBef>
              <a:spcAft>
                <a:spcPts val="0"/>
              </a:spcAft>
              <a:buClr>
                <a:schemeClr val="dk1"/>
              </a:buClr>
              <a:buSzPts val="3800"/>
              <a:buFont typeface="Cambria"/>
              <a:buNone/>
              <a:defRPr sz="3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8"/>
          <p:cNvSpPr txBox="1"/>
          <p:nvPr>
            <p:ph idx="1" type="body"/>
          </p:nvPr>
        </p:nvSpPr>
        <p:spPr>
          <a:xfrm>
            <a:off x="293217" y="1073151"/>
            <a:ext cx="4126383" cy="3481387"/>
          </a:xfrm>
          <a:prstGeom prst="rect">
            <a:avLst/>
          </a:prstGeom>
          <a:noFill/>
          <a:ln>
            <a:noFill/>
          </a:ln>
        </p:spPr>
        <p:txBody>
          <a:bodyPr anchorCtr="0" anchor="t" bIns="40825" lIns="81650" spcFirstLastPara="1" rIns="81650" wrap="square" tIns="40825">
            <a:noAutofit/>
          </a:bodyPr>
          <a:lstStyle>
            <a:lvl1pPr indent="-342900" lvl="0" marL="457200" algn="l">
              <a:spcBef>
                <a:spcPts val="360"/>
              </a:spcBef>
              <a:spcAft>
                <a:spcPts val="0"/>
              </a:spcAft>
              <a:buClr>
                <a:srgbClr val="25303B"/>
              </a:buClr>
              <a:buSzPts val="1800"/>
              <a:buFont typeface="Noto Sans Symbols"/>
              <a:buChar char="▪"/>
              <a:defRPr sz="1800" cap="none"/>
            </a:lvl1pPr>
            <a:lvl2pPr indent="-342900" lvl="1" marL="914400" algn="l">
              <a:spcBef>
                <a:spcPts val="360"/>
              </a:spcBef>
              <a:spcAft>
                <a:spcPts val="0"/>
              </a:spcAft>
              <a:buClr>
                <a:schemeClr val="dk1"/>
              </a:buClr>
              <a:buSzPts val="1800"/>
              <a:buFont typeface="Noto Sans Symbols"/>
              <a:buChar char="▪"/>
              <a:defRPr sz="1800"/>
            </a:lvl2pPr>
            <a:lvl3pPr indent="-342900" lvl="2" marL="1371600" algn="l">
              <a:spcBef>
                <a:spcPts val="360"/>
              </a:spcBef>
              <a:spcAft>
                <a:spcPts val="0"/>
              </a:spcAft>
              <a:buClr>
                <a:schemeClr val="dk1"/>
              </a:buClr>
              <a:buSzPts val="1800"/>
              <a:buFont typeface="Noto Sans Symbols"/>
              <a:buChar char="▪"/>
              <a:defRPr sz="1800"/>
            </a:lvl3pPr>
            <a:lvl4pPr indent="-342900" lvl="3" marL="1828800" algn="l">
              <a:spcBef>
                <a:spcPts val="360"/>
              </a:spcBef>
              <a:spcAft>
                <a:spcPts val="0"/>
              </a:spcAft>
              <a:buClr>
                <a:schemeClr val="dk1"/>
              </a:buClr>
              <a:buSzPts val="1800"/>
              <a:buFont typeface="Noto Sans Symbols"/>
              <a:buChar char="▪"/>
              <a:defRPr sz="1800"/>
            </a:lvl4pPr>
            <a:lvl5pPr indent="-342900" lvl="4" marL="2286000" algn="l">
              <a:spcBef>
                <a:spcPts val="360"/>
              </a:spcBef>
              <a:spcAft>
                <a:spcPts val="0"/>
              </a:spcAft>
              <a:buClr>
                <a:schemeClr val="dk1"/>
              </a:buClr>
              <a:buSzPts val="1800"/>
              <a:buFont typeface="Noto Sans Symbols"/>
              <a:buChar char="▪"/>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51" name="Google Shape;51;p8"/>
          <p:cNvCxnSpPr/>
          <p:nvPr/>
        </p:nvCxnSpPr>
        <p:spPr>
          <a:xfrm>
            <a:off x="293077" y="4900251"/>
            <a:ext cx="8534397" cy="0"/>
          </a:xfrm>
          <a:prstGeom prst="straightConnector1">
            <a:avLst/>
          </a:prstGeom>
          <a:noFill/>
          <a:ln cap="flat" cmpd="sng" w="9525">
            <a:solidFill>
              <a:srgbClr val="7F7F7F"/>
            </a:solidFill>
            <a:prstDash val="solid"/>
            <a:round/>
            <a:headEnd len="sm" w="sm" type="none"/>
            <a:tailEnd len="sm" w="sm" type="none"/>
          </a:ln>
        </p:spPr>
      </p:cxnSp>
      <p:sp>
        <p:nvSpPr>
          <p:cNvPr id="52" name="Google Shape;52;p8"/>
          <p:cNvSpPr txBox="1"/>
          <p:nvPr/>
        </p:nvSpPr>
        <p:spPr>
          <a:xfrm>
            <a:off x="8417170" y="4900251"/>
            <a:ext cx="515816" cy="24622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GB" sz="1000">
                <a:solidFill>
                  <a:srgbClr val="A5A5A5"/>
                </a:solidFill>
                <a:latin typeface="Calibri"/>
                <a:ea typeface="Calibri"/>
                <a:cs typeface="Calibri"/>
                <a:sym typeface="Calibri"/>
              </a:rPr>
              <a:t>‹#›</a:t>
            </a:fld>
            <a:endParaRPr sz="1000">
              <a:solidFill>
                <a:srgbClr val="A5A5A5"/>
              </a:solidFill>
              <a:latin typeface="Calibri"/>
              <a:ea typeface="Calibri"/>
              <a:cs typeface="Calibri"/>
              <a:sym typeface="Calibri"/>
            </a:endParaRPr>
          </a:p>
        </p:txBody>
      </p:sp>
      <p:sp>
        <p:nvSpPr>
          <p:cNvPr id="53" name="Google Shape;53;p8"/>
          <p:cNvSpPr txBox="1"/>
          <p:nvPr>
            <p:ph idx="2" type="body"/>
          </p:nvPr>
        </p:nvSpPr>
        <p:spPr>
          <a:xfrm>
            <a:off x="4724542" y="1073151"/>
            <a:ext cx="4126383" cy="3481387"/>
          </a:xfrm>
          <a:prstGeom prst="rect">
            <a:avLst/>
          </a:prstGeom>
          <a:noFill/>
          <a:ln>
            <a:noFill/>
          </a:ln>
        </p:spPr>
        <p:txBody>
          <a:bodyPr anchorCtr="0" anchor="t" bIns="40825" lIns="81650" spcFirstLastPara="1" rIns="81650" wrap="square" tIns="40825">
            <a:noAutofit/>
          </a:bodyPr>
          <a:lstStyle>
            <a:lvl1pPr indent="-342900" lvl="0" marL="457200" algn="l">
              <a:spcBef>
                <a:spcPts val="360"/>
              </a:spcBef>
              <a:spcAft>
                <a:spcPts val="0"/>
              </a:spcAft>
              <a:buClr>
                <a:srgbClr val="25303B"/>
              </a:buClr>
              <a:buSzPts val="1800"/>
              <a:buFont typeface="Noto Sans Symbols"/>
              <a:buChar char="▪"/>
              <a:defRPr sz="1800" cap="none"/>
            </a:lvl1pPr>
            <a:lvl2pPr indent="-342900" lvl="1" marL="914400" algn="l">
              <a:spcBef>
                <a:spcPts val="360"/>
              </a:spcBef>
              <a:spcAft>
                <a:spcPts val="0"/>
              </a:spcAft>
              <a:buClr>
                <a:schemeClr val="dk1"/>
              </a:buClr>
              <a:buSzPts val="1800"/>
              <a:buFont typeface="Noto Sans Symbols"/>
              <a:buChar char="▪"/>
              <a:defRPr sz="1800"/>
            </a:lvl2pPr>
            <a:lvl3pPr indent="-342900" lvl="2" marL="1371600" algn="l">
              <a:spcBef>
                <a:spcPts val="360"/>
              </a:spcBef>
              <a:spcAft>
                <a:spcPts val="0"/>
              </a:spcAft>
              <a:buClr>
                <a:schemeClr val="dk1"/>
              </a:buClr>
              <a:buSzPts val="1800"/>
              <a:buFont typeface="Noto Sans Symbols"/>
              <a:buChar char="▪"/>
              <a:defRPr sz="1800"/>
            </a:lvl3pPr>
            <a:lvl4pPr indent="-342900" lvl="3" marL="1828800" algn="l">
              <a:spcBef>
                <a:spcPts val="360"/>
              </a:spcBef>
              <a:spcAft>
                <a:spcPts val="0"/>
              </a:spcAft>
              <a:buClr>
                <a:schemeClr val="dk1"/>
              </a:buClr>
              <a:buSzPts val="1800"/>
              <a:buFont typeface="Noto Sans Symbols"/>
              <a:buChar char="▪"/>
              <a:defRPr sz="1800"/>
            </a:lvl4pPr>
            <a:lvl5pPr indent="-342900" lvl="4" marL="2286000" algn="l">
              <a:spcBef>
                <a:spcPts val="360"/>
              </a:spcBef>
              <a:spcAft>
                <a:spcPts val="0"/>
              </a:spcAft>
              <a:buClr>
                <a:schemeClr val="dk1"/>
              </a:buClr>
              <a:buSzPts val="1800"/>
              <a:buFont typeface="Noto Sans Symbols"/>
              <a:buChar char="▪"/>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1" y="1709081"/>
            <a:ext cx="8229600" cy="858044"/>
          </a:xfrm>
          <a:prstGeom prst="rect">
            <a:avLst/>
          </a:prstGeom>
          <a:noFill/>
          <a:ln>
            <a:noFill/>
          </a:ln>
        </p:spPr>
        <p:txBody>
          <a:bodyPr anchorCtr="0" anchor="ctr" bIns="40825" lIns="81650" spcFirstLastPara="1" rIns="81650" wrap="square" tIns="40825">
            <a:normAutofit/>
          </a:bodyPr>
          <a:lstStyle>
            <a:lvl1pPr lvl="0" marR="0" rtl="0" algn="l">
              <a:spcBef>
                <a:spcPts val="0"/>
              </a:spcBef>
              <a:spcAft>
                <a:spcPts val="0"/>
              </a:spcAft>
              <a:buClr>
                <a:schemeClr val="dk1"/>
              </a:buClr>
              <a:buSzPts val="4900"/>
              <a:buFont typeface="Cambria"/>
              <a:buNone/>
              <a:defRPr b="1" i="0" sz="4900" u="none" cap="none" strike="noStrike">
                <a:solidFill>
                  <a:schemeClr val="dk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1" y="2668450"/>
            <a:ext cx="8229600" cy="507820"/>
          </a:xfrm>
          <a:prstGeom prst="rect">
            <a:avLst/>
          </a:prstGeom>
          <a:noFill/>
          <a:ln>
            <a:noFill/>
          </a:ln>
        </p:spPr>
        <p:txBody>
          <a:bodyPr anchorCtr="0" anchor="t" bIns="40825" lIns="81650" spcFirstLastPara="1" rIns="81650" wrap="square" tIns="40825">
            <a:normAutofit/>
          </a:bodyPr>
          <a:lstStyle>
            <a:lvl1pPr indent="-228600" lvl="0" marL="457200" marR="0" rtl="0" algn="l">
              <a:spcBef>
                <a:spcPts val="600"/>
              </a:spcBef>
              <a:spcAft>
                <a:spcPts val="0"/>
              </a:spcAft>
              <a:buClr>
                <a:srgbClr val="25303B"/>
              </a:buClr>
              <a:buSzPts val="3000"/>
              <a:buFont typeface="Arial"/>
              <a:buNone/>
              <a:defRPr b="0" i="0" sz="3000" u="none" cap="none" strike="noStrike">
                <a:solidFill>
                  <a:srgbClr val="25303B"/>
                </a:solidFill>
                <a:latin typeface="Calibri"/>
                <a:ea typeface="Calibri"/>
                <a:cs typeface="Calibri"/>
                <a:sym typeface="Calibri"/>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Calibri"/>
                <a:ea typeface="Calibri"/>
                <a:cs typeface="Calibri"/>
                <a:sym typeface="Calibri"/>
              </a:defRPr>
            </a:lvl2pPr>
            <a:lvl3pPr indent="-361950" lvl="2" marL="1371600" marR="0" rtl="0" algn="l">
              <a:spcBef>
                <a:spcPts val="42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869">
          <p15:clr>
            <a:srgbClr val="F26B43"/>
          </p15:clr>
        </p15:guide>
        <p15:guide id="2" pos="2880">
          <p15:clr>
            <a:srgbClr val="F26B43"/>
          </p15:clr>
        </p15:guide>
        <p15:guide id="3" orient="horz" pos="37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5.png"/><Relationship Id="rId5"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5.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7.pn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8.png"/><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1.png"/><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9"/>
          <p:cNvSpPr txBox="1"/>
          <p:nvPr>
            <p:ph type="title"/>
          </p:nvPr>
        </p:nvSpPr>
        <p:spPr>
          <a:xfrm>
            <a:off x="293355" y="1709081"/>
            <a:ext cx="8229600" cy="858044"/>
          </a:xfrm>
          <a:prstGeom prst="rect">
            <a:avLst/>
          </a:prstGeom>
          <a:noFill/>
          <a:ln>
            <a:noFill/>
          </a:ln>
        </p:spPr>
        <p:txBody>
          <a:bodyPr anchorCtr="0" anchor="ctr" bIns="40825" lIns="81650" spcFirstLastPara="1" rIns="81650" wrap="square" tIns="40825">
            <a:normAutofit/>
          </a:bodyPr>
          <a:lstStyle/>
          <a:p>
            <a:pPr indent="0" lvl="0" marL="0" rtl="0" algn="l">
              <a:spcBef>
                <a:spcPts val="0"/>
              </a:spcBef>
              <a:spcAft>
                <a:spcPts val="0"/>
              </a:spcAft>
              <a:buClr>
                <a:schemeClr val="dk1"/>
              </a:buClr>
              <a:buSzPts val="4900"/>
              <a:buFont typeface="Cambria"/>
              <a:buNone/>
            </a:pPr>
            <a:r>
              <a:rPr lang="en-GB"/>
              <a:t>Calculating Heat Capacities</a:t>
            </a:r>
            <a:endParaRPr/>
          </a:p>
        </p:txBody>
      </p:sp>
      <p:sp>
        <p:nvSpPr>
          <p:cNvPr id="59" name="Google Shape;59;p9"/>
          <p:cNvSpPr txBox="1"/>
          <p:nvPr>
            <p:ph idx="1" type="body"/>
          </p:nvPr>
        </p:nvSpPr>
        <p:spPr>
          <a:xfrm>
            <a:off x="293076" y="2842790"/>
            <a:ext cx="8229600" cy="912600"/>
          </a:xfrm>
          <a:prstGeom prst="rect">
            <a:avLst/>
          </a:prstGeom>
          <a:noFill/>
          <a:ln>
            <a:noFill/>
          </a:ln>
        </p:spPr>
        <p:txBody>
          <a:bodyPr anchorCtr="0" anchor="t" bIns="40825" lIns="81650" spcFirstLastPara="1" rIns="81650" wrap="square" tIns="40825">
            <a:normAutofit lnSpcReduction="10000"/>
          </a:bodyPr>
          <a:lstStyle/>
          <a:p>
            <a:pPr indent="0" lvl="0" marL="0" rtl="0" algn="l">
              <a:spcBef>
                <a:spcPts val="0"/>
              </a:spcBef>
              <a:spcAft>
                <a:spcPts val="0"/>
              </a:spcAft>
              <a:buClr>
                <a:srgbClr val="25303B"/>
              </a:buClr>
              <a:buSzPts val="3000"/>
              <a:buNone/>
            </a:pPr>
            <a:r>
              <a:rPr lang="en-GB"/>
              <a:t>Non-linear fitting with Python</a:t>
            </a:r>
            <a:endParaRPr/>
          </a:p>
          <a:p>
            <a:pPr indent="0" lvl="0" marL="0" rtl="0" algn="l">
              <a:spcBef>
                <a:spcPts val="0"/>
              </a:spcBef>
              <a:spcAft>
                <a:spcPts val="0"/>
              </a:spcAft>
              <a:buNone/>
            </a:pPr>
            <a:r>
              <a:t/>
            </a:r>
            <a:endParaRPr/>
          </a:p>
        </p:txBody>
      </p:sp>
      <p:sp>
        <p:nvSpPr>
          <p:cNvPr id="60" name="Google Shape;60;p9"/>
          <p:cNvSpPr/>
          <p:nvPr/>
        </p:nvSpPr>
        <p:spPr>
          <a:xfrm>
            <a:off x="207875" y="207875"/>
            <a:ext cx="145500" cy="159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1" name="Google Shape;61;p9"/>
          <p:cNvSpPr/>
          <p:nvPr/>
        </p:nvSpPr>
        <p:spPr>
          <a:xfrm>
            <a:off x="734475" y="651325"/>
            <a:ext cx="256500" cy="101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0"/>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Things you’ll need</a:t>
            </a:r>
            <a:endParaRPr/>
          </a:p>
        </p:txBody>
      </p:sp>
      <p:sp>
        <p:nvSpPr>
          <p:cNvPr id="67" name="Google Shape;67;p10"/>
          <p:cNvSpPr txBox="1"/>
          <p:nvPr>
            <p:ph idx="1" type="body"/>
          </p:nvPr>
        </p:nvSpPr>
        <p:spPr>
          <a:xfrm>
            <a:off x="293217" y="1073431"/>
            <a:ext cx="8223598" cy="3481108"/>
          </a:xfrm>
          <a:prstGeom prst="rect">
            <a:avLst/>
          </a:prstGeom>
          <a:noFill/>
          <a:ln cap="flat" cmpd="sng" w="9525">
            <a:solidFill>
              <a:schemeClr val="dk1"/>
            </a:solidFill>
            <a:prstDash val="solid"/>
            <a:round/>
            <a:headEnd len="sm" w="sm" type="none"/>
            <a:tailEnd len="sm" w="sm" type="none"/>
          </a:ln>
        </p:spPr>
        <p:txBody>
          <a:bodyPr anchorCtr="0" anchor="t" bIns="40825" lIns="81650" spcFirstLastPara="1" rIns="81650" wrap="square" tIns="40825">
            <a:noAutofit/>
          </a:bodyPr>
          <a:lstStyle/>
          <a:p>
            <a:pPr indent="-285750" lvl="0" marL="285750" rtl="0" algn="l">
              <a:spcBef>
                <a:spcPts val="0"/>
              </a:spcBef>
              <a:spcAft>
                <a:spcPts val="0"/>
              </a:spcAft>
              <a:buClr>
                <a:srgbClr val="25303B"/>
              </a:buClr>
              <a:buSzPts val="1800"/>
              <a:buFont typeface="Noto Sans Symbols"/>
              <a:buChar char="▪"/>
            </a:pPr>
            <a:r>
              <a:rPr lang="en-GB"/>
              <a:t>CheckIn Code: </a:t>
            </a:r>
            <a:r>
              <a:rPr lang="en-GB">
                <a:solidFill>
                  <a:srgbClr val="25303B"/>
                </a:solidFill>
              </a:rPr>
              <a:t>795244</a:t>
            </a:r>
            <a:endParaRPr/>
          </a:p>
          <a:p>
            <a:pPr indent="-285750" lvl="0" marL="285750" rtl="0" algn="l">
              <a:spcBef>
                <a:spcPts val="0"/>
              </a:spcBef>
              <a:spcAft>
                <a:spcPts val="0"/>
              </a:spcAft>
              <a:buClr>
                <a:srgbClr val="25303B"/>
              </a:buClr>
              <a:buSzPts val="1800"/>
              <a:buFont typeface="Noto Sans Symbols"/>
              <a:buChar char="▪"/>
            </a:pPr>
            <a:r>
              <a:rPr lang="en-GB"/>
              <a:t>VLE page: Advanced Skills and Practical 1 &gt; PC Workshops &gt; Kirchoff’s Law</a:t>
            </a:r>
            <a:endParaRPr/>
          </a:p>
          <a:p>
            <a:pPr indent="-285750" lvl="0" marL="285750" rtl="0" algn="l">
              <a:spcBef>
                <a:spcPts val="0"/>
              </a:spcBef>
              <a:spcAft>
                <a:spcPts val="0"/>
              </a:spcAft>
              <a:buSzPts val="1800"/>
              <a:buChar char="▪"/>
            </a:pPr>
            <a:r>
              <a:rPr lang="en-GB"/>
              <a:t>Download and unzip the file “Code_and Data.zip”. This contains:</a:t>
            </a:r>
            <a:endParaRPr/>
          </a:p>
          <a:p>
            <a:pPr indent="-285750" lvl="1" marL="694080" rtl="0" algn="l">
              <a:spcBef>
                <a:spcPts val="360"/>
              </a:spcBef>
              <a:spcAft>
                <a:spcPts val="0"/>
              </a:spcAft>
              <a:buClr>
                <a:srgbClr val="25303B"/>
              </a:buClr>
              <a:buSzPts val="1800"/>
              <a:buFont typeface="Noto Sans Symbols"/>
              <a:buChar char="▪"/>
            </a:pPr>
            <a:r>
              <a:rPr lang="en-GB"/>
              <a:t>Four</a:t>
            </a:r>
            <a:r>
              <a:rPr lang="en-GB"/>
              <a:t> CSV files of thermodynamic data</a:t>
            </a:r>
            <a:endParaRPr/>
          </a:p>
          <a:p>
            <a:pPr indent="-285750" lvl="1" marL="694080" rtl="0" algn="l">
              <a:spcBef>
                <a:spcPts val="360"/>
              </a:spcBef>
              <a:spcAft>
                <a:spcPts val="0"/>
              </a:spcAft>
              <a:buSzPts val="1800"/>
              <a:buChar char="▪"/>
            </a:pPr>
            <a:r>
              <a:rPr lang="en-GB"/>
              <a:t>Two p</a:t>
            </a:r>
            <a:r>
              <a:rPr lang="en-GB"/>
              <a:t>ython scripts (test.py and plot.py)</a:t>
            </a:r>
            <a:endParaRPr>
              <a:highlight>
                <a:srgbClr val="00FFFF"/>
              </a:highlight>
            </a:endParaRPr>
          </a:p>
          <a:p>
            <a:pPr indent="-285750" lvl="0" marL="285750" rtl="0" algn="l">
              <a:spcBef>
                <a:spcPts val="360"/>
              </a:spcBef>
              <a:spcAft>
                <a:spcPts val="0"/>
              </a:spcAft>
              <a:buClr>
                <a:srgbClr val="25303B"/>
              </a:buClr>
              <a:buSzPts val="1800"/>
              <a:buFont typeface="Noto Sans Symbols"/>
              <a:buChar char="▪"/>
            </a:pPr>
            <a:r>
              <a:rPr lang="en-GB"/>
              <a:t>Download and open t</a:t>
            </a:r>
            <a:r>
              <a:rPr lang="en-GB"/>
              <a:t>his powerpoint.</a:t>
            </a:r>
            <a:endParaRPr/>
          </a:p>
          <a:p>
            <a:pPr indent="-285750" lvl="0" marL="285750" rtl="0" algn="l">
              <a:spcBef>
                <a:spcPts val="360"/>
              </a:spcBef>
              <a:spcAft>
                <a:spcPts val="0"/>
              </a:spcAft>
              <a:buClr>
                <a:srgbClr val="25303B"/>
              </a:buClr>
              <a:buSzPts val="1800"/>
              <a:buFont typeface="Noto Sans Symbols"/>
              <a:buChar char="▪"/>
            </a:pPr>
            <a:r>
              <a:rPr lang="en-GB"/>
              <a:t>Download all of these into a folder on your M: or H: drive and open that folder in File Explorer. Make sure the .py and .csv files are in the same folder.</a:t>
            </a:r>
            <a:endParaRPr/>
          </a:p>
          <a:p>
            <a:pPr indent="0" lvl="0" marL="0" rtl="0" algn="l">
              <a:spcBef>
                <a:spcPts val="36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1"/>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Python scripts</a:t>
            </a:r>
            <a:endParaRPr/>
          </a:p>
        </p:txBody>
      </p:sp>
      <p:sp>
        <p:nvSpPr>
          <p:cNvPr id="73" name="Google Shape;73;p11"/>
          <p:cNvSpPr txBox="1"/>
          <p:nvPr>
            <p:ph idx="1" type="body"/>
          </p:nvPr>
        </p:nvSpPr>
        <p:spPr>
          <a:xfrm>
            <a:off x="293217" y="1073431"/>
            <a:ext cx="8223598" cy="3481108"/>
          </a:xfrm>
          <a:prstGeom prst="rect">
            <a:avLst/>
          </a:prstGeom>
          <a:noFill/>
          <a:ln>
            <a:noFill/>
          </a:ln>
        </p:spPr>
        <p:txBody>
          <a:bodyPr anchorCtr="0" anchor="t" bIns="40825" lIns="81650" spcFirstLastPara="1" rIns="81650" wrap="square" tIns="40825">
            <a:noAutofit/>
          </a:bodyPr>
          <a:lstStyle/>
          <a:p>
            <a:pPr indent="-285750" lvl="0" marL="285750" rtl="0" algn="l">
              <a:spcBef>
                <a:spcPts val="0"/>
              </a:spcBef>
              <a:spcAft>
                <a:spcPts val="0"/>
              </a:spcAft>
              <a:buClr>
                <a:srgbClr val="25303B"/>
              </a:buClr>
              <a:buSzPts val="1800"/>
              <a:buFont typeface="Noto Sans Symbols"/>
              <a:buChar char="▪"/>
            </a:pPr>
            <a:r>
              <a:rPr lang="en-GB"/>
              <a:t>These scripts are just text files which contain instructions</a:t>
            </a:r>
            <a:endParaRPr/>
          </a:p>
          <a:p>
            <a:pPr indent="-285750" lvl="0" marL="285750" rtl="0" algn="l">
              <a:spcBef>
                <a:spcPts val="360"/>
              </a:spcBef>
              <a:spcAft>
                <a:spcPts val="0"/>
              </a:spcAft>
              <a:buClr>
                <a:srgbClr val="25303B"/>
              </a:buClr>
              <a:buSzPts val="1800"/>
              <a:buFont typeface="Noto Sans Symbols"/>
              <a:buChar char="▪"/>
            </a:pPr>
            <a:r>
              <a:rPr lang="en-GB"/>
              <a:t>We need to run these files using a Python interpreter</a:t>
            </a:r>
            <a:endParaRPr/>
          </a:p>
          <a:p>
            <a:pPr indent="-285750" lvl="0" marL="285750" rtl="0" algn="l">
              <a:spcBef>
                <a:spcPts val="360"/>
              </a:spcBef>
              <a:spcAft>
                <a:spcPts val="0"/>
              </a:spcAft>
              <a:buClr>
                <a:srgbClr val="25303B"/>
              </a:buClr>
              <a:buSzPts val="1800"/>
              <a:buFont typeface="Noto Sans Symbols"/>
              <a:buChar char="▪"/>
            </a:pPr>
            <a:r>
              <a:rPr lang="en-GB"/>
              <a:t>Usually need to run with </a:t>
            </a:r>
            <a:r>
              <a:rPr i="1" lang="en-GB"/>
              <a:t>arguments</a:t>
            </a:r>
            <a:r>
              <a:rPr lang="en-GB"/>
              <a:t> which provide information such as the files to analyse when the script runs</a:t>
            </a:r>
            <a:endParaRPr/>
          </a:p>
          <a:p>
            <a:pPr indent="-285750" lvl="0" marL="285750" rtl="0" algn="l">
              <a:spcBef>
                <a:spcPts val="360"/>
              </a:spcBef>
              <a:spcAft>
                <a:spcPts val="0"/>
              </a:spcAft>
              <a:buClr>
                <a:srgbClr val="25303B"/>
              </a:buClr>
              <a:buSzPts val="1800"/>
              <a:buFont typeface="Noto Sans Symbols"/>
              <a:buChar char="▪"/>
            </a:pPr>
            <a:r>
              <a:rPr lang="en-GB"/>
              <a:t>Later, we will add functions and edit variables in the scripts to suit what you want to achieve</a:t>
            </a:r>
            <a:endParaRPr/>
          </a:p>
          <a:p>
            <a:pPr indent="-285750" lvl="1" marL="694081" rtl="0" algn="l">
              <a:spcBef>
                <a:spcPts val="360"/>
              </a:spcBef>
              <a:spcAft>
                <a:spcPts val="0"/>
              </a:spcAft>
              <a:buClr>
                <a:schemeClr val="dk1"/>
              </a:buClr>
              <a:buSzPts val="1800"/>
              <a:buChar char="▪"/>
            </a:pPr>
            <a:r>
              <a:rPr lang="en-GB"/>
              <a:t>Eg. add a new fitting function, set axes labels, choose columns for x and y, whether to include a line of best fit</a:t>
            </a:r>
            <a:endParaRPr/>
          </a:p>
          <a:p>
            <a:pPr indent="-171450" lvl="0" marL="285750" rtl="0" algn="l">
              <a:spcBef>
                <a:spcPts val="360"/>
              </a:spcBef>
              <a:spcAft>
                <a:spcPts val="0"/>
              </a:spcAft>
              <a:buClr>
                <a:srgbClr val="25303B"/>
              </a:buClr>
              <a:buSzPts val="1800"/>
              <a:buFont typeface="Noto Sans Symbols"/>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2"/>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Python terminology</a:t>
            </a:r>
            <a:endParaRPr/>
          </a:p>
        </p:txBody>
      </p:sp>
      <p:sp>
        <p:nvSpPr>
          <p:cNvPr id="79" name="Google Shape;79;p12"/>
          <p:cNvSpPr txBox="1"/>
          <p:nvPr>
            <p:ph idx="1" type="body"/>
          </p:nvPr>
        </p:nvSpPr>
        <p:spPr>
          <a:xfrm>
            <a:off x="293225" y="904476"/>
            <a:ext cx="8223600" cy="3650100"/>
          </a:xfrm>
          <a:prstGeom prst="rect">
            <a:avLst/>
          </a:prstGeom>
          <a:noFill/>
          <a:ln>
            <a:noFill/>
          </a:ln>
        </p:spPr>
        <p:txBody>
          <a:bodyPr anchorCtr="0" anchor="t" bIns="40825" lIns="81650" spcFirstLastPara="1" rIns="81650" wrap="square" tIns="40825">
            <a:noAutofit/>
          </a:bodyPr>
          <a:lstStyle/>
          <a:p>
            <a:pPr indent="-285750" lvl="0" marL="285750" rtl="0" algn="l">
              <a:spcBef>
                <a:spcPts val="0"/>
              </a:spcBef>
              <a:spcAft>
                <a:spcPts val="0"/>
              </a:spcAft>
              <a:buClr>
                <a:srgbClr val="25303B"/>
              </a:buClr>
              <a:buSzPts val="1800"/>
              <a:buFont typeface="Noto Sans Symbols"/>
              <a:buChar char="▪"/>
            </a:pPr>
            <a:r>
              <a:rPr lang="en-GB"/>
              <a:t>Variable</a:t>
            </a:r>
            <a:endParaRPr/>
          </a:p>
          <a:p>
            <a:pPr indent="-285750" lvl="1" marL="694081" rtl="0" algn="l">
              <a:spcBef>
                <a:spcPts val="360"/>
              </a:spcBef>
              <a:spcAft>
                <a:spcPts val="0"/>
              </a:spcAft>
              <a:buClr>
                <a:schemeClr val="dk1"/>
              </a:buClr>
              <a:buSzPts val="1800"/>
              <a:buChar char="▪"/>
            </a:pPr>
            <a:r>
              <a:rPr lang="en-GB"/>
              <a:t>Used to store information at one point in the script which can be used later</a:t>
            </a:r>
            <a:endParaRPr/>
          </a:p>
          <a:p>
            <a:pPr indent="-285750" lvl="0" marL="285750" rtl="0" algn="l">
              <a:spcBef>
                <a:spcPts val="360"/>
              </a:spcBef>
              <a:spcAft>
                <a:spcPts val="0"/>
              </a:spcAft>
              <a:buClr>
                <a:srgbClr val="25303B"/>
              </a:buClr>
              <a:buSzPts val="1800"/>
              <a:buFont typeface="Noto Sans Symbols"/>
              <a:buChar char="▪"/>
            </a:pPr>
            <a:r>
              <a:rPr lang="en-GB"/>
              <a:t>Comment</a:t>
            </a:r>
            <a:endParaRPr/>
          </a:p>
          <a:p>
            <a:pPr indent="-285750" lvl="1" marL="694081" rtl="0" algn="l">
              <a:spcBef>
                <a:spcPts val="360"/>
              </a:spcBef>
              <a:spcAft>
                <a:spcPts val="0"/>
              </a:spcAft>
              <a:buClr>
                <a:schemeClr val="dk1"/>
              </a:buClr>
              <a:buSzPts val="1800"/>
              <a:buChar char="▪"/>
            </a:pPr>
            <a:r>
              <a:rPr lang="en-GB"/>
              <a:t>Lines prefixed with # are ignored by the script and are used for your own notes</a:t>
            </a:r>
            <a:endParaRPr/>
          </a:p>
          <a:p>
            <a:pPr indent="-285750" lvl="0" marL="285750" rtl="0" algn="l">
              <a:spcBef>
                <a:spcPts val="360"/>
              </a:spcBef>
              <a:spcAft>
                <a:spcPts val="0"/>
              </a:spcAft>
              <a:buClr>
                <a:srgbClr val="25303B"/>
              </a:buClr>
              <a:buSzPts val="1800"/>
              <a:buFont typeface="Noto Sans Symbols"/>
              <a:buChar char="▪"/>
            </a:pPr>
            <a:r>
              <a:rPr lang="en-GB"/>
              <a:t>Loop</a:t>
            </a:r>
            <a:endParaRPr/>
          </a:p>
          <a:p>
            <a:pPr indent="-285750" lvl="1" marL="694081" rtl="0" algn="l">
              <a:spcBef>
                <a:spcPts val="360"/>
              </a:spcBef>
              <a:spcAft>
                <a:spcPts val="0"/>
              </a:spcAft>
              <a:buClr>
                <a:schemeClr val="dk1"/>
              </a:buClr>
              <a:buSzPts val="1800"/>
              <a:buChar char="▪"/>
            </a:pPr>
            <a:r>
              <a:rPr lang="en-GB"/>
              <a:t>Instructions which the script does repeatedly: for each item in some list, do some function</a:t>
            </a:r>
            <a:endParaRPr/>
          </a:p>
          <a:p>
            <a:pPr indent="-285750" lvl="0" marL="285750" rtl="0" algn="l">
              <a:spcBef>
                <a:spcPts val="360"/>
              </a:spcBef>
              <a:spcAft>
                <a:spcPts val="0"/>
              </a:spcAft>
              <a:buClr>
                <a:srgbClr val="25303B"/>
              </a:buClr>
              <a:buSzPts val="1800"/>
              <a:buFont typeface="Noto Sans Symbols"/>
              <a:buChar char="▪"/>
            </a:pPr>
            <a:r>
              <a:rPr lang="en-GB"/>
              <a:t>Function</a:t>
            </a:r>
            <a:endParaRPr/>
          </a:p>
          <a:p>
            <a:pPr indent="-285750" lvl="1" marL="694081" rtl="0" algn="l">
              <a:spcBef>
                <a:spcPts val="360"/>
              </a:spcBef>
              <a:spcAft>
                <a:spcPts val="0"/>
              </a:spcAft>
              <a:buClr>
                <a:schemeClr val="dk1"/>
              </a:buClr>
              <a:buSzPts val="1800"/>
              <a:buChar char="▪"/>
            </a:pPr>
            <a:r>
              <a:rPr lang="en-GB"/>
              <a:t>A set of instructions for the computer to execute (eg draw graph, label axes)</a:t>
            </a:r>
            <a:endParaRPr/>
          </a:p>
          <a:p>
            <a:pPr indent="-285750" lvl="0" marL="285750" rtl="0" algn="l">
              <a:spcBef>
                <a:spcPts val="360"/>
              </a:spcBef>
              <a:spcAft>
                <a:spcPts val="0"/>
              </a:spcAft>
              <a:buClr>
                <a:srgbClr val="25303B"/>
              </a:buClr>
              <a:buSzPts val="1800"/>
              <a:buFont typeface="Noto Sans Symbols"/>
              <a:buChar char="▪"/>
            </a:pPr>
            <a:r>
              <a:rPr lang="en-GB"/>
              <a:t>Libraries</a:t>
            </a:r>
            <a:endParaRPr/>
          </a:p>
          <a:p>
            <a:pPr indent="-285750" lvl="1" marL="694081" rtl="0" algn="l">
              <a:spcBef>
                <a:spcPts val="360"/>
              </a:spcBef>
              <a:spcAft>
                <a:spcPts val="0"/>
              </a:spcAft>
              <a:buClr>
                <a:schemeClr val="dk1"/>
              </a:buClr>
              <a:buSzPts val="1800"/>
              <a:buChar char="▪"/>
            </a:pPr>
            <a:r>
              <a:rPr lang="en-GB"/>
              <a:t>Pre-written code which can imported into our scripts to provide common functions (eg plotting, maths functions, reading files, displaying windows)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Executing a script</a:t>
            </a:r>
            <a:endParaRPr/>
          </a:p>
        </p:txBody>
      </p:sp>
      <p:sp>
        <p:nvSpPr>
          <p:cNvPr id="85" name="Google Shape;85;p13"/>
          <p:cNvSpPr txBox="1"/>
          <p:nvPr>
            <p:ph idx="1" type="body"/>
          </p:nvPr>
        </p:nvSpPr>
        <p:spPr>
          <a:xfrm>
            <a:off x="293225" y="826725"/>
            <a:ext cx="8223600" cy="3570900"/>
          </a:xfrm>
          <a:prstGeom prst="rect">
            <a:avLst/>
          </a:prstGeom>
          <a:noFill/>
          <a:ln>
            <a:noFill/>
          </a:ln>
        </p:spPr>
        <p:txBody>
          <a:bodyPr anchorCtr="0" anchor="t" bIns="40825" lIns="81650" spcFirstLastPara="1" rIns="81650" wrap="square" tIns="40825">
            <a:noAutofit/>
          </a:bodyPr>
          <a:lstStyle/>
          <a:p>
            <a:pPr indent="0" lvl="0" marL="0" rtl="0" algn="l">
              <a:spcBef>
                <a:spcPts val="0"/>
              </a:spcBef>
              <a:spcAft>
                <a:spcPts val="0"/>
              </a:spcAft>
              <a:buNone/>
            </a:pPr>
            <a:r>
              <a:rPr lang="en-GB"/>
              <a:t>Open the folder containing your python script in File Explorer.</a:t>
            </a:r>
            <a:endParaRPr/>
          </a:p>
          <a:p>
            <a:pPr indent="0" lvl="0" marL="0" rtl="0" algn="l">
              <a:spcBef>
                <a:spcPts val="360"/>
              </a:spcBef>
              <a:spcAft>
                <a:spcPts val="0"/>
              </a:spcAft>
              <a:buNone/>
            </a:pPr>
            <a:r>
              <a:rPr lang="en-GB"/>
              <a:t>Then open Powershell from the file menu:</a:t>
            </a:r>
            <a:endParaRPr/>
          </a:p>
          <a:p>
            <a:pPr indent="-342900" lvl="0" marL="457200" rtl="0" algn="l">
              <a:spcBef>
                <a:spcPts val="360"/>
              </a:spcBef>
              <a:spcAft>
                <a:spcPts val="0"/>
              </a:spcAft>
              <a:buSzPts val="1800"/>
              <a:buChar char="▪"/>
            </a:pPr>
            <a:r>
              <a:rPr lang="en-GB"/>
              <a:t>Shift + right click</a:t>
            </a:r>
            <a:endParaRPr/>
          </a:p>
          <a:p>
            <a:pPr indent="-342900" lvl="0" marL="457200" rtl="0" algn="l">
              <a:spcBef>
                <a:spcPts val="0"/>
              </a:spcBef>
              <a:spcAft>
                <a:spcPts val="0"/>
              </a:spcAft>
              <a:buSzPts val="1800"/>
              <a:buChar char="▪"/>
            </a:pPr>
            <a:r>
              <a:rPr lang="en-GB"/>
              <a:t>Select “Open Powershell window here”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Check the ‘Working Directory’ is displayed in Powershell.</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Write a command that calls the python interpreter, and passes the script name and any arguments:</a:t>
            </a:r>
            <a:endParaRPr/>
          </a:p>
          <a:p>
            <a:pPr indent="0" lvl="0" marL="0" rtl="0" algn="ctr">
              <a:spcBef>
                <a:spcPts val="360"/>
              </a:spcBef>
              <a:spcAft>
                <a:spcPts val="0"/>
              </a:spcAft>
              <a:buNone/>
            </a:pPr>
            <a:r>
              <a:rPr i="1" lang="en-GB">
                <a:solidFill>
                  <a:srgbClr val="002060"/>
                </a:solidFill>
              </a:rPr>
              <a:t>python3</a:t>
            </a:r>
            <a:r>
              <a:rPr i="1" lang="en-GB"/>
              <a:t> </a:t>
            </a:r>
            <a:r>
              <a:rPr i="1" lang="en-GB">
                <a:solidFill>
                  <a:srgbClr val="FF0000"/>
                </a:solidFill>
              </a:rPr>
              <a:t>script.py</a:t>
            </a:r>
            <a:r>
              <a:rPr i="1" lang="en-GB"/>
              <a:t> </a:t>
            </a:r>
            <a:r>
              <a:rPr i="1" lang="en-GB">
                <a:solidFill>
                  <a:srgbClr val="2C5818"/>
                </a:solidFill>
              </a:rPr>
              <a:t>arguments</a:t>
            </a:r>
            <a:endParaRPr/>
          </a:p>
          <a:p>
            <a:pPr indent="-171450" lvl="0" marL="285750" rtl="0" algn="l">
              <a:spcBef>
                <a:spcPts val="360"/>
              </a:spcBef>
              <a:spcAft>
                <a:spcPts val="0"/>
              </a:spcAft>
              <a:buClr>
                <a:srgbClr val="25303B"/>
              </a:buClr>
              <a:buSzPts val="1800"/>
              <a:buFont typeface="Noto Sans Symbols"/>
              <a:buNone/>
            </a:pPr>
            <a:r>
              <a:t/>
            </a:r>
            <a:endParaRPr/>
          </a:p>
        </p:txBody>
      </p:sp>
      <p:pic>
        <p:nvPicPr>
          <p:cNvPr descr="Powershell command for calling the Python interpreter to run a test script" id="86" name="Google Shape;86;p13"/>
          <p:cNvPicPr preferRelativeResize="0"/>
          <p:nvPr/>
        </p:nvPicPr>
        <p:blipFill rotWithShape="1">
          <a:blip r:embed="rId3">
            <a:alphaModFix/>
          </a:blip>
          <a:srcRect b="0" l="0" r="0" t="0"/>
          <a:stretch/>
        </p:blipFill>
        <p:spPr>
          <a:xfrm>
            <a:off x="5588801" y="2764049"/>
            <a:ext cx="3408100" cy="907425"/>
          </a:xfrm>
          <a:prstGeom prst="rect">
            <a:avLst/>
          </a:prstGeom>
          <a:noFill/>
          <a:ln>
            <a:noFill/>
          </a:ln>
        </p:spPr>
      </p:pic>
      <p:pic>
        <p:nvPicPr>
          <p:cNvPr id="87" name="Google Shape;87;p13"/>
          <p:cNvPicPr preferRelativeResize="0"/>
          <p:nvPr/>
        </p:nvPicPr>
        <p:blipFill rotWithShape="1">
          <a:blip r:embed="rId4">
            <a:alphaModFix/>
          </a:blip>
          <a:srcRect b="22958" l="0" r="0" t="0"/>
          <a:stretch/>
        </p:blipFill>
        <p:spPr>
          <a:xfrm>
            <a:off x="6442675" y="248000"/>
            <a:ext cx="2431575" cy="2132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Test script</a:t>
            </a:r>
            <a:endParaRPr/>
          </a:p>
        </p:txBody>
      </p:sp>
      <p:sp>
        <p:nvSpPr>
          <p:cNvPr id="93" name="Google Shape;93;p14"/>
          <p:cNvSpPr txBox="1"/>
          <p:nvPr>
            <p:ph idx="1" type="body"/>
          </p:nvPr>
        </p:nvSpPr>
        <p:spPr>
          <a:xfrm>
            <a:off x="293225" y="962500"/>
            <a:ext cx="8223600" cy="3592200"/>
          </a:xfrm>
          <a:prstGeom prst="rect">
            <a:avLst/>
          </a:prstGeom>
          <a:noFill/>
          <a:ln>
            <a:noFill/>
          </a:ln>
        </p:spPr>
        <p:txBody>
          <a:bodyPr anchorCtr="0" anchor="t" bIns="40825" lIns="81650" spcFirstLastPara="1" rIns="81650" wrap="square" tIns="40825">
            <a:noAutofit/>
          </a:bodyPr>
          <a:lstStyle/>
          <a:p>
            <a:pPr indent="0" lvl="0" marL="0" rtl="0" algn="l">
              <a:spcBef>
                <a:spcPts val="0"/>
              </a:spcBef>
              <a:spcAft>
                <a:spcPts val="0"/>
              </a:spcAft>
              <a:buNone/>
            </a:pPr>
            <a:r>
              <a:rPr lang="en-GB"/>
              <a:t>Download the test script (test.py) and move it into your working directory.</a:t>
            </a:r>
            <a:endParaRPr/>
          </a:p>
          <a:p>
            <a:pPr indent="0" lvl="0" marL="0" rtl="0" algn="l">
              <a:spcBef>
                <a:spcPts val="360"/>
              </a:spcBef>
              <a:spcAft>
                <a:spcPts val="0"/>
              </a:spcAft>
              <a:buNone/>
            </a:pPr>
            <a:r>
              <a:rPr lang="en-GB"/>
              <a:t>This script </a:t>
            </a:r>
            <a:r>
              <a:rPr i="1" lang="en-GB"/>
              <a:t>should</a:t>
            </a:r>
            <a:r>
              <a:rPr lang="en-GB"/>
              <a:t> run correctly:</a:t>
            </a:r>
            <a:endParaRPr/>
          </a:p>
          <a:p>
            <a:pPr indent="0" lvl="0" marL="0" rtl="0" algn="ctr">
              <a:spcBef>
                <a:spcPts val="360"/>
              </a:spcBef>
              <a:spcAft>
                <a:spcPts val="0"/>
              </a:spcAft>
              <a:buNone/>
            </a:pPr>
            <a:r>
              <a:rPr i="1" lang="en-GB">
                <a:solidFill>
                  <a:srgbClr val="002060"/>
                </a:solidFill>
              </a:rPr>
              <a:t>python</a:t>
            </a:r>
            <a:r>
              <a:rPr i="1" lang="en-GB"/>
              <a:t> </a:t>
            </a:r>
            <a:r>
              <a:rPr i="1" lang="en-GB">
                <a:solidFill>
                  <a:srgbClr val="FF0000"/>
                </a:solidFill>
              </a:rPr>
              <a:t>test.py</a:t>
            </a:r>
            <a:endParaRPr i="1">
              <a:solidFill>
                <a:srgbClr val="FF0000"/>
              </a:solidFill>
            </a:endParaRPr>
          </a:p>
          <a:p>
            <a:pPr indent="0" lvl="0" marL="0" rtl="0" algn="l">
              <a:spcBef>
                <a:spcPts val="360"/>
              </a:spcBef>
              <a:spcAft>
                <a:spcPts val="0"/>
              </a:spcAft>
              <a:buNone/>
            </a:pPr>
            <a:r>
              <a:t/>
            </a:r>
            <a:endParaRPr i="1">
              <a:solidFill>
                <a:srgbClr val="FF0000"/>
              </a:solidFill>
            </a:endParaRPr>
          </a:p>
          <a:p>
            <a:pPr indent="0" lvl="0" marL="0" rtl="0" algn="l">
              <a:spcBef>
                <a:spcPts val="360"/>
              </a:spcBef>
              <a:spcAft>
                <a:spcPts val="0"/>
              </a:spcAft>
              <a:buNone/>
            </a:pPr>
            <a:r>
              <a:rPr lang="en-GB"/>
              <a:t>The script checks you have a working python environment with all the packages installed that we will be using.</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Run the test script </a:t>
            </a:r>
            <a:r>
              <a:rPr i="1" lang="en-GB"/>
              <a:t>first</a:t>
            </a:r>
            <a:r>
              <a:rPr lang="en-GB"/>
              <a:t> when working on a new computer to check the setup!</a:t>
            </a:r>
            <a:endParaRPr/>
          </a:p>
          <a:p>
            <a:pPr indent="0" lvl="0" marL="0" rtl="0" algn="l">
              <a:spcBef>
                <a:spcPts val="360"/>
              </a:spcBef>
              <a:spcAft>
                <a:spcPts val="0"/>
              </a:spcAft>
              <a:buNone/>
            </a:pPr>
            <a:r>
              <a:rPr lang="en-GB"/>
              <a:t>If this script won’t run, get help to fix your setup…</a:t>
            </a:r>
            <a:endParaRPr/>
          </a:p>
          <a:p>
            <a:pPr indent="-342900" lvl="0" marL="457200" rtl="0" algn="l">
              <a:spcBef>
                <a:spcPts val="360"/>
              </a:spcBef>
              <a:spcAft>
                <a:spcPts val="0"/>
              </a:spcAft>
              <a:buSzPts val="1800"/>
              <a:buChar char="▪"/>
            </a:pPr>
            <a:r>
              <a:rPr lang="en-GB"/>
              <a:t>Is Python installed?</a:t>
            </a:r>
            <a:endParaRPr/>
          </a:p>
          <a:p>
            <a:pPr indent="-342900" lvl="0" marL="457200" rtl="0" algn="l">
              <a:spcBef>
                <a:spcPts val="0"/>
              </a:spcBef>
              <a:spcAft>
                <a:spcPts val="0"/>
              </a:spcAft>
              <a:buSzPts val="1800"/>
              <a:buChar char="▪"/>
            </a:pPr>
            <a:r>
              <a:rPr lang="en-GB"/>
              <a:t>If you are on a campus machine, try another PC</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Test script</a:t>
            </a:r>
            <a:endParaRPr/>
          </a:p>
        </p:txBody>
      </p:sp>
      <p:pic>
        <p:nvPicPr>
          <p:cNvPr descr="Python output after running the Python test script successfully." id="99" name="Google Shape;99;p15"/>
          <p:cNvPicPr preferRelativeResize="0"/>
          <p:nvPr/>
        </p:nvPicPr>
        <p:blipFill rotWithShape="1">
          <a:blip r:embed="rId3">
            <a:alphaModFix/>
          </a:blip>
          <a:srcRect b="0" l="0" r="0" t="0"/>
          <a:stretch/>
        </p:blipFill>
        <p:spPr>
          <a:xfrm>
            <a:off x="1331912" y="1151414"/>
            <a:ext cx="6480175" cy="284543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Kirchoff’s Law</a:t>
            </a:r>
            <a:endParaRPr/>
          </a:p>
        </p:txBody>
      </p:sp>
      <p:sp>
        <p:nvSpPr>
          <p:cNvPr id="105" name="Google Shape;105;p16"/>
          <p:cNvSpPr txBox="1"/>
          <p:nvPr>
            <p:ph idx="1" type="body"/>
          </p:nvPr>
        </p:nvSpPr>
        <p:spPr>
          <a:xfrm>
            <a:off x="293217" y="1073431"/>
            <a:ext cx="8223598" cy="3481108"/>
          </a:xfrm>
          <a:prstGeom prst="rect">
            <a:avLst/>
          </a:prstGeom>
          <a:noFill/>
          <a:ln>
            <a:noFill/>
          </a:ln>
        </p:spPr>
        <p:txBody>
          <a:bodyPr anchorCtr="0" anchor="t" bIns="40825" lIns="81650" spcFirstLastPara="1" rIns="81650" wrap="square" tIns="40825">
            <a:noAutofit/>
          </a:bodyPr>
          <a:lstStyle/>
          <a:p>
            <a:pPr indent="0" lvl="0" marL="0" rtl="0" algn="l">
              <a:spcBef>
                <a:spcPts val="0"/>
              </a:spcBef>
              <a:spcAft>
                <a:spcPts val="0"/>
              </a:spcAft>
              <a:buNone/>
            </a:pPr>
            <a:r>
              <a:rPr lang="en-GB"/>
              <a:t>We’re going to look at the relationship between enthalpy, temperature, and heat capacity.</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We’ll use Python to apply this to some real-world data.</a:t>
            </a:r>
            <a:endParaRPr/>
          </a:p>
        </p:txBody>
      </p:sp>
      <p:pic>
        <p:nvPicPr>
          <p:cNvPr id="106" name="Google Shape;106;p16"/>
          <p:cNvPicPr preferRelativeResize="0"/>
          <p:nvPr/>
        </p:nvPicPr>
        <p:blipFill>
          <a:blip r:embed="rId3">
            <a:alphaModFix/>
          </a:blip>
          <a:stretch>
            <a:fillRect/>
          </a:stretch>
        </p:blipFill>
        <p:spPr>
          <a:xfrm>
            <a:off x="2152292" y="1609175"/>
            <a:ext cx="2935949" cy="1595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ctrTitle"/>
          </p:nvPr>
        </p:nvSpPr>
        <p:spPr>
          <a:xfrm>
            <a:off x="173808" y="248011"/>
            <a:ext cx="6892800" cy="57870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The main idea</a:t>
            </a:r>
            <a:endParaRPr/>
          </a:p>
        </p:txBody>
      </p:sp>
      <p:sp>
        <p:nvSpPr>
          <p:cNvPr id="112" name="Google Shape;112;p17"/>
          <p:cNvSpPr txBox="1"/>
          <p:nvPr/>
        </p:nvSpPr>
        <p:spPr>
          <a:xfrm>
            <a:off x="554750" y="1124800"/>
            <a:ext cx="2416500" cy="32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Calibri"/>
                <a:ea typeface="Calibri"/>
                <a:cs typeface="Calibri"/>
                <a:sym typeface="Calibri"/>
              </a:rPr>
              <a:t>We will use the real-world data to </a:t>
            </a:r>
            <a:r>
              <a:rPr b="1" lang="en-GB" sz="1800">
                <a:solidFill>
                  <a:schemeClr val="dk1"/>
                </a:solidFill>
                <a:latin typeface="Calibri"/>
                <a:ea typeface="Calibri"/>
                <a:cs typeface="Calibri"/>
                <a:sym typeface="Calibri"/>
              </a:rPr>
              <a:t>plot H against T</a:t>
            </a:r>
            <a:r>
              <a:rPr lang="en-GB" sz="1800">
                <a:solidFill>
                  <a:schemeClr val="dk1"/>
                </a:solidFill>
                <a:latin typeface="Calibri"/>
                <a:ea typeface="Calibri"/>
                <a:cs typeface="Calibri"/>
                <a:sym typeface="Calibri"/>
              </a:rPr>
              <a:t>.</a:t>
            </a:r>
            <a:endParaRPr sz="3000">
              <a:solidFill>
                <a:srgbClr val="25303B"/>
              </a:solidFill>
              <a:latin typeface="Calibri"/>
              <a:ea typeface="Calibri"/>
              <a:cs typeface="Calibri"/>
              <a:sym typeface="Calibri"/>
            </a:endParaRPr>
          </a:p>
        </p:txBody>
      </p:sp>
      <p:sp>
        <p:nvSpPr>
          <p:cNvPr id="113" name="Google Shape;113;p17"/>
          <p:cNvSpPr txBox="1"/>
          <p:nvPr/>
        </p:nvSpPr>
        <p:spPr>
          <a:xfrm>
            <a:off x="3363750" y="1124800"/>
            <a:ext cx="2416500" cy="32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Calibri"/>
                <a:ea typeface="Calibri"/>
                <a:cs typeface="Calibri"/>
                <a:sym typeface="Calibri"/>
              </a:rPr>
              <a:t>Then we’ll </a:t>
            </a:r>
            <a:r>
              <a:rPr b="1" lang="en-GB" sz="1800">
                <a:solidFill>
                  <a:schemeClr val="dk1"/>
                </a:solidFill>
                <a:latin typeface="Calibri"/>
                <a:ea typeface="Calibri"/>
                <a:cs typeface="Calibri"/>
                <a:sym typeface="Calibri"/>
              </a:rPr>
              <a:t>fit the data to find an equation</a:t>
            </a:r>
            <a:r>
              <a:rPr lang="en-GB" sz="1800">
                <a:solidFill>
                  <a:schemeClr val="dk1"/>
                </a:solidFill>
                <a:latin typeface="Calibri"/>
                <a:ea typeface="Calibri"/>
                <a:cs typeface="Calibri"/>
                <a:sym typeface="Calibri"/>
              </a:rPr>
              <a:t> for H in terms of T.</a:t>
            </a:r>
            <a:endParaRPr sz="3000">
              <a:solidFill>
                <a:srgbClr val="25303B"/>
              </a:solidFill>
              <a:latin typeface="Calibri"/>
              <a:ea typeface="Calibri"/>
              <a:cs typeface="Calibri"/>
              <a:sym typeface="Calibri"/>
            </a:endParaRPr>
          </a:p>
        </p:txBody>
      </p:sp>
      <p:sp>
        <p:nvSpPr>
          <p:cNvPr id="114" name="Google Shape;114;p17"/>
          <p:cNvSpPr txBox="1"/>
          <p:nvPr/>
        </p:nvSpPr>
        <p:spPr>
          <a:xfrm>
            <a:off x="6172750" y="1124800"/>
            <a:ext cx="2416500" cy="32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Calibri"/>
                <a:ea typeface="Calibri"/>
                <a:cs typeface="Calibri"/>
                <a:sym typeface="Calibri"/>
              </a:rPr>
              <a:t>We’ll then </a:t>
            </a:r>
            <a:r>
              <a:rPr b="1" lang="en-GB" sz="1800">
                <a:solidFill>
                  <a:schemeClr val="dk1"/>
                </a:solidFill>
                <a:latin typeface="Calibri"/>
                <a:ea typeface="Calibri"/>
                <a:cs typeface="Calibri"/>
                <a:sym typeface="Calibri"/>
              </a:rPr>
              <a:t>differentiate</a:t>
            </a:r>
            <a:r>
              <a:rPr lang="en-GB" sz="1800">
                <a:solidFill>
                  <a:schemeClr val="dk1"/>
                </a:solidFill>
                <a:latin typeface="Calibri"/>
                <a:ea typeface="Calibri"/>
                <a:cs typeface="Calibri"/>
                <a:sym typeface="Calibri"/>
              </a:rPr>
              <a:t>  to find an equation for c</a:t>
            </a:r>
            <a:r>
              <a:rPr baseline="-25000" lang="en-GB" sz="1800">
                <a:solidFill>
                  <a:schemeClr val="dk1"/>
                </a:solidFill>
                <a:latin typeface="Calibri"/>
                <a:ea typeface="Calibri"/>
                <a:cs typeface="Calibri"/>
                <a:sym typeface="Calibri"/>
              </a:rPr>
              <a:t>p</a:t>
            </a:r>
            <a:r>
              <a:rPr lang="en-GB" sz="1800">
                <a:solidFill>
                  <a:schemeClr val="dk1"/>
                </a:solidFill>
                <a:latin typeface="Calibri"/>
                <a:ea typeface="Calibri"/>
                <a:cs typeface="Calibri"/>
                <a:sym typeface="Calibri"/>
              </a:rPr>
              <a:t>.</a:t>
            </a:r>
            <a:endParaRPr sz="3000">
              <a:solidFill>
                <a:srgbClr val="25303B"/>
              </a:solidFill>
              <a:latin typeface="Calibri"/>
              <a:ea typeface="Calibri"/>
              <a:cs typeface="Calibri"/>
              <a:sym typeface="Calibri"/>
            </a:endParaRPr>
          </a:p>
        </p:txBody>
      </p:sp>
      <p:pic>
        <p:nvPicPr>
          <p:cNvPr id="115" name="Google Shape;115;p17"/>
          <p:cNvPicPr preferRelativeResize="0"/>
          <p:nvPr/>
        </p:nvPicPr>
        <p:blipFill>
          <a:blip r:embed="rId3">
            <a:alphaModFix/>
          </a:blip>
          <a:stretch>
            <a:fillRect/>
          </a:stretch>
        </p:blipFill>
        <p:spPr>
          <a:xfrm>
            <a:off x="774025" y="2422013"/>
            <a:ext cx="1977950" cy="1483475"/>
          </a:xfrm>
          <a:prstGeom prst="rect">
            <a:avLst/>
          </a:prstGeom>
          <a:noFill/>
          <a:ln>
            <a:noFill/>
          </a:ln>
        </p:spPr>
      </p:pic>
      <p:pic>
        <p:nvPicPr>
          <p:cNvPr id="116" name="Google Shape;116;p17"/>
          <p:cNvPicPr preferRelativeResize="0"/>
          <p:nvPr/>
        </p:nvPicPr>
        <p:blipFill>
          <a:blip r:embed="rId4">
            <a:alphaModFix/>
          </a:blip>
          <a:stretch>
            <a:fillRect/>
          </a:stretch>
        </p:blipFill>
        <p:spPr>
          <a:xfrm>
            <a:off x="3583025" y="2834525"/>
            <a:ext cx="1977949" cy="658464"/>
          </a:xfrm>
          <a:prstGeom prst="rect">
            <a:avLst/>
          </a:prstGeom>
          <a:noFill/>
          <a:ln>
            <a:noFill/>
          </a:ln>
        </p:spPr>
      </p:pic>
      <p:pic>
        <p:nvPicPr>
          <p:cNvPr id="117" name="Google Shape;117;p17"/>
          <p:cNvPicPr preferRelativeResize="0"/>
          <p:nvPr/>
        </p:nvPicPr>
        <p:blipFill>
          <a:blip r:embed="rId5">
            <a:alphaModFix/>
          </a:blip>
          <a:stretch>
            <a:fillRect/>
          </a:stretch>
        </p:blipFill>
        <p:spPr>
          <a:xfrm>
            <a:off x="6392026" y="2506088"/>
            <a:ext cx="1977949" cy="107475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Steps we’re going to do today</a:t>
            </a:r>
            <a:endParaRPr/>
          </a:p>
        </p:txBody>
      </p:sp>
      <p:sp>
        <p:nvSpPr>
          <p:cNvPr id="123" name="Google Shape;123;p18"/>
          <p:cNvSpPr txBox="1"/>
          <p:nvPr>
            <p:ph idx="1" type="body"/>
          </p:nvPr>
        </p:nvSpPr>
        <p:spPr>
          <a:xfrm>
            <a:off x="293225" y="1073425"/>
            <a:ext cx="8520600" cy="3481200"/>
          </a:xfrm>
          <a:prstGeom prst="rect">
            <a:avLst/>
          </a:prstGeom>
          <a:noFill/>
          <a:ln>
            <a:noFill/>
          </a:ln>
        </p:spPr>
        <p:txBody>
          <a:bodyPr anchorCtr="0" anchor="t" bIns="40825" lIns="81650" spcFirstLastPara="1" rIns="81650" wrap="square" tIns="40825">
            <a:noAutofit/>
          </a:bodyPr>
          <a:lstStyle/>
          <a:p>
            <a:pPr indent="-342900" lvl="0" marL="457200" rtl="0" algn="l">
              <a:lnSpc>
                <a:spcPct val="115000"/>
              </a:lnSpc>
              <a:spcBef>
                <a:spcPts val="0"/>
              </a:spcBef>
              <a:spcAft>
                <a:spcPts val="0"/>
              </a:spcAft>
              <a:buClr>
                <a:srgbClr val="000000"/>
              </a:buClr>
              <a:buSzPts val="1800"/>
              <a:buFont typeface="Calibri"/>
              <a:buAutoNum type="arabicPeriod"/>
            </a:pPr>
            <a:r>
              <a:rPr lang="en-GB">
                <a:solidFill>
                  <a:srgbClr val="000000"/>
                </a:solidFill>
              </a:rPr>
              <a:t>Run the code on experimental “Al at high T” data to produce a simple plot.</a:t>
            </a:r>
            <a:endParaRPr>
              <a:solidFill>
                <a:srgbClr val="000000"/>
              </a:solidFill>
            </a:endParaRPr>
          </a:p>
          <a:p>
            <a:pPr indent="-342900" lvl="0" marL="457200" rtl="0" algn="l">
              <a:lnSpc>
                <a:spcPct val="115000"/>
              </a:lnSpc>
              <a:spcBef>
                <a:spcPts val="0"/>
              </a:spcBef>
              <a:spcAft>
                <a:spcPts val="0"/>
              </a:spcAft>
              <a:buClr>
                <a:srgbClr val="000000"/>
              </a:buClr>
              <a:buSzPts val="1800"/>
              <a:buFont typeface="Calibri"/>
              <a:buAutoNum type="arabicPeriod"/>
            </a:pPr>
            <a:r>
              <a:rPr lang="en-GB">
                <a:solidFill>
                  <a:srgbClr val="000000"/>
                </a:solidFill>
              </a:rPr>
              <a:t>Edit the script: correct axis labels and title and rerun the code.</a:t>
            </a:r>
            <a:endParaRPr>
              <a:solidFill>
                <a:srgbClr val="000000"/>
              </a:solidFill>
            </a:endParaRPr>
          </a:p>
          <a:p>
            <a:pPr indent="-342900" lvl="0" marL="457200" rtl="0" algn="l">
              <a:lnSpc>
                <a:spcPct val="115000"/>
              </a:lnSpc>
              <a:spcBef>
                <a:spcPts val="0"/>
              </a:spcBef>
              <a:spcAft>
                <a:spcPts val="0"/>
              </a:spcAft>
              <a:buClr>
                <a:srgbClr val="000000"/>
              </a:buClr>
              <a:buSzPts val="1800"/>
              <a:buFont typeface="Calibri"/>
              <a:buAutoNum type="arabicPeriod"/>
            </a:pPr>
            <a:r>
              <a:rPr lang="en-GB">
                <a:solidFill>
                  <a:srgbClr val="000000"/>
                </a:solidFill>
              </a:rPr>
              <a:t>Run the code on “Al at high T” data with a linear fit; calculate the heat capacity of Al.</a:t>
            </a:r>
            <a:endParaRPr>
              <a:solidFill>
                <a:srgbClr val="000000"/>
              </a:solidFill>
            </a:endParaRPr>
          </a:p>
          <a:p>
            <a:pPr indent="-342900" lvl="0" marL="457200" rtl="0" algn="l">
              <a:lnSpc>
                <a:spcPct val="115000"/>
              </a:lnSpc>
              <a:spcBef>
                <a:spcPts val="0"/>
              </a:spcBef>
              <a:spcAft>
                <a:spcPts val="0"/>
              </a:spcAft>
              <a:buClr>
                <a:srgbClr val="000000"/>
              </a:buClr>
              <a:buSzPts val="1800"/>
              <a:buAutoNum type="arabicPeriod"/>
            </a:pPr>
            <a:r>
              <a:rPr lang="en-GB">
                <a:solidFill>
                  <a:srgbClr val="000000"/>
                </a:solidFill>
              </a:rPr>
              <a:t>Evaluate the fit: how to we compare one fit to another?</a:t>
            </a:r>
            <a:endParaRPr>
              <a:solidFill>
                <a:srgbClr val="000000"/>
              </a:solidFill>
            </a:endParaRPr>
          </a:p>
          <a:p>
            <a:pPr indent="-342900" lvl="0" marL="457200" rtl="0" algn="l">
              <a:lnSpc>
                <a:spcPct val="115000"/>
              </a:lnSpc>
              <a:spcBef>
                <a:spcPts val="0"/>
              </a:spcBef>
              <a:spcAft>
                <a:spcPts val="0"/>
              </a:spcAft>
              <a:buClr>
                <a:srgbClr val="000000"/>
              </a:buClr>
              <a:buSzPts val="1800"/>
              <a:buFont typeface="Calibri"/>
              <a:buAutoNum type="arabicPeriod"/>
            </a:pPr>
            <a:r>
              <a:rPr lang="en-GB">
                <a:solidFill>
                  <a:srgbClr val="000000"/>
                </a:solidFill>
              </a:rPr>
              <a:t>Run the code with a linear fit on “Al at low T” data.</a:t>
            </a:r>
            <a:endParaRPr>
              <a:solidFill>
                <a:srgbClr val="000000"/>
              </a:solidFill>
            </a:endParaRPr>
          </a:p>
          <a:p>
            <a:pPr indent="-342900" lvl="0" marL="457200" rtl="0" algn="l">
              <a:lnSpc>
                <a:spcPct val="115000"/>
              </a:lnSpc>
              <a:spcBef>
                <a:spcPts val="0"/>
              </a:spcBef>
              <a:spcAft>
                <a:spcPts val="0"/>
              </a:spcAft>
              <a:buClr>
                <a:srgbClr val="000000"/>
              </a:buClr>
              <a:buSzPts val="1800"/>
              <a:buFont typeface="Calibri"/>
              <a:buAutoNum type="arabicPeriod"/>
            </a:pPr>
            <a:r>
              <a:rPr lang="en-GB">
                <a:solidFill>
                  <a:srgbClr val="000000"/>
                </a:solidFill>
              </a:rPr>
              <a:t>Define a new function in the code. </a:t>
            </a:r>
            <a:endParaRPr>
              <a:solidFill>
                <a:srgbClr val="000000"/>
              </a:solidFill>
            </a:endParaRPr>
          </a:p>
          <a:p>
            <a:pPr indent="-342900" lvl="0" marL="457200" rtl="0" algn="l">
              <a:lnSpc>
                <a:spcPct val="115000"/>
              </a:lnSpc>
              <a:spcBef>
                <a:spcPts val="0"/>
              </a:spcBef>
              <a:spcAft>
                <a:spcPts val="0"/>
              </a:spcAft>
              <a:buClr>
                <a:srgbClr val="000000"/>
              </a:buClr>
              <a:buSzPts val="1800"/>
              <a:buFont typeface="Calibri"/>
              <a:buAutoNum type="arabicPeriod"/>
            </a:pPr>
            <a:r>
              <a:rPr lang="en-GB">
                <a:solidFill>
                  <a:srgbClr val="000000"/>
                </a:solidFill>
              </a:rPr>
              <a:t>Re-run the code with a new fitting function; calculate the heat capacity of Al using differentiation.</a:t>
            </a:r>
            <a:endParaRPr>
              <a:solidFill>
                <a:srgbClr val="000000"/>
              </a:solidFill>
            </a:endParaRPr>
          </a:p>
          <a:p>
            <a:pPr indent="-342900" lvl="0" marL="457200" rtl="0" algn="l">
              <a:lnSpc>
                <a:spcPct val="115000"/>
              </a:lnSpc>
              <a:spcBef>
                <a:spcPts val="0"/>
              </a:spcBef>
              <a:spcAft>
                <a:spcPts val="0"/>
              </a:spcAft>
              <a:buClr>
                <a:srgbClr val="000000"/>
              </a:buClr>
              <a:buSzPts val="1800"/>
              <a:buFont typeface="Calibri"/>
              <a:buAutoNum type="arabicPeriod"/>
            </a:pPr>
            <a:r>
              <a:rPr lang="en-GB">
                <a:solidFill>
                  <a:srgbClr val="000000"/>
                </a:solidFill>
              </a:rPr>
              <a:t>What happens with noisy data? Re-run the code on a noisy version of the low T Al data; re-calculate Al’s heat capacity from this data’s fit parameters.</a:t>
            </a:r>
            <a:endParaRPr>
              <a:solidFill>
                <a:srgbClr val="000000"/>
              </a:solidFill>
            </a:endParaRPr>
          </a:p>
          <a:p>
            <a:pPr indent="-342900" lvl="0" marL="457200" rtl="0" algn="l">
              <a:lnSpc>
                <a:spcPct val="115000"/>
              </a:lnSpc>
              <a:spcBef>
                <a:spcPts val="0"/>
              </a:spcBef>
              <a:spcAft>
                <a:spcPts val="0"/>
              </a:spcAft>
              <a:buClr>
                <a:srgbClr val="000000"/>
              </a:buClr>
              <a:buSzPts val="1800"/>
              <a:buFont typeface="Calibri"/>
              <a:buAutoNum type="arabicPeriod"/>
            </a:pPr>
            <a:r>
              <a:rPr lang="en-GB">
                <a:solidFill>
                  <a:srgbClr val="000000"/>
                </a:solidFill>
              </a:rPr>
              <a:t>Define a third function with parameters up to 10th power in x and re-run.</a:t>
            </a:r>
            <a:endParaRPr>
              <a:solidFill>
                <a:srgbClr val="000000"/>
              </a:solidFill>
            </a:endParaRPr>
          </a:p>
          <a:p>
            <a:pPr indent="0" lvl="0" marL="114300" rtl="0" algn="l">
              <a:spcBef>
                <a:spcPts val="360"/>
              </a:spcBef>
              <a:spcAft>
                <a:spcPts val="0"/>
              </a:spcAft>
              <a:buClr>
                <a:srgbClr val="25303B"/>
              </a:buClr>
              <a:buSzPts val="1800"/>
              <a:buFont typeface="Noto Sans Symbols"/>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445770" lvl="0" marL="457200" rtl="0" algn="l">
              <a:spcBef>
                <a:spcPts val="0"/>
              </a:spcBef>
              <a:spcAft>
                <a:spcPts val="0"/>
              </a:spcAft>
              <a:buSzPct val="100000"/>
              <a:buAutoNum type="arabicPeriod"/>
            </a:pPr>
            <a:r>
              <a:rPr lang="en-GB"/>
              <a:t>Plotting a graph</a:t>
            </a:r>
            <a:endParaRPr/>
          </a:p>
        </p:txBody>
      </p:sp>
      <p:sp>
        <p:nvSpPr>
          <p:cNvPr id="129" name="Google Shape;129;p19"/>
          <p:cNvSpPr txBox="1"/>
          <p:nvPr>
            <p:ph idx="1" type="body"/>
          </p:nvPr>
        </p:nvSpPr>
        <p:spPr>
          <a:xfrm>
            <a:off x="293217" y="1073431"/>
            <a:ext cx="8223598" cy="3481108"/>
          </a:xfrm>
          <a:prstGeom prst="rect">
            <a:avLst/>
          </a:prstGeom>
          <a:noFill/>
          <a:ln>
            <a:noFill/>
          </a:ln>
        </p:spPr>
        <p:txBody>
          <a:bodyPr anchorCtr="0" anchor="t" bIns="40825" lIns="81650" spcFirstLastPara="1" rIns="81650" wrap="square" tIns="40825">
            <a:noAutofit/>
          </a:bodyPr>
          <a:lstStyle/>
          <a:p>
            <a:pPr indent="0" lvl="0" marL="0" rtl="0" algn="l">
              <a:spcBef>
                <a:spcPts val="0"/>
              </a:spcBef>
              <a:spcAft>
                <a:spcPts val="0"/>
              </a:spcAft>
              <a:buNone/>
            </a:pPr>
            <a:r>
              <a:rPr lang="en-GB"/>
              <a:t>Download the plot script and the CSV files into your working directory on the H: or M: drive.</a:t>
            </a:r>
            <a:endParaRPr/>
          </a:p>
          <a:p>
            <a:pPr indent="0" lvl="0" marL="0" rtl="0" algn="l">
              <a:spcBef>
                <a:spcPts val="360"/>
              </a:spcBef>
              <a:spcAft>
                <a:spcPts val="0"/>
              </a:spcAft>
              <a:buNone/>
            </a:pPr>
            <a:r>
              <a:rPr lang="en-GB"/>
              <a:t>Start with running the script and passing an argument of one filename:</a:t>
            </a:r>
            <a:endParaRPr/>
          </a:p>
          <a:p>
            <a:pPr indent="0" lvl="0" marL="0" rtl="0" algn="l">
              <a:spcBef>
                <a:spcPts val="360"/>
              </a:spcBef>
              <a:spcAft>
                <a:spcPts val="0"/>
              </a:spcAft>
              <a:buNone/>
            </a:pPr>
            <a:r>
              <a:t/>
            </a:r>
            <a:endParaRPr/>
          </a:p>
          <a:p>
            <a:pPr indent="0" lvl="0" marL="0" rtl="0" algn="ctr">
              <a:spcBef>
                <a:spcPts val="360"/>
              </a:spcBef>
              <a:spcAft>
                <a:spcPts val="0"/>
              </a:spcAft>
              <a:buNone/>
            </a:pPr>
            <a:r>
              <a:rPr lang="en-GB">
                <a:solidFill>
                  <a:srgbClr val="002060"/>
                </a:solidFill>
              </a:rPr>
              <a:t>python</a:t>
            </a:r>
            <a:r>
              <a:rPr lang="en-GB"/>
              <a:t> </a:t>
            </a:r>
            <a:r>
              <a:rPr lang="en-GB">
                <a:solidFill>
                  <a:srgbClr val="FF0000"/>
                </a:solidFill>
              </a:rPr>
              <a:t>plot.py</a:t>
            </a:r>
            <a:r>
              <a:rPr lang="en-GB"/>
              <a:t> </a:t>
            </a:r>
            <a:r>
              <a:rPr lang="en-GB">
                <a:solidFill>
                  <a:srgbClr val="2C5818"/>
                </a:solidFill>
              </a:rPr>
              <a:t>aluminium_high_temp.csv</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The script should run, and will create a graph from the file as a .png ( which gets saved into your working directory, you can access the image in File Explorer).</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(Make sure plot.py is in your working directory! This is the folder you’re currently working in. Use </a:t>
            </a:r>
            <a:r>
              <a:rPr lang="en-GB"/>
              <a:t>the</a:t>
            </a:r>
            <a:r>
              <a:rPr lang="en-GB"/>
              <a:t> command “ls” (“list the stuff in this directory”) to double-check this.)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445770" lvl="0" marL="457200" rtl="0" algn="l">
              <a:spcBef>
                <a:spcPts val="0"/>
              </a:spcBef>
              <a:spcAft>
                <a:spcPts val="0"/>
              </a:spcAft>
              <a:buSzPct val="100000"/>
              <a:buAutoNum type="arabicPeriod"/>
            </a:pPr>
            <a:r>
              <a:rPr lang="en-GB"/>
              <a:t>Plotting a graph</a:t>
            </a:r>
            <a:endParaRPr/>
          </a:p>
        </p:txBody>
      </p:sp>
      <p:pic>
        <p:nvPicPr>
          <p:cNvPr id="135" name="Google Shape;135;p20"/>
          <p:cNvPicPr preferRelativeResize="0"/>
          <p:nvPr/>
        </p:nvPicPr>
        <p:blipFill>
          <a:blip r:embed="rId3">
            <a:alphaModFix/>
          </a:blip>
          <a:stretch>
            <a:fillRect/>
          </a:stretch>
        </p:blipFill>
        <p:spPr>
          <a:xfrm>
            <a:off x="647688" y="971350"/>
            <a:ext cx="4985275" cy="3738950"/>
          </a:xfrm>
          <a:prstGeom prst="rect">
            <a:avLst/>
          </a:prstGeom>
          <a:noFill/>
          <a:ln>
            <a:noFill/>
          </a:ln>
        </p:spPr>
      </p:pic>
      <p:sp>
        <p:nvSpPr>
          <p:cNvPr id="136" name="Google Shape;136;p20"/>
          <p:cNvSpPr txBox="1"/>
          <p:nvPr/>
        </p:nvSpPr>
        <p:spPr>
          <a:xfrm>
            <a:off x="5528125" y="1338325"/>
            <a:ext cx="2921100" cy="305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25303B"/>
                </a:solidFill>
                <a:latin typeface="Calibri"/>
                <a:ea typeface="Calibri"/>
                <a:cs typeface="Calibri"/>
                <a:sym typeface="Calibri"/>
              </a:rPr>
              <a:t>When you open the.png in your file explorer, it should look like this.</a:t>
            </a:r>
            <a:endParaRPr sz="1800">
              <a:solidFill>
                <a:srgbClr val="25303B"/>
              </a:solidFill>
              <a:latin typeface="Calibri"/>
              <a:ea typeface="Calibri"/>
              <a:cs typeface="Calibri"/>
              <a:sym typeface="Calibri"/>
            </a:endParaRPr>
          </a:p>
          <a:p>
            <a:pPr indent="0" lvl="0" marL="0" rtl="0" algn="l">
              <a:spcBef>
                <a:spcPts val="0"/>
              </a:spcBef>
              <a:spcAft>
                <a:spcPts val="0"/>
              </a:spcAft>
              <a:buNone/>
            </a:pPr>
            <a:r>
              <a:t/>
            </a:r>
            <a:endParaRPr sz="1800">
              <a:solidFill>
                <a:srgbClr val="25303B"/>
              </a:solidFill>
              <a:latin typeface="Calibri"/>
              <a:ea typeface="Calibri"/>
              <a:cs typeface="Calibri"/>
              <a:sym typeface="Calibri"/>
            </a:endParaRPr>
          </a:p>
          <a:p>
            <a:pPr indent="0" lvl="0" marL="0" rtl="0" algn="l">
              <a:spcBef>
                <a:spcPts val="0"/>
              </a:spcBef>
              <a:spcAft>
                <a:spcPts val="0"/>
              </a:spcAft>
              <a:buNone/>
            </a:pPr>
            <a:r>
              <a:rPr lang="en-GB" sz="1800">
                <a:solidFill>
                  <a:srgbClr val="25303B"/>
                </a:solidFill>
                <a:latin typeface="Calibri"/>
                <a:ea typeface="Calibri"/>
                <a:cs typeface="Calibri"/>
                <a:sym typeface="Calibri"/>
              </a:rPr>
              <a:t>What’s wrong with this graph?</a:t>
            </a:r>
            <a:endParaRPr sz="1800">
              <a:solidFill>
                <a:srgbClr val="25303B"/>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1"/>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2. Editing the script</a:t>
            </a:r>
            <a:endParaRPr/>
          </a:p>
        </p:txBody>
      </p:sp>
      <p:sp>
        <p:nvSpPr>
          <p:cNvPr id="142" name="Google Shape;142;p21"/>
          <p:cNvSpPr txBox="1"/>
          <p:nvPr>
            <p:ph idx="1" type="body"/>
          </p:nvPr>
        </p:nvSpPr>
        <p:spPr>
          <a:xfrm>
            <a:off x="293225" y="941500"/>
            <a:ext cx="8223600" cy="3612900"/>
          </a:xfrm>
          <a:prstGeom prst="rect">
            <a:avLst/>
          </a:prstGeom>
          <a:noFill/>
          <a:ln>
            <a:noFill/>
          </a:ln>
        </p:spPr>
        <p:txBody>
          <a:bodyPr anchorCtr="0" anchor="t" bIns="40825" lIns="81650" spcFirstLastPara="1" rIns="81650" wrap="square" tIns="40825">
            <a:noAutofit/>
          </a:bodyPr>
          <a:lstStyle/>
          <a:p>
            <a:pPr indent="0" lvl="0" marL="0" rtl="0" algn="l">
              <a:spcBef>
                <a:spcPts val="360"/>
              </a:spcBef>
              <a:spcAft>
                <a:spcPts val="0"/>
              </a:spcAft>
              <a:buNone/>
            </a:pPr>
            <a:r>
              <a:rPr lang="en-GB"/>
              <a:t>Open the script in a text editor:</a:t>
            </a:r>
            <a:endParaRPr/>
          </a:p>
          <a:p>
            <a:pPr indent="-342900" lvl="0" marL="457200" rtl="0" algn="l">
              <a:spcBef>
                <a:spcPts val="360"/>
              </a:spcBef>
              <a:spcAft>
                <a:spcPts val="0"/>
              </a:spcAft>
              <a:buSzPts val="1800"/>
              <a:buChar char="▪"/>
            </a:pPr>
            <a:r>
              <a:rPr lang="en-GB"/>
              <a:t>Right click the script in your file explorer</a:t>
            </a:r>
            <a:endParaRPr/>
          </a:p>
          <a:p>
            <a:pPr indent="-342900" lvl="0" marL="457200" rtl="0" algn="l">
              <a:spcBef>
                <a:spcPts val="0"/>
              </a:spcBef>
              <a:spcAft>
                <a:spcPts val="0"/>
              </a:spcAft>
              <a:buSzPts val="1800"/>
              <a:buChar char="▪"/>
            </a:pPr>
            <a:r>
              <a:rPr lang="en-GB"/>
              <a:t>Select “Edit with Notepad++”</a:t>
            </a:r>
            <a:endParaRPr/>
          </a:p>
          <a:p>
            <a:pPr indent="0" lvl="0" marL="457200" rtl="0" algn="l">
              <a:spcBef>
                <a:spcPts val="360"/>
              </a:spcBef>
              <a:spcAft>
                <a:spcPts val="0"/>
              </a:spcAft>
              <a:buNone/>
            </a:pPr>
            <a:r>
              <a:t/>
            </a:r>
            <a:endParaRPr/>
          </a:p>
          <a:p>
            <a:pPr indent="0" lvl="0" marL="0" rtl="0" algn="l">
              <a:spcBef>
                <a:spcPts val="0"/>
              </a:spcBef>
              <a:spcAft>
                <a:spcPts val="0"/>
              </a:spcAft>
              <a:buNone/>
            </a:pPr>
            <a:r>
              <a:rPr lang="en-GB">
                <a:solidFill>
                  <a:schemeClr val="dk1"/>
                </a:solidFill>
              </a:rPr>
              <a:t>When we run the script in Powershell, the python interpreter carries out the instructions one by one and outputs the result.</a:t>
            </a:r>
            <a:endParaRPr>
              <a:solidFill>
                <a:schemeClr val="dk1"/>
              </a:solidFill>
            </a:endParaRPr>
          </a:p>
          <a:p>
            <a:pPr indent="0" lvl="0" marL="0" rtl="0" algn="l">
              <a:spcBef>
                <a:spcPts val="360"/>
              </a:spcBef>
              <a:spcAft>
                <a:spcPts val="0"/>
              </a:spcAft>
              <a:buNone/>
            </a:pPr>
            <a:r>
              <a:rPr lang="en-GB">
                <a:solidFill>
                  <a:schemeClr val="dk1"/>
                </a:solidFill>
              </a:rPr>
              <a:t>Comments are prefixed with a # and are ignored when the script is run.</a:t>
            </a:r>
            <a:endParaRPr>
              <a:solidFill>
                <a:schemeClr val="dk1"/>
              </a:solidFill>
            </a:endParaRPr>
          </a:p>
          <a:p>
            <a:pPr indent="0" lvl="0" marL="0" rtl="0" algn="l">
              <a:spcBef>
                <a:spcPts val="360"/>
              </a:spcBef>
              <a:spcAft>
                <a:spcPts val="0"/>
              </a:spcAft>
              <a:buNone/>
            </a:pPr>
            <a:r>
              <a:t/>
            </a:r>
            <a:endParaRPr>
              <a:solidFill>
                <a:schemeClr val="dk1"/>
              </a:solidFill>
            </a:endParaRPr>
          </a:p>
          <a:p>
            <a:pPr indent="0" lvl="0" marL="0" rtl="0" algn="l">
              <a:spcBef>
                <a:spcPts val="360"/>
              </a:spcBef>
              <a:spcAft>
                <a:spcPts val="0"/>
              </a:spcAft>
              <a:buNone/>
            </a:pPr>
            <a:r>
              <a:rPr lang="en-GB">
                <a:solidFill>
                  <a:schemeClr val="dk1"/>
                </a:solidFill>
              </a:rPr>
              <a:t>There are lots of options to configure (i.e. change to suit your needs) in the script, and these are described by the comments.</a:t>
            </a:r>
            <a:endParaRPr>
              <a:solidFill>
                <a:schemeClr val="dk1"/>
              </a:solidFill>
            </a:endParaRPr>
          </a:p>
          <a:p>
            <a:pPr indent="0" lvl="0" marL="0" rtl="0" algn="l">
              <a:spcBef>
                <a:spcPts val="360"/>
              </a:spcBef>
              <a:spcAft>
                <a:spcPts val="0"/>
              </a:spcAft>
              <a:buNone/>
            </a:pPr>
            <a:r>
              <a:rPr lang="en-GB">
                <a:solidFill>
                  <a:schemeClr val="dk1"/>
                </a:solidFill>
              </a:rPr>
              <a:t>We’re going to reconfigure the title and the axis labels to match the data they represent.</a:t>
            </a:r>
            <a:endParaRPr>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2"/>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2. Editing the script</a:t>
            </a:r>
            <a:endParaRPr/>
          </a:p>
        </p:txBody>
      </p:sp>
      <p:sp>
        <p:nvSpPr>
          <p:cNvPr id="148" name="Google Shape;148;p22"/>
          <p:cNvSpPr txBox="1"/>
          <p:nvPr>
            <p:ph idx="1" type="body"/>
          </p:nvPr>
        </p:nvSpPr>
        <p:spPr>
          <a:xfrm>
            <a:off x="293225" y="983525"/>
            <a:ext cx="8223600" cy="3845400"/>
          </a:xfrm>
          <a:prstGeom prst="rect">
            <a:avLst/>
          </a:prstGeom>
          <a:noFill/>
          <a:ln>
            <a:noFill/>
          </a:ln>
        </p:spPr>
        <p:txBody>
          <a:bodyPr anchorCtr="0" anchor="t" bIns="40825" lIns="81650" spcFirstLastPara="1" rIns="81650" wrap="square" tIns="40825">
            <a:noAutofit/>
          </a:bodyPr>
          <a:lstStyle/>
          <a:p>
            <a:pPr indent="0" lvl="0" marL="0" rtl="0" algn="l">
              <a:spcBef>
                <a:spcPts val="360"/>
              </a:spcBef>
              <a:spcAft>
                <a:spcPts val="0"/>
              </a:spcAft>
              <a:buNone/>
            </a:pPr>
            <a:r>
              <a:rPr lang="en-GB"/>
              <a:t>In Notepad++, find the lines in the code that control what text goes in the title, the X axis and the Y axis.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solidFill>
                  <a:schemeClr val="dk1"/>
                </a:solidFill>
              </a:rPr>
              <a:t>Change the text between the quotes to set appropriate labels with units, following IUPAC style:</a:t>
            </a:r>
            <a:endParaRPr>
              <a:solidFill>
                <a:schemeClr val="dk1"/>
              </a:solidFill>
            </a:endParaRPr>
          </a:p>
          <a:p>
            <a:pPr indent="0" lvl="0" marL="0" rtl="0" algn="ctr">
              <a:spcBef>
                <a:spcPts val="360"/>
              </a:spcBef>
              <a:spcAft>
                <a:spcPts val="0"/>
              </a:spcAft>
              <a:buNone/>
            </a:pPr>
            <a:r>
              <a:rPr lang="en-GB">
                <a:solidFill>
                  <a:schemeClr val="dk1"/>
                </a:solidFill>
              </a:rPr>
              <a:t>Axis label / units</a:t>
            </a:r>
            <a:br>
              <a:rPr lang="en-GB">
                <a:solidFill>
                  <a:schemeClr val="dk1"/>
                </a:solidFill>
              </a:rPr>
            </a:br>
            <a:r>
              <a:rPr lang="en-GB">
                <a:solidFill>
                  <a:schemeClr val="dk1"/>
                </a:solidFill>
              </a:rPr>
              <a:t>e.g. time / s</a:t>
            </a:r>
            <a:endParaRPr>
              <a:solidFill>
                <a:schemeClr val="dk1"/>
              </a:solidFill>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And also set a new title which more accurately describes what’s in the figure.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Edit and save the file in Notepad++, then rerun the script in Powershell.</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3"/>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2. Editing the script</a:t>
            </a:r>
            <a:endParaRPr/>
          </a:p>
        </p:txBody>
      </p:sp>
      <p:sp>
        <p:nvSpPr>
          <p:cNvPr id="154" name="Google Shape;154;p23"/>
          <p:cNvSpPr txBox="1"/>
          <p:nvPr/>
        </p:nvSpPr>
        <p:spPr>
          <a:xfrm>
            <a:off x="5629350" y="1222625"/>
            <a:ext cx="2892300" cy="33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25303B"/>
                </a:solidFill>
                <a:latin typeface="Calibri"/>
                <a:ea typeface="Calibri"/>
                <a:cs typeface="Calibri"/>
                <a:sym typeface="Calibri"/>
              </a:rPr>
              <a:t>This will be saved as a .png, accessible through your file explorer just like before.</a:t>
            </a:r>
            <a:endParaRPr sz="1800">
              <a:solidFill>
                <a:srgbClr val="25303B"/>
              </a:solidFill>
              <a:latin typeface="Calibri"/>
              <a:ea typeface="Calibri"/>
              <a:cs typeface="Calibri"/>
              <a:sym typeface="Calibri"/>
            </a:endParaRPr>
          </a:p>
          <a:p>
            <a:pPr indent="0" lvl="0" marL="0" rtl="0" algn="l">
              <a:spcBef>
                <a:spcPts val="0"/>
              </a:spcBef>
              <a:spcAft>
                <a:spcPts val="0"/>
              </a:spcAft>
              <a:buNone/>
            </a:pPr>
            <a:r>
              <a:t/>
            </a:r>
            <a:endParaRPr sz="1800">
              <a:solidFill>
                <a:srgbClr val="25303B"/>
              </a:solidFill>
              <a:latin typeface="Calibri"/>
              <a:ea typeface="Calibri"/>
              <a:cs typeface="Calibri"/>
              <a:sym typeface="Calibri"/>
            </a:endParaRPr>
          </a:p>
          <a:p>
            <a:pPr indent="0" lvl="0" marL="0" rtl="0" algn="l">
              <a:spcBef>
                <a:spcPts val="0"/>
              </a:spcBef>
              <a:spcAft>
                <a:spcPts val="0"/>
              </a:spcAft>
              <a:buNone/>
            </a:pPr>
            <a:r>
              <a:rPr lang="en-GB" sz="1800">
                <a:solidFill>
                  <a:srgbClr val="25303B"/>
                </a:solidFill>
                <a:latin typeface="Calibri"/>
                <a:ea typeface="Calibri"/>
                <a:cs typeface="Calibri"/>
                <a:sym typeface="Calibri"/>
              </a:rPr>
              <a:t>Now that the labels on our axes are correct, we can begin to produce some lines of best fit. </a:t>
            </a:r>
            <a:endParaRPr sz="1800">
              <a:solidFill>
                <a:srgbClr val="25303B"/>
              </a:solidFill>
              <a:latin typeface="Calibri"/>
              <a:ea typeface="Calibri"/>
              <a:cs typeface="Calibri"/>
              <a:sym typeface="Calibri"/>
            </a:endParaRPr>
          </a:p>
        </p:txBody>
      </p:sp>
      <p:pic>
        <p:nvPicPr>
          <p:cNvPr id="155" name="Google Shape;155;p23" title="aluminium_high_temp.png"/>
          <p:cNvPicPr preferRelativeResize="0"/>
          <p:nvPr/>
        </p:nvPicPr>
        <p:blipFill rotWithShape="1">
          <a:blip r:embed="rId3">
            <a:alphaModFix/>
          </a:blip>
          <a:srcRect b="0" l="0" r="0" t="0"/>
          <a:stretch/>
        </p:blipFill>
        <p:spPr>
          <a:xfrm>
            <a:off x="173800" y="826731"/>
            <a:ext cx="5324550" cy="399341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4"/>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3. A linear fit</a:t>
            </a:r>
            <a:endParaRPr/>
          </a:p>
        </p:txBody>
      </p:sp>
      <p:sp>
        <p:nvSpPr>
          <p:cNvPr id="161" name="Google Shape;161;p24"/>
          <p:cNvSpPr txBox="1"/>
          <p:nvPr>
            <p:ph idx="1" type="body"/>
          </p:nvPr>
        </p:nvSpPr>
        <p:spPr>
          <a:xfrm>
            <a:off x="307675" y="826725"/>
            <a:ext cx="8223600" cy="4155900"/>
          </a:xfrm>
          <a:prstGeom prst="rect">
            <a:avLst/>
          </a:prstGeom>
          <a:noFill/>
          <a:ln>
            <a:noFill/>
          </a:ln>
        </p:spPr>
        <p:txBody>
          <a:bodyPr anchorCtr="0" anchor="t" bIns="40825" lIns="81650" spcFirstLastPara="1" rIns="81650" wrap="square" tIns="40825">
            <a:noAutofit/>
          </a:bodyPr>
          <a:lstStyle/>
          <a:p>
            <a:pPr indent="0" lvl="0" marL="0" rtl="0" algn="l">
              <a:spcBef>
                <a:spcPts val="360"/>
              </a:spcBef>
              <a:spcAft>
                <a:spcPts val="0"/>
              </a:spcAft>
              <a:buNone/>
            </a:pPr>
            <a:r>
              <a:rPr lang="en-GB"/>
              <a:t>Now we’re going to run plot.py again, but this time we’re adding a linear line of best fit.</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In the script, you’ll see that “linear” is one of the “</a:t>
            </a:r>
            <a:r>
              <a:rPr lang="en-GB"/>
              <a:t>args” (arguments) that the script can get passed and use to perform logic.</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We pass arguments to the python interpreter (which goes on to pass arguments to the script) by including them in our command line arguments:</a:t>
            </a:r>
            <a:endParaRPr/>
          </a:p>
          <a:p>
            <a:pPr indent="0" lvl="0" marL="0" rtl="0" algn="l">
              <a:spcBef>
                <a:spcPts val="360"/>
              </a:spcBef>
              <a:spcAft>
                <a:spcPts val="0"/>
              </a:spcAft>
              <a:buNone/>
            </a:pPr>
            <a:r>
              <a:t/>
            </a:r>
            <a:endParaRPr/>
          </a:p>
          <a:p>
            <a:pPr indent="0" lvl="0" marL="0" rtl="0" algn="ctr">
              <a:spcBef>
                <a:spcPts val="360"/>
              </a:spcBef>
              <a:spcAft>
                <a:spcPts val="0"/>
              </a:spcAft>
              <a:buNone/>
            </a:pPr>
            <a:r>
              <a:rPr lang="en-GB"/>
              <a:t> python  </a:t>
            </a:r>
            <a:r>
              <a:rPr lang="en-GB">
                <a:solidFill>
                  <a:srgbClr val="FF0000"/>
                </a:solidFill>
              </a:rPr>
              <a:t>plot.py</a:t>
            </a:r>
            <a:r>
              <a:rPr lang="en-GB"/>
              <a:t>  aluminium_high_temp.csv  linear</a:t>
            </a:r>
            <a:endParaRPr/>
          </a:p>
          <a:p>
            <a:pPr indent="0" lvl="0" marL="0" rtl="0" algn="ctr">
              <a:spcBef>
                <a:spcPts val="360"/>
              </a:spcBef>
              <a:spcAft>
                <a:spcPts val="0"/>
              </a:spcAft>
              <a:buNone/>
            </a:pPr>
            <a:r>
              <a:t/>
            </a:r>
            <a:endParaRPr/>
          </a:p>
          <a:p>
            <a:pPr indent="0" lvl="0" marL="0" rtl="0" algn="l">
              <a:spcBef>
                <a:spcPts val="360"/>
              </a:spcBef>
              <a:spcAft>
                <a:spcPts val="0"/>
              </a:spcAft>
              <a:buNone/>
            </a:pPr>
            <a:r>
              <a:rPr lang="en-GB"/>
              <a:t>This should produce a new plot with two lines: one showing the raw data, and the other showing the linear line of best fit.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5"/>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3. A linear fit</a:t>
            </a:r>
            <a:endParaRPr/>
          </a:p>
        </p:txBody>
      </p:sp>
      <p:sp>
        <p:nvSpPr>
          <p:cNvPr id="167" name="Google Shape;167;p25"/>
          <p:cNvSpPr txBox="1"/>
          <p:nvPr>
            <p:ph idx="1" type="body"/>
          </p:nvPr>
        </p:nvSpPr>
        <p:spPr>
          <a:xfrm>
            <a:off x="5566225" y="1073425"/>
            <a:ext cx="2950800" cy="3481200"/>
          </a:xfrm>
          <a:prstGeom prst="rect">
            <a:avLst/>
          </a:prstGeom>
          <a:noFill/>
          <a:ln>
            <a:noFill/>
          </a:ln>
        </p:spPr>
        <p:txBody>
          <a:bodyPr anchorCtr="0" anchor="t" bIns="40825" lIns="81650" spcFirstLastPara="1" rIns="81650" wrap="square" tIns="40825">
            <a:noAutofit/>
          </a:bodyPr>
          <a:lstStyle/>
          <a:p>
            <a:pPr indent="0" lvl="0" marL="0" rtl="0" algn="l">
              <a:spcBef>
                <a:spcPts val="360"/>
              </a:spcBef>
              <a:spcAft>
                <a:spcPts val="0"/>
              </a:spcAft>
              <a:buClr>
                <a:srgbClr val="25303B"/>
              </a:buClr>
              <a:buSzPts val="1800"/>
              <a:buNone/>
            </a:pPr>
            <a:r>
              <a:rPr lang="en-GB"/>
              <a:t>Two things should have been output: </a:t>
            </a:r>
            <a:endParaRPr/>
          </a:p>
          <a:p>
            <a:pPr indent="-342900" lvl="0" marL="457200" rtl="0" algn="l">
              <a:spcBef>
                <a:spcPts val="360"/>
              </a:spcBef>
              <a:spcAft>
                <a:spcPts val="0"/>
              </a:spcAft>
              <a:buSzPts val="1800"/>
              <a:buChar char="▪"/>
            </a:pPr>
            <a:r>
              <a:rPr lang="en-GB"/>
              <a:t>A .png which looks like this</a:t>
            </a:r>
            <a:endParaRPr/>
          </a:p>
          <a:p>
            <a:pPr indent="-342900" lvl="0" marL="457200" rtl="0" algn="l">
              <a:spcBef>
                <a:spcPts val="0"/>
              </a:spcBef>
              <a:spcAft>
                <a:spcPts val="0"/>
              </a:spcAft>
              <a:buSzPts val="1800"/>
              <a:buChar char="▪"/>
            </a:pPr>
            <a:r>
              <a:rPr lang="en-GB"/>
              <a:t>A .csv which contains some fit parameters (i.e. the mathematical equation for the line of best fit). You can open this in Notepad.</a:t>
            </a:r>
            <a:endParaRPr/>
          </a:p>
        </p:txBody>
      </p:sp>
      <p:pic>
        <p:nvPicPr>
          <p:cNvPr id="168" name="Google Shape;168;p25"/>
          <p:cNvPicPr preferRelativeResize="0"/>
          <p:nvPr/>
        </p:nvPicPr>
        <p:blipFill>
          <a:blip r:embed="rId3">
            <a:alphaModFix/>
          </a:blip>
          <a:stretch>
            <a:fillRect/>
          </a:stretch>
        </p:blipFill>
        <p:spPr>
          <a:xfrm>
            <a:off x="173800" y="791825"/>
            <a:ext cx="5392426" cy="40443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6"/>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3. A linear fit - fit parameters</a:t>
            </a:r>
            <a:endParaRPr/>
          </a:p>
        </p:txBody>
      </p:sp>
      <p:pic>
        <p:nvPicPr>
          <p:cNvPr id="174" name="Google Shape;174;p26"/>
          <p:cNvPicPr preferRelativeResize="0"/>
          <p:nvPr/>
        </p:nvPicPr>
        <p:blipFill>
          <a:blip r:embed="rId3">
            <a:alphaModFix/>
          </a:blip>
          <a:stretch>
            <a:fillRect/>
          </a:stretch>
        </p:blipFill>
        <p:spPr>
          <a:xfrm>
            <a:off x="611275" y="3588343"/>
            <a:ext cx="7543800" cy="619125"/>
          </a:xfrm>
          <a:prstGeom prst="rect">
            <a:avLst/>
          </a:prstGeom>
          <a:noFill/>
          <a:ln>
            <a:noFill/>
          </a:ln>
        </p:spPr>
      </p:pic>
      <p:sp>
        <p:nvSpPr>
          <p:cNvPr id="175" name="Google Shape;175;p26"/>
          <p:cNvSpPr txBox="1"/>
          <p:nvPr/>
        </p:nvSpPr>
        <p:spPr>
          <a:xfrm>
            <a:off x="611275" y="1055275"/>
            <a:ext cx="7201800" cy="246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25303B"/>
                </a:solidFill>
                <a:latin typeface="Calibri"/>
                <a:ea typeface="Calibri"/>
                <a:cs typeface="Calibri"/>
                <a:sym typeface="Calibri"/>
              </a:rPr>
              <a:t>A .csv file contains “comma separated values”, so it’s a useful way to store data. Think of it like a table where the columns are separated by commas instead of a big line.</a:t>
            </a:r>
            <a:endParaRPr sz="1800">
              <a:solidFill>
                <a:srgbClr val="25303B"/>
              </a:solidFill>
              <a:latin typeface="Calibri"/>
              <a:ea typeface="Calibri"/>
              <a:cs typeface="Calibri"/>
              <a:sym typeface="Calibri"/>
            </a:endParaRPr>
          </a:p>
          <a:p>
            <a:pPr indent="0" lvl="0" marL="0" rtl="0" algn="l">
              <a:spcBef>
                <a:spcPts val="0"/>
              </a:spcBef>
              <a:spcAft>
                <a:spcPts val="0"/>
              </a:spcAft>
              <a:buNone/>
            </a:pPr>
            <a:r>
              <a:t/>
            </a:r>
            <a:endParaRPr sz="1800">
              <a:solidFill>
                <a:srgbClr val="25303B"/>
              </a:solidFill>
              <a:latin typeface="Calibri"/>
              <a:ea typeface="Calibri"/>
              <a:cs typeface="Calibri"/>
              <a:sym typeface="Calibri"/>
            </a:endParaRPr>
          </a:p>
          <a:p>
            <a:pPr indent="0" lvl="0" marL="0" rtl="0" algn="l">
              <a:spcBef>
                <a:spcPts val="0"/>
              </a:spcBef>
              <a:spcAft>
                <a:spcPts val="0"/>
              </a:spcAft>
              <a:buNone/>
            </a:pPr>
            <a:r>
              <a:rPr lang="en-GB" sz="1800">
                <a:solidFill>
                  <a:srgbClr val="25303B"/>
                </a:solidFill>
                <a:latin typeface="Calibri"/>
                <a:ea typeface="Calibri"/>
                <a:cs typeface="Calibri"/>
                <a:sym typeface="Calibri"/>
              </a:rPr>
              <a:t>Our line of best fit is linear, so it’s got an equation of the form </a:t>
            </a:r>
            <a:r>
              <a:rPr i="1" lang="en-GB" sz="1800">
                <a:solidFill>
                  <a:srgbClr val="25303B"/>
                </a:solidFill>
                <a:latin typeface="Calibri"/>
                <a:ea typeface="Calibri"/>
                <a:cs typeface="Calibri"/>
                <a:sym typeface="Calibri"/>
              </a:rPr>
              <a:t>y = mx + c</a:t>
            </a:r>
            <a:r>
              <a:rPr lang="en-GB" sz="1800">
                <a:solidFill>
                  <a:srgbClr val="25303B"/>
                </a:solidFill>
                <a:latin typeface="Calibri"/>
                <a:ea typeface="Calibri"/>
                <a:cs typeface="Calibri"/>
                <a:sym typeface="Calibri"/>
              </a:rPr>
              <a:t>. </a:t>
            </a:r>
            <a:endParaRPr sz="1800">
              <a:solidFill>
                <a:srgbClr val="25303B"/>
              </a:solidFill>
              <a:latin typeface="Calibri"/>
              <a:ea typeface="Calibri"/>
              <a:cs typeface="Calibri"/>
              <a:sym typeface="Calibri"/>
            </a:endParaRPr>
          </a:p>
          <a:p>
            <a:pPr indent="0" lvl="0" marL="0" rtl="0" algn="l">
              <a:spcBef>
                <a:spcPts val="0"/>
              </a:spcBef>
              <a:spcAft>
                <a:spcPts val="0"/>
              </a:spcAft>
              <a:buNone/>
            </a:pPr>
            <a:r>
              <a:t/>
            </a:r>
            <a:endParaRPr sz="1800">
              <a:solidFill>
                <a:srgbClr val="25303B"/>
              </a:solidFill>
              <a:latin typeface="Calibri"/>
              <a:ea typeface="Calibri"/>
              <a:cs typeface="Calibri"/>
              <a:sym typeface="Calibri"/>
            </a:endParaRPr>
          </a:p>
          <a:p>
            <a:pPr indent="0" lvl="0" marL="0" rtl="0" algn="l">
              <a:spcBef>
                <a:spcPts val="0"/>
              </a:spcBef>
              <a:spcAft>
                <a:spcPts val="0"/>
              </a:spcAft>
              <a:buNone/>
            </a:pPr>
            <a:r>
              <a:rPr b="1" lang="en-GB" sz="1800">
                <a:solidFill>
                  <a:schemeClr val="dk1"/>
                </a:solidFill>
                <a:latin typeface="Calibri"/>
                <a:ea typeface="Calibri"/>
                <a:cs typeface="Calibri"/>
                <a:sym typeface="Calibri"/>
              </a:rPr>
              <a:t>Can you calculate the heat capacity of Al based off the information from our fit?</a:t>
            </a:r>
            <a:endParaRPr sz="1800">
              <a:solidFill>
                <a:srgbClr val="25303B"/>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7"/>
          <p:cNvSpPr txBox="1"/>
          <p:nvPr>
            <p:ph type="ctrTitle"/>
          </p:nvPr>
        </p:nvSpPr>
        <p:spPr>
          <a:xfrm>
            <a:off x="173808" y="248011"/>
            <a:ext cx="6892800" cy="57870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3. A linear fit</a:t>
            </a:r>
            <a:endParaRPr/>
          </a:p>
        </p:txBody>
      </p:sp>
      <p:pic>
        <p:nvPicPr>
          <p:cNvPr id="181" name="Google Shape;181;p27"/>
          <p:cNvPicPr preferRelativeResize="0"/>
          <p:nvPr/>
        </p:nvPicPr>
        <p:blipFill>
          <a:blip r:embed="rId3">
            <a:alphaModFix/>
          </a:blip>
          <a:stretch>
            <a:fillRect/>
          </a:stretch>
        </p:blipFill>
        <p:spPr>
          <a:xfrm>
            <a:off x="611275" y="3588343"/>
            <a:ext cx="7543800" cy="619125"/>
          </a:xfrm>
          <a:prstGeom prst="rect">
            <a:avLst/>
          </a:prstGeom>
          <a:noFill/>
          <a:ln>
            <a:noFill/>
          </a:ln>
        </p:spPr>
      </p:pic>
      <p:sp>
        <p:nvSpPr>
          <p:cNvPr id="182" name="Google Shape;182;p27"/>
          <p:cNvSpPr txBox="1"/>
          <p:nvPr/>
        </p:nvSpPr>
        <p:spPr>
          <a:xfrm>
            <a:off x="611275" y="1055275"/>
            <a:ext cx="7201800" cy="246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25303B"/>
                </a:solidFill>
                <a:latin typeface="Calibri"/>
                <a:ea typeface="Calibri"/>
                <a:cs typeface="Calibri"/>
                <a:sym typeface="Calibri"/>
              </a:rPr>
              <a:t>For a linear </a:t>
            </a:r>
            <a:r>
              <a:rPr lang="en-GB" sz="1800">
                <a:solidFill>
                  <a:srgbClr val="25303B"/>
                </a:solidFill>
                <a:latin typeface="Calibri"/>
                <a:ea typeface="Calibri"/>
                <a:cs typeface="Calibri"/>
                <a:sym typeface="Calibri"/>
              </a:rPr>
              <a:t>equation</a:t>
            </a:r>
            <a:r>
              <a:rPr lang="en-GB" sz="1800">
                <a:solidFill>
                  <a:srgbClr val="25303B"/>
                </a:solidFill>
                <a:latin typeface="Calibri"/>
                <a:ea typeface="Calibri"/>
                <a:cs typeface="Calibri"/>
                <a:sym typeface="Calibri"/>
              </a:rPr>
              <a:t>, dH/dT will be constant (the gradient is always the same).</a:t>
            </a:r>
            <a:endParaRPr sz="1800">
              <a:solidFill>
                <a:srgbClr val="25303B"/>
              </a:solidFill>
              <a:latin typeface="Calibri"/>
              <a:ea typeface="Calibri"/>
              <a:cs typeface="Calibri"/>
              <a:sym typeface="Calibri"/>
            </a:endParaRPr>
          </a:p>
          <a:p>
            <a:pPr indent="0" lvl="0" marL="0" rtl="0" algn="l">
              <a:spcBef>
                <a:spcPts val="0"/>
              </a:spcBef>
              <a:spcAft>
                <a:spcPts val="0"/>
              </a:spcAft>
              <a:buNone/>
            </a:pPr>
            <a:r>
              <a:t/>
            </a:r>
            <a:endParaRPr sz="1800">
              <a:solidFill>
                <a:srgbClr val="25303B"/>
              </a:solidFill>
              <a:latin typeface="Calibri"/>
              <a:ea typeface="Calibri"/>
              <a:cs typeface="Calibri"/>
              <a:sym typeface="Calibri"/>
            </a:endParaRPr>
          </a:p>
          <a:p>
            <a:pPr indent="0" lvl="0" marL="0" rtl="0" algn="l">
              <a:spcBef>
                <a:spcPts val="0"/>
              </a:spcBef>
              <a:spcAft>
                <a:spcPts val="0"/>
              </a:spcAft>
              <a:buNone/>
            </a:pPr>
            <a:r>
              <a:rPr lang="en-GB" sz="1800">
                <a:solidFill>
                  <a:srgbClr val="25303B"/>
                </a:solidFill>
                <a:latin typeface="Calibri"/>
                <a:ea typeface="Calibri"/>
                <a:cs typeface="Calibri"/>
                <a:sym typeface="Calibri"/>
              </a:rPr>
              <a:t>Here, the gradient m = 26.626. </a:t>
            </a:r>
            <a:endParaRPr sz="1800">
              <a:solidFill>
                <a:srgbClr val="25303B"/>
              </a:solidFill>
              <a:latin typeface="Calibri"/>
              <a:ea typeface="Calibri"/>
              <a:cs typeface="Calibri"/>
              <a:sym typeface="Calibri"/>
            </a:endParaRPr>
          </a:p>
          <a:p>
            <a:pPr indent="0" lvl="0" marL="0" rtl="0" algn="l">
              <a:spcBef>
                <a:spcPts val="0"/>
              </a:spcBef>
              <a:spcAft>
                <a:spcPts val="0"/>
              </a:spcAft>
              <a:buNone/>
            </a:pPr>
            <a:r>
              <a:rPr lang="en-GB" sz="1800">
                <a:solidFill>
                  <a:srgbClr val="25303B"/>
                </a:solidFill>
                <a:latin typeface="Calibri"/>
                <a:ea typeface="Calibri"/>
                <a:cs typeface="Calibri"/>
                <a:sym typeface="Calibri"/>
              </a:rPr>
              <a:t>So according to our model, c</a:t>
            </a:r>
            <a:r>
              <a:rPr baseline="-25000" lang="en-GB" sz="1800">
                <a:solidFill>
                  <a:srgbClr val="25303B"/>
                </a:solidFill>
                <a:latin typeface="Calibri"/>
                <a:ea typeface="Calibri"/>
                <a:cs typeface="Calibri"/>
                <a:sym typeface="Calibri"/>
              </a:rPr>
              <a:t>p</a:t>
            </a:r>
            <a:r>
              <a:rPr lang="en-GB" sz="1800">
                <a:solidFill>
                  <a:srgbClr val="25303B"/>
                </a:solidFill>
                <a:latin typeface="Calibri"/>
                <a:ea typeface="Calibri"/>
                <a:cs typeface="Calibri"/>
                <a:sym typeface="Calibri"/>
              </a:rPr>
              <a:t> = 26.626 Jmol</a:t>
            </a:r>
            <a:r>
              <a:rPr baseline="30000" lang="en-GB" sz="1800">
                <a:solidFill>
                  <a:srgbClr val="25303B"/>
                </a:solidFill>
                <a:latin typeface="Calibri"/>
                <a:ea typeface="Calibri"/>
                <a:cs typeface="Calibri"/>
                <a:sym typeface="Calibri"/>
              </a:rPr>
              <a:t>-1</a:t>
            </a:r>
            <a:r>
              <a:rPr lang="en-GB" sz="1800">
                <a:solidFill>
                  <a:srgbClr val="25303B"/>
                </a:solidFill>
                <a:latin typeface="Calibri"/>
                <a:ea typeface="Calibri"/>
                <a:cs typeface="Calibri"/>
                <a:sym typeface="Calibri"/>
              </a:rPr>
              <a:t>K</a:t>
            </a:r>
            <a:r>
              <a:rPr baseline="30000" lang="en-GB" sz="1800">
                <a:solidFill>
                  <a:srgbClr val="25303B"/>
                </a:solidFill>
                <a:latin typeface="Calibri"/>
                <a:ea typeface="Calibri"/>
                <a:cs typeface="Calibri"/>
                <a:sym typeface="Calibri"/>
              </a:rPr>
              <a:t>-1</a:t>
            </a:r>
            <a:r>
              <a:rPr lang="en-GB" sz="1800">
                <a:solidFill>
                  <a:srgbClr val="25303B"/>
                </a:solidFill>
                <a:latin typeface="Calibri"/>
                <a:ea typeface="Calibri"/>
                <a:cs typeface="Calibri"/>
                <a:sym typeface="Calibri"/>
              </a:rPr>
              <a:t>. </a:t>
            </a:r>
            <a:endParaRPr sz="1800">
              <a:solidFill>
                <a:srgbClr val="25303B"/>
              </a:solidFill>
              <a:latin typeface="Calibri"/>
              <a:ea typeface="Calibri"/>
              <a:cs typeface="Calibri"/>
              <a:sym typeface="Calibri"/>
            </a:endParaRPr>
          </a:p>
          <a:p>
            <a:pPr indent="0" lvl="0" marL="0" rtl="0" algn="l">
              <a:spcBef>
                <a:spcPts val="0"/>
              </a:spcBef>
              <a:spcAft>
                <a:spcPts val="0"/>
              </a:spcAft>
              <a:buNone/>
            </a:pPr>
            <a:r>
              <a:t/>
            </a:r>
            <a:endParaRPr sz="1800">
              <a:solidFill>
                <a:srgbClr val="25303B"/>
              </a:solidFill>
              <a:latin typeface="Calibri"/>
              <a:ea typeface="Calibri"/>
              <a:cs typeface="Calibri"/>
              <a:sym typeface="Calibri"/>
            </a:endParaRPr>
          </a:p>
          <a:p>
            <a:pPr indent="0" lvl="0" marL="0" rtl="0" algn="l">
              <a:spcBef>
                <a:spcPts val="0"/>
              </a:spcBef>
              <a:spcAft>
                <a:spcPts val="0"/>
              </a:spcAft>
              <a:buNone/>
            </a:pPr>
            <a:r>
              <a:rPr lang="en-GB" sz="1800">
                <a:solidFill>
                  <a:srgbClr val="25303B"/>
                </a:solidFill>
                <a:latin typeface="Calibri"/>
                <a:ea typeface="Calibri"/>
                <a:cs typeface="Calibri"/>
                <a:sym typeface="Calibri"/>
              </a:rPr>
              <a:t>In real life, c</a:t>
            </a:r>
            <a:r>
              <a:rPr baseline="-25000" lang="en-GB" sz="1800">
                <a:solidFill>
                  <a:srgbClr val="25303B"/>
                </a:solidFill>
                <a:latin typeface="Calibri"/>
                <a:ea typeface="Calibri"/>
                <a:cs typeface="Calibri"/>
                <a:sym typeface="Calibri"/>
              </a:rPr>
              <a:t>p</a:t>
            </a:r>
            <a:r>
              <a:rPr lang="en-GB" sz="1800">
                <a:solidFill>
                  <a:srgbClr val="25303B"/>
                </a:solidFill>
                <a:latin typeface="Calibri"/>
                <a:ea typeface="Calibri"/>
                <a:cs typeface="Calibri"/>
                <a:sym typeface="Calibri"/>
              </a:rPr>
              <a:t> varies a decent bit from this (it’s 12.997 at 100K and 32.308 at 900K).</a:t>
            </a:r>
            <a:endParaRPr sz="1800">
              <a:solidFill>
                <a:srgbClr val="25303B"/>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8"/>
          <p:cNvSpPr txBox="1"/>
          <p:nvPr>
            <p:ph type="ctrTitle"/>
          </p:nvPr>
        </p:nvSpPr>
        <p:spPr>
          <a:xfrm>
            <a:off x="173808" y="248011"/>
            <a:ext cx="6892800" cy="57870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4. Comparing fits</a:t>
            </a:r>
            <a:endParaRPr/>
          </a:p>
        </p:txBody>
      </p:sp>
      <p:sp>
        <p:nvSpPr>
          <p:cNvPr id="188" name="Google Shape;188;p28"/>
          <p:cNvSpPr txBox="1"/>
          <p:nvPr/>
        </p:nvSpPr>
        <p:spPr>
          <a:xfrm>
            <a:off x="611275" y="983525"/>
            <a:ext cx="7201800" cy="253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25303B"/>
                </a:solidFill>
                <a:latin typeface="Calibri"/>
                <a:ea typeface="Calibri"/>
                <a:cs typeface="Calibri"/>
                <a:sym typeface="Calibri"/>
              </a:rPr>
              <a:t>Visually, we can evaluate roughly how good a fit is by seeing how close the lines look. </a:t>
            </a:r>
            <a:endParaRPr sz="1800">
              <a:solidFill>
                <a:srgbClr val="25303B"/>
              </a:solidFill>
              <a:latin typeface="Calibri"/>
              <a:ea typeface="Calibri"/>
              <a:cs typeface="Calibri"/>
              <a:sym typeface="Calibri"/>
            </a:endParaRPr>
          </a:p>
          <a:p>
            <a:pPr indent="0" lvl="0" marL="0" rtl="0" algn="l">
              <a:spcBef>
                <a:spcPts val="0"/>
              </a:spcBef>
              <a:spcAft>
                <a:spcPts val="0"/>
              </a:spcAft>
              <a:buNone/>
            </a:pPr>
            <a:r>
              <a:t/>
            </a:r>
            <a:endParaRPr sz="1800">
              <a:solidFill>
                <a:srgbClr val="25303B"/>
              </a:solidFill>
              <a:latin typeface="Calibri"/>
              <a:ea typeface="Calibri"/>
              <a:cs typeface="Calibri"/>
              <a:sym typeface="Calibri"/>
            </a:endParaRPr>
          </a:p>
          <a:p>
            <a:pPr indent="0" lvl="0" marL="0" rtl="0" algn="l">
              <a:spcBef>
                <a:spcPts val="0"/>
              </a:spcBef>
              <a:spcAft>
                <a:spcPts val="0"/>
              </a:spcAft>
              <a:buNone/>
            </a:pPr>
            <a:r>
              <a:rPr lang="en-GB" sz="1800">
                <a:solidFill>
                  <a:srgbClr val="25303B"/>
                </a:solidFill>
                <a:latin typeface="Calibri"/>
                <a:ea typeface="Calibri"/>
                <a:cs typeface="Calibri"/>
                <a:sym typeface="Calibri"/>
              </a:rPr>
              <a:t>But if we want to make a comparison between similar looking fits, we need a quantitative measure of the error between the experimental data and our fit.</a:t>
            </a:r>
            <a:endParaRPr sz="1800">
              <a:solidFill>
                <a:srgbClr val="25303B"/>
              </a:solidFill>
              <a:latin typeface="Calibri"/>
              <a:ea typeface="Calibri"/>
              <a:cs typeface="Calibri"/>
              <a:sym typeface="Calibri"/>
            </a:endParaRPr>
          </a:p>
          <a:p>
            <a:pPr indent="0" lvl="0" marL="0" rtl="0" algn="l">
              <a:spcBef>
                <a:spcPts val="0"/>
              </a:spcBef>
              <a:spcAft>
                <a:spcPts val="0"/>
              </a:spcAft>
              <a:buNone/>
            </a:pPr>
            <a:r>
              <a:t/>
            </a:r>
            <a:endParaRPr sz="1800">
              <a:solidFill>
                <a:srgbClr val="25303B"/>
              </a:solidFill>
              <a:latin typeface="Calibri"/>
              <a:ea typeface="Calibri"/>
              <a:cs typeface="Calibri"/>
              <a:sym typeface="Calibri"/>
            </a:endParaRPr>
          </a:p>
          <a:p>
            <a:pPr indent="0" lvl="0" marL="0" rtl="0" algn="l">
              <a:spcBef>
                <a:spcPts val="0"/>
              </a:spcBef>
              <a:spcAft>
                <a:spcPts val="0"/>
              </a:spcAft>
              <a:buNone/>
            </a:pPr>
            <a:r>
              <a:rPr lang="en-GB" sz="1800">
                <a:solidFill>
                  <a:srgbClr val="25303B"/>
                </a:solidFill>
                <a:latin typeface="Calibri"/>
                <a:ea typeface="Calibri"/>
                <a:cs typeface="Calibri"/>
                <a:sym typeface="Calibri"/>
              </a:rPr>
              <a:t>One way to do this is using the Root Mean Square Error (RMSE):</a:t>
            </a:r>
            <a:endParaRPr sz="1800">
              <a:solidFill>
                <a:srgbClr val="25303B"/>
              </a:solidFill>
              <a:latin typeface="Calibri"/>
              <a:ea typeface="Calibri"/>
              <a:cs typeface="Calibri"/>
              <a:sym typeface="Calibri"/>
            </a:endParaRPr>
          </a:p>
        </p:txBody>
      </p:sp>
      <p:pic>
        <p:nvPicPr>
          <p:cNvPr id="189" name="Google Shape;189;p28" title="equation(1).png"/>
          <p:cNvPicPr preferRelativeResize="0"/>
          <p:nvPr/>
        </p:nvPicPr>
        <p:blipFill rotWithShape="1">
          <a:blip r:embed="rId3">
            <a:alphaModFix/>
          </a:blip>
          <a:srcRect b="0" l="-1061" r="0" t="0"/>
          <a:stretch/>
        </p:blipFill>
        <p:spPr>
          <a:xfrm>
            <a:off x="221725" y="3518875"/>
            <a:ext cx="4144173" cy="1234275"/>
          </a:xfrm>
          <a:prstGeom prst="rect">
            <a:avLst/>
          </a:prstGeom>
          <a:noFill/>
          <a:ln>
            <a:noFill/>
          </a:ln>
        </p:spPr>
      </p:pic>
      <p:sp>
        <p:nvSpPr>
          <p:cNvPr id="190" name="Google Shape;190;p28"/>
          <p:cNvSpPr txBox="1"/>
          <p:nvPr/>
        </p:nvSpPr>
        <p:spPr>
          <a:xfrm>
            <a:off x="4463200" y="3330164"/>
            <a:ext cx="4475700" cy="123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25303B"/>
                </a:solidFill>
                <a:latin typeface="Calibri"/>
                <a:ea typeface="Calibri"/>
                <a:cs typeface="Calibri"/>
                <a:sym typeface="Calibri"/>
              </a:rPr>
              <a:t>For each datapoint in our </a:t>
            </a:r>
            <a:r>
              <a:rPr i="1" lang="en-GB" sz="1800">
                <a:solidFill>
                  <a:srgbClr val="25303B"/>
                </a:solidFill>
                <a:latin typeface="Calibri"/>
                <a:ea typeface="Calibri"/>
                <a:cs typeface="Calibri"/>
                <a:sym typeface="Calibri"/>
              </a:rPr>
              <a:t>n</a:t>
            </a:r>
            <a:r>
              <a:rPr lang="en-GB" sz="1800">
                <a:solidFill>
                  <a:srgbClr val="25303B"/>
                </a:solidFill>
                <a:latin typeface="Calibri"/>
                <a:ea typeface="Calibri"/>
                <a:cs typeface="Calibri"/>
                <a:sym typeface="Calibri"/>
              </a:rPr>
              <a:t> datapoints, take the difference between our experimental enthalpy value and our “fit” enthalpy value and square it. Then take the average of those squares.</a:t>
            </a:r>
            <a:endParaRPr sz="1800">
              <a:solidFill>
                <a:srgbClr val="25303B"/>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9"/>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5. What about at low temp?</a:t>
            </a:r>
            <a:endParaRPr/>
          </a:p>
        </p:txBody>
      </p:sp>
      <p:sp>
        <p:nvSpPr>
          <p:cNvPr id="196" name="Google Shape;196;p29"/>
          <p:cNvSpPr txBox="1"/>
          <p:nvPr>
            <p:ph idx="1" type="body"/>
          </p:nvPr>
        </p:nvSpPr>
        <p:spPr>
          <a:xfrm>
            <a:off x="293217" y="1073431"/>
            <a:ext cx="8223598" cy="3481108"/>
          </a:xfrm>
          <a:prstGeom prst="rect">
            <a:avLst/>
          </a:prstGeom>
          <a:noFill/>
          <a:ln>
            <a:noFill/>
          </a:ln>
        </p:spPr>
        <p:txBody>
          <a:bodyPr anchorCtr="0" anchor="t" bIns="40825" lIns="81650" spcFirstLastPara="1" rIns="81650" wrap="square" tIns="40825">
            <a:noAutofit/>
          </a:bodyPr>
          <a:lstStyle/>
          <a:p>
            <a:pPr indent="0" lvl="0" marL="0" rtl="0" algn="l">
              <a:spcBef>
                <a:spcPts val="360"/>
              </a:spcBef>
              <a:spcAft>
                <a:spcPts val="0"/>
              </a:spcAft>
              <a:buClr>
                <a:srgbClr val="25303B"/>
              </a:buClr>
              <a:buSzPts val="1800"/>
              <a:buNone/>
            </a:pPr>
            <a:r>
              <a:rPr lang="en-GB"/>
              <a:t>As we’ve seen, at high temperatures Kirchoff’s Law can be approximated to c = constant. This is because we can reasonably approximate that enthalpy increases linearly with temperature, so the gradient stays the same.</a:t>
            </a:r>
            <a:endParaRPr/>
          </a:p>
          <a:p>
            <a:pPr indent="0" lvl="0" marL="0" rtl="0" algn="l">
              <a:spcBef>
                <a:spcPts val="360"/>
              </a:spcBef>
              <a:spcAft>
                <a:spcPts val="0"/>
              </a:spcAft>
              <a:buClr>
                <a:srgbClr val="25303B"/>
              </a:buClr>
              <a:buSzPts val="1800"/>
              <a:buNone/>
            </a:pPr>
            <a:r>
              <a:t/>
            </a:r>
            <a:endParaRPr/>
          </a:p>
          <a:p>
            <a:pPr indent="0" lvl="0" marL="0" rtl="0" algn="l">
              <a:spcBef>
                <a:spcPts val="360"/>
              </a:spcBef>
              <a:spcAft>
                <a:spcPts val="0"/>
              </a:spcAft>
              <a:buClr>
                <a:srgbClr val="25303B"/>
              </a:buClr>
              <a:buSzPts val="1800"/>
              <a:buNone/>
            </a:pPr>
            <a:r>
              <a:rPr lang="en-GB"/>
              <a:t>But what about at lower temperatures?</a:t>
            </a:r>
            <a:endParaRPr/>
          </a:p>
          <a:p>
            <a:pPr indent="0" lvl="0" marL="0" rtl="0" algn="l">
              <a:spcBef>
                <a:spcPts val="360"/>
              </a:spcBef>
              <a:spcAft>
                <a:spcPts val="0"/>
              </a:spcAft>
              <a:buClr>
                <a:srgbClr val="25303B"/>
              </a:buClr>
              <a:buSzPts val="1800"/>
              <a:buNone/>
            </a:pPr>
            <a:r>
              <a:t/>
            </a:r>
            <a:endParaRPr/>
          </a:p>
          <a:p>
            <a:pPr indent="0" lvl="0" marL="0" rtl="0" algn="l">
              <a:spcBef>
                <a:spcPts val="360"/>
              </a:spcBef>
              <a:spcAft>
                <a:spcPts val="0"/>
              </a:spcAft>
              <a:buClr>
                <a:srgbClr val="25303B"/>
              </a:buClr>
              <a:buSzPts val="1800"/>
              <a:buNone/>
            </a:pPr>
            <a:r>
              <a:rPr lang="en-GB"/>
              <a:t>Try running the same linear fit on the dataset aluminium_low_temp.csv:</a:t>
            </a:r>
            <a:endParaRPr/>
          </a:p>
          <a:p>
            <a:pPr indent="0" lvl="0" marL="0" rtl="0" algn="l">
              <a:spcBef>
                <a:spcPts val="360"/>
              </a:spcBef>
              <a:spcAft>
                <a:spcPts val="0"/>
              </a:spcAft>
              <a:buClr>
                <a:srgbClr val="25303B"/>
              </a:buClr>
              <a:buSzPts val="1800"/>
              <a:buNone/>
            </a:pPr>
            <a:r>
              <a:t/>
            </a:r>
            <a:endParaRPr/>
          </a:p>
          <a:p>
            <a:pPr indent="0" lvl="0" marL="0" rtl="0" algn="ctr">
              <a:spcBef>
                <a:spcPts val="360"/>
              </a:spcBef>
              <a:spcAft>
                <a:spcPts val="0"/>
              </a:spcAft>
              <a:buNone/>
            </a:pPr>
            <a:r>
              <a:rPr lang="en-GB">
                <a:solidFill>
                  <a:schemeClr val="dk1"/>
                </a:solidFill>
              </a:rPr>
              <a:t>python  </a:t>
            </a:r>
            <a:r>
              <a:rPr lang="en-GB">
                <a:solidFill>
                  <a:srgbClr val="FF0000"/>
                </a:solidFill>
              </a:rPr>
              <a:t>plot.py</a:t>
            </a:r>
            <a:r>
              <a:rPr lang="en-GB">
                <a:solidFill>
                  <a:schemeClr val="dk1"/>
                </a:solidFill>
              </a:rPr>
              <a:t>  aluminium_low_temp.csv  linear</a:t>
            </a:r>
            <a:endParaRPr/>
          </a:p>
          <a:p>
            <a:pPr indent="0" lvl="0" marL="0" rtl="0" algn="l">
              <a:spcBef>
                <a:spcPts val="360"/>
              </a:spcBef>
              <a:spcAft>
                <a:spcPts val="0"/>
              </a:spcAft>
              <a:buClr>
                <a:srgbClr val="25303B"/>
              </a:buClr>
              <a:buSzPts val="1800"/>
              <a:buNone/>
            </a:pPr>
            <a:r>
              <a:t/>
            </a:r>
            <a:endParaRPr/>
          </a:p>
          <a:p>
            <a:pPr indent="0" lvl="0" marL="0" rtl="0" algn="l">
              <a:spcBef>
                <a:spcPts val="360"/>
              </a:spcBef>
              <a:spcAft>
                <a:spcPts val="0"/>
              </a:spcAft>
              <a:buClr>
                <a:srgbClr val="25303B"/>
              </a:buClr>
              <a:buSzPts val="18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0"/>
          <p:cNvSpPr txBox="1"/>
          <p:nvPr>
            <p:ph type="ctrTitle"/>
          </p:nvPr>
        </p:nvSpPr>
        <p:spPr>
          <a:xfrm>
            <a:off x="173808" y="248011"/>
            <a:ext cx="6892800" cy="57870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5. What about at low temp?</a:t>
            </a:r>
            <a:endParaRPr/>
          </a:p>
        </p:txBody>
      </p:sp>
      <p:sp>
        <p:nvSpPr>
          <p:cNvPr id="202" name="Google Shape;202;p30"/>
          <p:cNvSpPr txBox="1"/>
          <p:nvPr>
            <p:ph idx="1" type="body"/>
          </p:nvPr>
        </p:nvSpPr>
        <p:spPr>
          <a:xfrm>
            <a:off x="5566225" y="1073425"/>
            <a:ext cx="2950500" cy="3481200"/>
          </a:xfrm>
          <a:prstGeom prst="rect">
            <a:avLst/>
          </a:prstGeom>
          <a:noFill/>
          <a:ln>
            <a:noFill/>
          </a:ln>
        </p:spPr>
        <p:txBody>
          <a:bodyPr anchorCtr="0" anchor="t" bIns="40825" lIns="81650" spcFirstLastPara="1" rIns="81650" wrap="square" tIns="40825">
            <a:noAutofit/>
          </a:bodyPr>
          <a:lstStyle/>
          <a:p>
            <a:pPr indent="0" lvl="0" marL="0" rtl="0" algn="l">
              <a:spcBef>
                <a:spcPts val="360"/>
              </a:spcBef>
              <a:spcAft>
                <a:spcPts val="0"/>
              </a:spcAft>
              <a:buNone/>
            </a:pPr>
            <a:r>
              <a:rPr lang="en-GB"/>
              <a:t>We’ve produced another linear line of best fit, but this time for aluminium at much lower temperatures.</a:t>
            </a:r>
            <a:endParaRPr/>
          </a:p>
          <a:p>
            <a:pPr indent="0" lvl="0" marL="457200" rtl="0" algn="l">
              <a:spcBef>
                <a:spcPts val="360"/>
              </a:spcBef>
              <a:spcAft>
                <a:spcPts val="0"/>
              </a:spcAft>
              <a:buNone/>
            </a:pPr>
            <a:r>
              <a:t/>
            </a:r>
            <a:endParaRPr/>
          </a:p>
          <a:p>
            <a:pPr indent="0" lvl="0" marL="0" rtl="0" algn="l">
              <a:spcBef>
                <a:spcPts val="360"/>
              </a:spcBef>
              <a:spcAft>
                <a:spcPts val="0"/>
              </a:spcAft>
              <a:buNone/>
            </a:pPr>
            <a:r>
              <a:rPr lang="en-GB"/>
              <a:t>Evaluate the fit. Is this linear graph a good fit to the raw data?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Is the MSE high or low?</a:t>
            </a:r>
            <a:endParaRPr/>
          </a:p>
        </p:txBody>
      </p:sp>
      <p:pic>
        <p:nvPicPr>
          <p:cNvPr id="203" name="Google Shape;203;p30"/>
          <p:cNvPicPr preferRelativeResize="0"/>
          <p:nvPr/>
        </p:nvPicPr>
        <p:blipFill>
          <a:blip r:embed="rId3">
            <a:alphaModFix/>
          </a:blip>
          <a:stretch>
            <a:fillRect/>
          </a:stretch>
        </p:blipFill>
        <p:spPr>
          <a:xfrm>
            <a:off x="304800" y="840999"/>
            <a:ext cx="5261424" cy="394606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1"/>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6. Defining functions</a:t>
            </a:r>
            <a:endParaRPr/>
          </a:p>
        </p:txBody>
      </p:sp>
      <p:sp>
        <p:nvSpPr>
          <p:cNvPr id="209" name="Google Shape;209;p31"/>
          <p:cNvSpPr txBox="1"/>
          <p:nvPr>
            <p:ph idx="1" type="body"/>
          </p:nvPr>
        </p:nvSpPr>
        <p:spPr>
          <a:xfrm>
            <a:off x="460192" y="1073356"/>
            <a:ext cx="8223600" cy="3481200"/>
          </a:xfrm>
          <a:prstGeom prst="rect">
            <a:avLst/>
          </a:prstGeom>
          <a:noFill/>
          <a:ln>
            <a:noFill/>
          </a:ln>
        </p:spPr>
        <p:txBody>
          <a:bodyPr anchorCtr="0" anchor="t" bIns="40825" lIns="81650" spcFirstLastPara="1" rIns="81650" wrap="square" tIns="40825">
            <a:noAutofit/>
          </a:bodyPr>
          <a:lstStyle/>
          <a:p>
            <a:pPr indent="0" lvl="0" marL="0" rtl="0" algn="l">
              <a:lnSpc>
                <a:spcPct val="115000"/>
              </a:lnSpc>
              <a:spcBef>
                <a:spcPts val="600"/>
              </a:spcBef>
              <a:spcAft>
                <a:spcPts val="0"/>
              </a:spcAft>
              <a:buNone/>
            </a:pPr>
            <a:r>
              <a:rPr lang="en-GB">
                <a:solidFill>
                  <a:schemeClr val="dk1"/>
                </a:solidFill>
              </a:rPr>
              <a:t>A function is a piece of code that only runs when it is called (i.e. its name appears in the script). Python has loads of built-in functions which we use very often:</a:t>
            </a:r>
            <a:endParaRPr>
              <a:solidFill>
                <a:schemeClr val="dk1"/>
              </a:solidFill>
            </a:endParaRPr>
          </a:p>
          <a:p>
            <a:pPr indent="0" lvl="0" marL="457200" rtl="0" algn="l">
              <a:lnSpc>
                <a:spcPct val="115000"/>
              </a:lnSpc>
              <a:spcBef>
                <a:spcPts val="600"/>
              </a:spcBef>
              <a:spcAft>
                <a:spcPts val="0"/>
              </a:spcAft>
              <a:buNone/>
            </a:pPr>
            <a:r>
              <a:rPr lang="en-GB">
                <a:solidFill>
                  <a:schemeClr val="dk1"/>
                </a:solidFill>
              </a:rPr>
              <a:t>e.g. print(), which you’ve seen is a function that prints whatever's in the brackets.</a:t>
            </a:r>
            <a:endParaRPr>
              <a:solidFill>
                <a:schemeClr val="dk1"/>
              </a:solidFill>
            </a:endParaRPr>
          </a:p>
          <a:p>
            <a:pPr indent="0" lvl="0" marL="0" rtl="0" algn="l">
              <a:lnSpc>
                <a:spcPct val="115000"/>
              </a:lnSpc>
              <a:spcBef>
                <a:spcPts val="600"/>
              </a:spcBef>
              <a:spcAft>
                <a:spcPts val="0"/>
              </a:spcAft>
              <a:buNone/>
            </a:pPr>
            <a:r>
              <a:t/>
            </a:r>
            <a:endParaRPr>
              <a:solidFill>
                <a:schemeClr val="dk1"/>
              </a:solidFill>
            </a:endParaRPr>
          </a:p>
          <a:p>
            <a:pPr indent="0" lvl="0" marL="0" rtl="0" algn="l">
              <a:lnSpc>
                <a:spcPct val="115000"/>
              </a:lnSpc>
              <a:spcBef>
                <a:spcPts val="600"/>
              </a:spcBef>
              <a:spcAft>
                <a:spcPts val="0"/>
              </a:spcAft>
              <a:buNone/>
            </a:pPr>
            <a:r>
              <a:rPr lang="en-GB">
                <a:solidFill>
                  <a:schemeClr val="dk1"/>
                </a:solidFill>
              </a:rPr>
              <a:t>We can write our own functions to do any task that gets repeated often in our code. Then whenever the task needs doing, we don't have to type out the same code all over again - we can just call the function!</a:t>
            </a:r>
            <a:endParaRPr>
              <a:solidFill>
                <a:schemeClr val="dk1"/>
              </a:solidFill>
            </a:endParaRPr>
          </a:p>
          <a:p>
            <a:pPr indent="0" lvl="0" marL="0" rtl="0" algn="l">
              <a:lnSpc>
                <a:spcPct val="115000"/>
              </a:lnSpc>
              <a:spcBef>
                <a:spcPts val="600"/>
              </a:spcBef>
              <a:spcAft>
                <a:spcPts val="0"/>
              </a:spcAft>
              <a:buNone/>
            </a:pPr>
            <a:r>
              <a:t/>
            </a:r>
            <a:endParaRPr>
              <a:solidFill>
                <a:schemeClr val="dk1"/>
              </a:solidFill>
            </a:endParaRPr>
          </a:p>
          <a:p>
            <a:pPr indent="0" lvl="0" marL="0" rtl="0" algn="l">
              <a:lnSpc>
                <a:spcPct val="115000"/>
              </a:lnSpc>
              <a:spcBef>
                <a:spcPts val="600"/>
              </a:spcBef>
              <a:spcAft>
                <a:spcPts val="500"/>
              </a:spcAft>
              <a:buNone/>
            </a:pPr>
            <a:r>
              <a:rPr lang="en-GB">
                <a:solidFill>
                  <a:schemeClr val="dk1"/>
                </a:solidFill>
              </a:rPr>
              <a:t>This also makes our work more readable, </a:t>
            </a:r>
            <a:r>
              <a:rPr lang="en-GB">
                <a:solidFill>
                  <a:schemeClr val="dk1"/>
                </a:solidFill>
              </a:rPr>
              <a:t>because</a:t>
            </a:r>
            <a:r>
              <a:rPr lang="en-GB">
                <a:solidFill>
                  <a:schemeClr val="dk1"/>
                </a:solidFill>
              </a:rPr>
              <a:t> there's less redundant code.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2"/>
          <p:cNvSpPr txBox="1"/>
          <p:nvPr>
            <p:ph type="ctrTitle"/>
          </p:nvPr>
        </p:nvSpPr>
        <p:spPr>
          <a:xfrm>
            <a:off x="173808" y="248011"/>
            <a:ext cx="6892800" cy="578700"/>
          </a:xfrm>
          <a:prstGeom prst="rect">
            <a:avLst/>
          </a:prstGeom>
        </p:spPr>
        <p:txBody>
          <a:bodyPr anchorCtr="0" anchor="ctr" bIns="40825" lIns="81650" spcFirstLastPara="1" rIns="81650" wrap="square" tIns="40825">
            <a:normAutofit fontScale="90000"/>
          </a:bodyPr>
          <a:lstStyle/>
          <a:p>
            <a:pPr indent="0" lvl="0" marL="0" rtl="0" algn="l">
              <a:spcBef>
                <a:spcPts val="0"/>
              </a:spcBef>
              <a:spcAft>
                <a:spcPts val="0"/>
              </a:spcAft>
              <a:buNone/>
            </a:pPr>
            <a:r>
              <a:rPr lang="en-GB"/>
              <a:t>6. Defining functions</a:t>
            </a:r>
            <a:endParaRPr/>
          </a:p>
        </p:txBody>
      </p:sp>
      <p:sp>
        <p:nvSpPr>
          <p:cNvPr id="216" name="Google Shape;216;p32"/>
          <p:cNvSpPr txBox="1"/>
          <p:nvPr>
            <p:ph idx="1" type="body"/>
          </p:nvPr>
        </p:nvSpPr>
        <p:spPr>
          <a:xfrm>
            <a:off x="293225" y="1073424"/>
            <a:ext cx="8223600" cy="3735600"/>
          </a:xfrm>
          <a:prstGeom prst="rect">
            <a:avLst/>
          </a:prstGeom>
        </p:spPr>
        <p:txBody>
          <a:bodyPr anchorCtr="0" anchor="t" bIns="40825" lIns="81650" spcFirstLastPara="1" rIns="81650" wrap="square" tIns="40825">
            <a:noAutofit/>
          </a:bodyPr>
          <a:lstStyle/>
          <a:p>
            <a:pPr indent="-342900" lvl="0" marL="457200" rtl="0" algn="l">
              <a:spcBef>
                <a:spcPts val="360"/>
              </a:spcBef>
              <a:spcAft>
                <a:spcPts val="0"/>
              </a:spcAft>
              <a:buSzPts val="1800"/>
              <a:buChar char="▪"/>
            </a:pPr>
            <a:r>
              <a:rPr lang="en-GB"/>
              <a:t>We want to define a new function which allows our script to fit the raw data to a graph with a different equation, like a quadratic or an exponential.</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342900" lvl="0" marL="457200" rtl="0" algn="l">
              <a:spcBef>
                <a:spcPts val="360"/>
              </a:spcBef>
              <a:spcAft>
                <a:spcPts val="0"/>
              </a:spcAft>
              <a:buSzPts val="1800"/>
              <a:buChar char="▪"/>
            </a:pPr>
            <a:r>
              <a:rPr lang="en-GB"/>
              <a:t>See if you can define a quartic function (of the form ax</a:t>
            </a:r>
            <a:r>
              <a:rPr baseline="30000" lang="en-GB"/>
              <a:t>4 </a:t>
            </a:r>
            <a:r>
              <a:rPr lang="en-GB"/>
              <a:t> + bx</a:t>
            </a:r>
            <a:r>
              <a:rPr baseline="30000" lang="en-GB"/>
              <a:t>3 </a:t>
            </a:r>
            <a:r>
              <a:rPr lang="en-GB"/>
              <a:t>+ cx</a:t>
            </a:r>
            <a:r>
              <a:rPr baseline="30000" lang="en-GB"/>
              <a:t>2</a:t>
            </a:r>
            <a:r>
              <a:rPr lang="en-GB"/>
              <a:t> + dx + e)  i</a:t>
            </a:r>
            <a:r>
              <a:rPr lang="en-GB"/>
              <a:t>n the script. </a:t>
            </a:r>
            <a:endParaRPr/>
          </a:p>
          <a:p>
            <a:pPr indent="0" lvl="0" marL="457200" rtl="0" algn="l">
              <a:spcBef>
                <a:spcPts val="360"/>
              </a:spcBef>
              <a:spcAft>
                <a:spcPts val="0"/>
              </a:spcAft>
              <a:buNone/>
            </a:pPr>
            <a:r>
              <a:t/>
            </a:r>
            <a:endParaRPr/>
          </a:p>
        </p:txBody>
      </p:sp>
      <p:pic>
        <p:nvPicPr>
          <p:cNvPr id="217" name="Google Shape;217;p32"/>
          <p:cNvPicPr preferRelativeResize="0"/>
          <p:nvPr/>
        </p:nvPicPr>
        <p:blipFill rotWithShape="1">
          <a:blip r:embed="rId3">
            <a:alphaModFix/>
          </a:blip>
          <a:srcRect b="55811" l="0" r="0" t="0"/>
          <a:stretch/>
        </p:blipFill>
        <p:spPr>
          <a:xfrm>
            <a:off x="500525" y="1851875"/>
            <a:ext cx="8090600" cy="14965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3"/>
          <p:cNvSpPr txBox="1"/>
          <p:nvPr>
            <p:ph type="ctrTitle"/>
          </p:nvPr>
        </p:nvSpPr>
        <p:spPr>
          <a:xfrm>
            <a:off x="173808" y="248011"/>
            <a:ext cx="6892800" cy="578700"/>
          </a:xfrm>
          <a:prstGeom prst="rect">
            <a:avLst/>
          </a:prstGeom>
        </p:spPr>
        <p:txBody>
          <a:bodyPr anchorCtr="0" anchor="ctr" bIns="40825" lIns="81650" spcFirstLastPara="1" rIns="81650" wrap="square" tIns="40825">
            <a:normAutofit fontScale="90000"/>
          </a:bodyPr>
          <a:lstStyle/>
          <a:p>
            <a:pPr indent="0" lvl="0" marL="0" rtl="0" algn="l">
              <a:spcBef>
                <a:spcPts val="0"/>
              </a:spcBef>
              <a:spcAft>
                <a:spcPts val="0"/>
              </a:spcAft>
              <a:buNone/>
            </a:pPr>
            <a:r>
              <a:rPr lang="en-GB"/>
              <a:t>7. A new fit</a:t>
            </a:r>
            <a:endParaRPr/>
          </a:p>
        </p:txBody>
      </p:sp>
      <p:sp>
        <p:nvSpPr>
          <p:cNvPr id="224" name="Google Shape;224;p33"/>
          <p:cNvSpPr txBox="1"/>
          <p:nvPr>
            <p:ph idx="1" type="body"/>
          </p:nvPr>
        </p:nvSpPr>
        <p:spPr>
          <a:xfrm>
            <a:off x="293217" y="1073431"/>
            <a:ext cx="8223600" cy="3481200"/>
          </a:xfrm>
          <a:prstGeom prst="rect">
            <a:avLst/>
          </a:prstGeom>
        </p:spPr>
        <p:txBody>
          <a:bodyPr anchorCtr="0" anchor="t" bIns="40825" lIns="81650" spcFirstLastPara="1" rIns="81650" wrap="square" tIns="40825">
            <a:noAutofit/>
          </a:bodyPr>
          <a:lstStyle/>
          <a:p>
            <a:pPr indent="0" lvl="0" marL="0" rtl="0" algn="l">
              <a:spcBef>
                <a:spcPts val="360"/>
              </a:spcBef>
              <a:spcAft>
                <a:spcPts val="0"/>
              </a:spcAft>
              <a:buNone/>
            </a:pPr>
            <a:r>
              <a:rPr lang="en-GB"/>
              <a:t>Now we’re able to run the code again, using the name of our new function as an argument so our fit will hopefully be better.</a:t>
            </a:r>
            <a:endParaRPr/>
          </a:p>
          <a:p>
            <a:pPr indent="0" lvl="0" marL="457200" rtl="0" algn="l">
              <a:spcBef>
                <a:spcPts val="360"/>
              </a:spcBef>
              <a:spcAft>
                <a:spcPts val="0"/>
              </a:spcAft>
              <a:buNone/>
            </a:pPr>
            <a:r>
              <a:t/>
            </a:r>
            <a:endParaRPr/>
          </a:p>
          <a:p>
            <a:pPr indent="0" lvl="0" marL="0" rtl="0" algn="l">
              <a:spcBef>
                <a:spcPts val="360"/>
              </a:spcBef>
              <a:spcAft>
                <a:spcPts val="0"/>
              </a:spcAft>
              <a:buNone/>
            </a:pPr>
            <a:r>
              <a:rPr lang="en-GB"/>
              <a:t>Run plot.py with the new quartic fitting function, and see what the outputs are. </a:t>
            </a:r>
            <a:endParaRPr/>
          </a:p>
          <a:p>
            <a:pPr indent="0" lvl="0" marL="0" rtl="0" algn="l">
              <a:spcBef>
                <a:spcPts val="360"/>
              </a:spcBef>
              <a:spcAft>
                <a:spcPts val="0"/>
              </a:spcAft>
              <a:buNone/>
            </a:pPr>
            <a:r>
              <a:t/>
            </a:r>
            <a:endParaRPr/>
          </a:p>
          <a:p>
            <a:pPr indent="0" lvl="0" marL="457200" rtl="0" algn="l">
              <a:spcBef>
                <a:spcPts val="360"/>
              </a:spcBef>
              <a:spcAft>
                <a:spcPts val="0"/>
              </a:spcAft>
              <a:buNone/>
            </a:pPr>
            <a:r>
              <a:t/>
            </a:r>
            <a:endParaRPr/>
          </a:p>
          <a:p>
            <a:pPr indent="0" lvl="0" marL="457200" rtl="0" algn="l">
              <a:spcBef>
                <a:spcPts val="36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4"/>
          <p:cNvSpPr txBox="1"/>
          <p:nvPr>
            <p:ph type="ctrTitle"/>
          </p:nvPr>
        </p:nvSpPr>
        <p:spPr>
          <a:xfrm>
            <a:off x="173808" y="248011"/>
            <a:ext cx="6892800" cy="578700"/>
          </a:xfrm>
          <a:prstGeom prst="rect">
            <a:avLst/>
          </a:prstGeom>
        </p:spPr>
        <p:txBody>
          <a:bodyPr anchorCtr="0" anchor="ctr" bIns="40825" lIns="81650" spcFirstLastPara="1" rIns="81650" wrap="square" tIns="40825">
            <a:normAutofit fontScale="90000"/>
          </a:bodyPr>
          <a:lstStyle/>
          <a:p>
            <a:pPr indent="0" lvl="0" marL="0" rtl="0" algn="l">
              <a:spcBef>
                <a:spcPts val="0"/>
              </a:spcBef>
              <a:spcAft>
                <a:spcPts val="0"/>
              </a:spcAft>
              <a:buNone/>
            </a:pPr>
            <a:r>
              <a:rPr lang="en-GB"/>
              <a:t>7. A new fit</a:t>
            </a:r>
            <a:endParaRPr/>
          </a:p>
        </p:txBody>
      </p:sp>
      <p:sp>
        <p:nvSpPr>
          <p:cNvPr id="231" name="Google Shape;231;p34"/>
          <p:cNvSpPr txBox="1"/>
          <p:nvPr>
            <p:ph idx="1" type="body"/>
          </p:nvPr>
        </p:nvSpPr>
        <p:spPr>
          <a:xfrm>
            <a:off x="4711575" y="834325"/>
            <a:ext cx="4269600" cy="3544800"/>
          </a:xfrm>
          <a:prstGeom prst="rect">
            <a:avLst/>
          </a:prstGeom>
        </p:spPr>
        <p:txBody>
          <a:bodyPr anchorCtr="0" anchor="t" bIns="40825" lIns="81650" spcFirstLastPara="1" rIns="81650" wrap="square" tIns="40825">
            <a:noAutofit/>
          </a:bodyPr>
          <a:lstStyle/>
          <a:p>
            <a:pPr indent="0" lvl="0" marL="0" rtl="0" algn="l">
              <a:spcBef>
                <a:spcPts val="360"/>
              </a:spcBef>
              <a:spcAft>
                <a:spcPts val="0"/>
              </a:spcAft>
              <a:buNone/>
            </a:pPr>
            <a:r>
              <a:rPr lang="en-GB"/>
              <a:t>How does the quality of this fit compare to the linear fit from earlier?</a:t>
            </a:r>
            <a:endParaRPr/>
          </a:p>
          <a:p>
            <a:pPr indent="0" lvl="0" marL="457200" rtl="0" algn="l">
              <a:spcBef>
                <a:spcPts val="360"/>
              </a:spcBef>
              <a:spcAft>
                <a:spcPts val="0"/>
              </a:spcAft>
              <a:buNone/>
            </a:pPr>
            <a:r>
              <a:t/>
            </a:r>
            <a:endParaRPr/>
          </a:p>
          <a:p>
            <a:pPr indent="0" lvl="0" marL="0" rtl="0" algn="l">
              <a:spcBef>
                <a:spcPts val="360"/>
              </a:spcBef>
              <a:spcAft>
                <a:spcPts val="0"/>
              </a:spcAft>
              <a:buNone/>
            </a:pPr>
            <a:r>
              <a:rPr lang="en-GB"/>
              <a:t>Using Kirchoff’s law and the fit parameters from this run, derive an equation that approximates the heat capacity of Al at temperatures below 100K.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What is c</a:t>
            </a:r>
            <a:r>
              <a:rPr baseline="-25000" lang="en-GB"/>
              <a:t>p</a:t>
            </a:r>
            <a:r>
              <a:rPr lang="en-GB"/>
              <a:t> at 25K, according to this model?</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pic>
        <p:nvPicPr>
          <p:cNvPr id="232" name="Google Shape;232;p34"/>
          <p:cNvPicPr preferRelativeResize="0"/>
          <p:nvPr/>
        </p:nvPicPr>
        <p:blipFill>
          <a:blip r:embed="rId3">
            <a:alphaModFix/>
          </a:blip>
          <a:stretch>
            <a:fillRect/>
          </a:stretch>
        </p:blipFill>
        <p:spPr>
          <a:xfrm>
            <a:off x="454725" y="834325"/>
            <a:ext cx="4027176" cy="3020400"/>
          </a:xfrm>
          <a:prstGeom prst="rect">
            <a:avLst/>
          </a:prstGeom>
          <a:noFill/>
          <a:ln>
            <a:noFill/>
          </a:ln>
        </p:spPr>
      </p:pic>
      <p:pic>
        <p:nvPicPr>
          <p:cNvPr id="233" name="Google Shape;233;p34"/>
          <p:cNvPicPr preferRelativeResize="0"/>
          <p:nvPr/>
        </p:nvPicPr>
        <p:blipFill>
          <a:blip r:embed="rId4">
            <a:alphaModFix/>
          </a:blip>
          <a:stretch>
            <a:fillRect/>
          </a:stretch>
        </p:blipFill>
        <p:spPr>
          <a:xfrm>
            <a:off x="250963" y="4379188"/>
            <a:ext cx="8642074" cy="3507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5"/>
          <p:cNvSpPr txBox="1"/>
          <p:nvPr>
            <p:ph type="ctrTitle"/>
          </p:nvPr>
        </p:nvSpPr>
        <p:spPr>
          <a:xfrm>
            <a:off x="173808" y="248011"/>
            <a:ext cx="6892800" cy="578700"/>
          </a:xfrm>
          <a:prstGeom prst="rect">
            <a:avLst/>
          </a:prstGeom>
        </p:spPr>
        <p:txBody>
          <a:bodyPr anchorCtr="0" anchor="ctr" bIns="40825" lIns="81650" spcFirstLastPara="1" rIns="81650" wrap="square" tIns="40825">
            <a:normAutofit fontScale="90000"/>
          </a:bodyPr>
          <a:lstStyle/>
          <a:p>
            <a:pPr indent="0" lvl="0" marL="0" rtl="0" algn="l">
              <a:spcBef>
                <a:spcPts val="0"/>
              </a:spcBef>
              <a:spcAft>
                <a:spcPts val="0"/>
              </a:spcAft>
              <a:buNone/>
            </a:pPr>
            <a:r>
              <a:rPr lang="en-GB"/>
              <a:t>7. A new fit</a:t>
            </a:r>
            <a:endParaRPr/>
          </a:p>
        </p:txBody>
      </p:sp>
      <p:sp>
        <p:nvSpPr>
          <p:cNvPr id="240" name="Google Shape;240;p35"/>
          <p:cNvSpPr txBox="1"/>
          <p:nvPr>
            <p:ph idx="1" type="body"/>
          </p:nvPr>
        </p:nvSpPr>
        <p:spPr>
          <a:xfrm>
            <a:off x="596775" y="826700"/>
            <a:ext cx="6469800" cy="3020400"/>
          </a:xfrm>
          <a:prstGeom prst="rect">
            <a:avLst/>
          </a:prstGeom>
        </p:spPr>
        <p:txBody>
          <a:bodyPr anchorCtr="0" anchor="t" bIns="40825" lIns="81650" spcFirstLastPara="1" rIns="81650" wrap="square" tIns="40825">
            <a:noAutofit/>
          </a:bodyPr>
          <a:lstStyle/>
          <a:p>
            <a:pPr indent="0" lvl="0" marL="0" rtl="0" algn="l">
              <a:spcBef>
                <a:spcPts val="360"/>
              </a:spcBef>
              <a:spcAft>
                <a:spcPts val="0"/>
              </a:spcAft>
              <a:buNone/>
            </a:pPr>
            <a:r>
              <a:rPr lang="en-GB"/>
              <a:t>The equation for c</a:t>
            </a:r>
            <a:r>
              <a:rPr baseline="-25000" lang="en-GB"/>
              <a:t>p </a:t>
            </a:r>
            <a:r>
              <a:rPr lang="en-GB"/>
              <a:t> should look approximately like this:</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And the value for c</a:t>
            </a:r>
            <a:r>
              <a:rPr baseline="-25000" lang="en-GB"/>
              <a:t>p</a:t>
            </a:r>
            <a:r>
              <a:rPr lang="en-GB"/>
              <a:t> at 25 K from this model is 0.473 </a:t>
            </a:r>
            <a:r>
              <a:rPr lang="en-GB">
                <a:solidFill>
                  <a:schemeClr val="dk1"/>
                </a:solidFill>
              </a:rPr>
              <a:t>Jmol</a:t>
            </a:r>
            <a:r>
              <a:rPr baseline="30000" lang="en-GB">
                <a:solidFill>
                  <a:schemeClr val="dk1"/>
                </a:solidFill>
              </a:rPr>
              <a:t>-1</a:t>
            </a:r>
            <a:r>
              <a:rPr lang="en-GB">
                <a:solidFill>
                  <a:schemeClr val="dk1"/>
                </a:solidFill>
              </a:rPr>
              <a:t>K</a:t>
            </a:r>
            <a:r>
              <a:rPr baseline="30000" lang="en-GB">
                <a:solidFill>
                  <a:schemeClr val="dk1"/>
                </a:solidFill>
              </a:rPr>
              <a:t>-1</a:t>
            </a:r>
            <a:r>
              <a:rPr lang="en-GB">
                <a:solidFill>
                  <a:schemeClr val="dk1"/>
                </a:solidFill>
              </a:rPr>
              <a:t>. </a:t>
            </a:r>
            <a:endParaRPr>
              <a:solidFill>
                <a:schemeClr val="dk1"/>
              </a:solidFill>
            </a:endParaRPr>
          </a:p>
          <a:p>
            <a:pPr indent="0" lvl="0" marL="0" rtl="0" algn="l">
              <a:spcBef>
                <a:spcPts val="360"/>
              </a:spcBef>
              <a:spcAft>
                <a:spcPts val="0"/>
              </a:spcAft>
              <a:buNone/>
            </a:pPr>
            <a:r>
              <a:t/>
            </a:r>
            <a:endParaRPr>
              <a:solidFill>
                <a:schemeClr val="dk1"/>
              </a:solidFill>
            </a:endParaRPr>
          </a:p>
          <a:p>
            <a:pPr indent="0" lvl="0" marL="0" rtl="0" algn="l">
              <a:spcBef>
                <a:spcPts val="360"/>
              </a:spcBef>
              <a:spcAft>
                <a:spcPts val="0"/>
              </a:spcAft>
              <a:buNone/>
            </a:pPr>
            <a:r>
              <a:rPr lang="en-GB">
                <a:solidFill>
                  <a:schemeClr val="dk1"/>
                </a:solidFill>
              </a:rPr>
              <a:t>This isn’t too far off the literature value, which is 0.455 Jmol</a:t>
            </a:r>
            <a:r>
              <a:rPr baseline="30000" lang="en-GB">
                <a:solidFill>
                  <a:schemeClr val="dk1"/>
                </a:solidFill>
              </a:rPr>
              <a:t>-1</a:t>
            </a:r>
            <a:r>
              <a:rPr lang="en-GB">
                <a:solidFill>
                  <a:schemeClr val="dk1"/>
                </a:solidFill>
              </a:rPr>
              <a:t>K</a:t>
            </a:r>
            <a:r>
              <a:rPr baseline="30000" lang="en-GB">
                <a:solidFill>
                  <a:schemeClr val="dk1"/>
                </a:solidFill>
              </a:rPr>
              <a:t>-1</a:t>
            </a:r>
            <a:r>
              <a:rPr lang="en-GB">
                <a:solidFill>
                  <a:schemeClr val="dk1"/>
                </a:solidFill>
              </a:rPr>
              <a:t>. </a:t>
            </a:r>
            <a:endParaRPr>
              <a:solidFill>
                <a:schemeClr val="dk1"/>
              </a:solidFill>
            </a:endParaRPr>
          </a:p>
        </p:txBody>
      </p:sp>
      <p:pic>
        <p:nvPicPr>
          <p:cNvPr id="241" name="Google Shape;241;p35"/>
          <p:cNvPicPr preferRelativeResize="0"/>
          <p:nvPr/>
        </p:nvPicPr>
        <p:blipFill>
          <a:blip r:embed="rId3">
            <a:alphaModFix/>
          </a:blip>
          <a:stretch>
            <a:fillRect/>
          </a:stretch>
        </p:blipFill>
        <p:spPr>
          <a:xfrm>
            <a:off x="173800" y="4554550"/>
            <a:ext cx="8642074" cy="350725"/>
          </a:xfrm>
          <a:prstGeom prst="rect">
            <a:avLst/>
          </a:prstGeom>
          <a:noFill/>
          <a:ln>
            <a:noFill/>
          </a:ln>
        </p:spPr>
      </p:pic>
      <p:pic>
        <p:nvPicPr>
          <p:cNvPr id="242" name="Google Shape;242;p35"/>
          <p:cNvPicPr preferRelativeResize="0"/>
          <p:nvPr/>
        </p:nvPicPr>
        <p:blipFill>
          <a:blip r:embed="rId4">
            <a:alphaModFix/>
          </a:blip>
          <a:stretch>
            <a:fillRect/>
          </a:stretch>
        </p:blipFill>
        <p:spPr>
          <a:xfrm>
            <a:off x="596775" y="1447151"/>
            <a:ext cx="7386973" cy="3507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6"/>
          <p:cNvSpPr txBox="1"/>
          <p:nvPr>
            <p:ph type="ctrTitle"/>
          </p:nvPr>
        </p:nvSpPr>
        <p:spPr>
          <a:xfrm>
            <a:off x="173808" y="248011"/>
            <a:ext cx="6892800" cy="578700"/>
          </a:xfrm>
          <a:prstGeom prst="rect">
            <a:avLst/>
          </a:prstGeom>
        </p:spPr>
        <p:txBody>
          <a:bodyPr anchorCtr="0" anchor="ctr" bIns="40825" lIns="81650" spcFirstLastPara="1" rIns="81650" wrap="square" tIns="40825">
            <a:normAutofit fontScale="90000"/>
          </a:bodyPr>
          <a:lstStyle/>
          <a:p>
            <a:pPr indent="0" lvl="0" marL="0" rtl="0" algn="l">
              <a:spcBef>
                <a:spcPts val="0"/>
              </a:spcBef>
              <a:spcAft>
                <a:spcPts val="0"/>
              </a:spcAft>
              <a:buNone/>
            </a:pPr>
            <a:r>
              <a:rPr lang="en-GB"/>
              <a:t>8. What about noise?</a:t>
            </a:r>
            <a:endParaRPr/>
          </a:p>
        </p:txBody>
      </p:sp>
      <p:sp>
        <p:nvSpPr>
          <p:cNvPr id="249" name="Google Shape;249;p36"/>
          <p:cNvSpPr txBox="1"/>
          <p:nvPr>
            <p:ph idx="1" type="body"/>
          </p:nvPr>
        </p:nvSpPr>
        <p:spPr>
          <a:xfrm>
            <a:off x="460075" y="985775"/>
            <a:ext cx="8098500" cy="3020400"/>
          </a:xfrm>
          <a:prstGeom prst="rect">
            <a:avLst/>
          </a:prstGeom>
        </p:spPr>
        <p:txBody>
          <a:bodyPr anchorCtr="0" anchor="t" bIns="40825" lIns="81650" spcFirstLastPara="1" rIns="81650" wrap="square" tIns="40825">
            <a:noAutofit/>
          </a:bodyPr>
          <a:lstStyle/>
          <a:p>
            <a:pPr indent="0" lvl="0" marL="0" rtl="0" algn="l">
              <a:spcBef>
                <a:spcPts val="360"/>
              </a:spcBef>
              <a:spcAft>
                <a:spcPts val="0"/>
              </a:spcAft>
              <a:buNone/>
            </a:pPr>
            <a:r>
              <a:rPr lang="en-GB"/>
              <a:t>The data we’ve been looking at so far has been pretty “clean”, there haven’t been any nasty outliers or any </a:t>
            </a:r>
            <a:r>
              <a:rPr lang="en-GB"/>
              <a:t>significant</a:t>
            </a:r>
            <a:r>
              <a:rPr lang="en-GB"/>
              <a:t> noise.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How does our approach to fitting data change when we’re working with noisy datasets?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Run the exact same code on the noisy low-temp Aluminium dataset that’s in the folder. </a:t>
            </a:r>
            <a:r>
              <a:rPr b="1" lang="en-GB"/>
              <a:t>Then derive an equation for the heat capacity from the temperature, exactly as before. How do they compare?</a:t>
            </a:r>
            <a:endParaRPr b="1"/>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7"/>
          <p:cNvSpPr txBox="1"/>
          <p:nvPr>
            <p:ph type="ctrTitle"/>
          </p:nvPr>
        </p:nvSpPr>
        <p:spPr>
          <a:xfrm>
            <a:off x="173808" y="248011"/>
            <a:ext cx="6892800" cy="578700"/>
          </a:xfrm>
          <a:prstGeom prst="rect">
            <a:avLst/>
          </a:prstGeom>
        </p:spPr>
        <p:txBody>
          <a:bodyPr anchorCtr="0" anchor="ctr" bIns="40825" lIns="81650" spcFirstLastPara="1" rIns="81650" wrap="square" tIns="40825">
            <a:normAutofit fontScale="90000"/>
          </a:bodyPr>
          <a:lstStyle/>
          <a:p>
            <a:pPr indent="0" lvl="0" marL="0" rtl="0" algn="l">
              <a:spcBef>
                <a:spcPts val="0"/>
              </a:spcBef>
              <a:spcAft>
                <a:spcPts val="0"/>
              </a:spcAft>
              <a:buNone/>
            </a:pPr>
            <a:r>
              <a:rPr lang="en-GB"/>
              <a:t>8. What about noise?</a:t>
            </a:r>
            <a:endParaRPr/>
          </a:p>
        </p:txBody>
      </p:sp>
      <p:sp>
        <p:nvSpPr>
          <p:cNvPr id="256" name="Google Shape;256;p37"/>
          <p:cNvSpPr txBox="1"/>
          <p:nvPr>
            <p:ph idx="1" type="body"/>
          </p:nvPr>
        </p:nvSpPr>
        <p:spPr>
          <a:xfrm>
            <a:off x="533725" y="985775"/>
            <a:ext cx="8025000" cy="3505200"/>
          </a:xfrm>
          <a:prstGeom prst="rect">
            <a:avLst/>
          </a:prstGeom>
        </p:spPr>
        <p:txBody>
          <a:bodyPr anchorCtr="0" anchor="t" bIns="40825" lIns="81650" spcFirstLastPara="1" rIns="81650" wrap="square" tIns="40825">
            <a:noAutofit/>
          </a:bodyPr>
          <a:lstStyle/>
          <a:p>
            <a:pPr indent="0" lvl="0" marL="0" rtl="0" algn="l">
              <a:spcBef>
                <a:spcPts val="360"/>
              </a:spcBef>
              <a:spcAft>
                <a:spcPts val="0"/>
              </a:spcAft>
              <a:buNone/>
            </a:pPr>
            <a:r>
              <a:rPr lang="en-GB"/>
              <a:t>The new fit parameters should look something like this:</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And your new function for c</a:t>
            </a:r>
            <a:r>
              <a:rPr baseline="-25000" lang="en-GB"/>
              <a:t>p </a:t>
            </a:r>
            <a:r>
              <a:rPr lang="en-GB"/>
              <a:t>in terms of T, based off the model fitted to the noisy dataset:</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This model predicts that at 25K, c</a:t>
            </a:r>
            <a:r>
              <a:rPr baseline="-25000" lang="en-GB"/>
              <a:t>p</a:t>
            </a:r>
            <a:r>
              <a:rPr lang="en-GB"/>
              <a:t> = 0.802 </a:t>
            </a:r>
            <a:r>
              <a:rPr lang="en-GB">
                <a:solidFill>
                  <a:schemeClr val="dk1"/>
                </a:solidFill>
              </a:rPr>
              <a:t>Jmol</a:t>
            </a:r>
            <a:r>
              <a:rPr baseline="30000" lang="en-GB">
                <a:solidFill>
                  <a:schemeClr val="dk1"/>
                </a:solidFill>
              </a:rPr>
              <a:t>-1</a:t>
            </a:r>
            <a:r>
              <a:rPr lang="en-GB">
                <a:solidFill>
                  <a:schemeClr val="dk1"/>
                </a:solidFill>
              </a:rPr>
              <a:t>K</a:t>
            </a:r>
            <a:r>
              <a:rPr baseline="30000" lang="en-GB">
                <a:solidFill>
                  <a:schemeClr val="dk1"/>
                </a:solidFill>
              </a:rPr>
              <a:t>-1</a:t>
            </a:r>
            <a:r>
              <a:rPr lang="en-GB">
                <a:solidFill>
                  <a:schemeClr val="dk1"/>
                </a:solidFill>
              </a:rPr>
              <a:t>. This isn’t too far off, but it’s clear that the noise has distorted our results, increasing the error.</a:t>
            </a:r>
            <a:endParaRPr>
              <a:solidFill>
                <a:schemeClr val="dk1"/>
              </a:solidFill>
            </a:endParaRPr>
          </a:p>
        </p:txBody>
      </p:sp>
      <p:pic>
        <p:nvPicPr>
          <p:cNvPr id="257" name="Google Shape;257;p37"/>
          <p:cNvPicPr preferRelativeResize="0"/>
          <p:nvPr/>
        </p:nvPicPr>
        <p:blipFill>
          <a:blip r:embed="rId3">
            <a:alphaModFix/>
          </a:blip>
          <a:stretch>
            <a:fillRect/>
          </a:stretch>
        </p:blipFill>
        <p:spPr>
          <a:xfrm>
            <a:off x="173800" y="1596450"/>
            <a:ext cx="8594849" cy="437725"/>
          </a:xfrm>
          <a:prstGeom prst="rect">
            <a:avLst/>
          </a:prstGeom>
          <a:noFill/>
          <a:ln>
            <a:noFill/>
          </a:ln>
        </p:spPr>
      </p:pic>
      <p:pic>
        <p:nvPicPr>
          <p:cNvPr id="258" name="Google Shape;258;p37"/>
          <p:cNvPicPr preferRelativeResize="0"/>
          <p:nvPr/>
        </p:nvPicPr>
        <p:blipFill>
          <a:blip r:embed="rId4">
            <a:alphaModFix/>
          </a:blip>
          <a:stretch>
            <a:fillRect/>
          </a:stretch>
        </p:blipFill>
        <p:spPr>
          <a:xfrm>
            <a:off x="969588" y="3140125"/>
            <a:ext cx="7153275" cy="3238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8"/>
          <p:cNvSpPr txBox="1"/>
          <p:nvPr>
            <p:ph type="ctrTitle"/>
          </p:nvPr>
        </p:nvSpPr>
        <p:spPr>
          <a:xfrm>
            <a:off x="173808" y="248011"/>
            <a:ext cx="6892800" cy="578700"/>
          </a:xfrm>
          <a:prstGeom prst="rect">
            <a:avLst/>
          </a:prstGeom>
        </p:spPr>
        <p:txBody>
          <a:bodyPr anchorCtr="0" anchor="ctr" bIns="40825" lIns="81650" spcFirstLastPara="1" rIns="81650" wrap="square" tIns="40825">
            <a:normAutofit fontScale="90000"/>
          </a:bodyPr>
          <a:lstStyle/>
          <a:p>
            <a:pPr indent="0" lvl="0" marL="0" rtl="0" algn="l">
              <a:spcBef>
                <a:spcPts val="0"/>
              </a:spcBef>
              <a:spcAft>
                <a:spcPts val="0"/>
              </a:spcAft>
              <a:buNone/>
            </a:pPr>
            <a:r>
              <a:rPr lang="en-GB"/>
              <a:t>8. What about noise?</a:t>
            </a:r>
            <a:endParaRPr/>
          </a:p>
        </p:txBody>
      </p:sp>
      <p:sp>
        <p:nvSpPr>
          <p:cNvPr id="265" name="Google Shape;265;p38"/>
          <p:cNvSpPr txBox="1"/>
          <p:nvPr>
            <p:ph idx="1" type="body"/>
          </p:nvPr>
        </p:nvSpPr>
        <p:spPr>
          <a:xfrm>
            <a:off x="4718300" y="985775"/>
            <a:ext cx="3840300" cy="3505200"/>
          </a:xfrm>
          <a:prstGeom prst="rect">
            <a:avLst/>
          </a:prstGeom>
        </p:spPr>
        <p:txBody>
          <a:bodyPr anchorCtr="0" anchor="t" bIns="40825" lIns="81650" spcFirstLastPara="1" rIns="81650" wrap="square" tIns="40825">
            <a:noAutofit/>
          </a:bodyPr>
          <a:lstStyle/>
          <a:p>
            <a:pPr indent="0" lvl="0" marL="0" rtl="0" algn="l">
              <a:spcBef>
                <a:spcPts val="360"/>
              </a:spcBef>
              <a:spcAft>
                <a:spcPts val="0"/>
              </a:spcAft>
              <a:buNone/>
            </a:pPr>
            <a:r>
              <a:rPr lang="en-GB"/>
              <a:t>The quartic function still provides a good fit for the data’s trend, but doesn’t match the data precisely.</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We can make the fitting function match the data better as it wobbles up and down.</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Define a new function with many parameters, e.g. up to ax</a:t>
            </a:r>
            <a:r>
              <a:rPr baseline="30000" lang="en-GB"/>
              <a:t>10</a:t>
            </a:r>
            <a:r>
              <a:rPr lang="en-GB"/>
              <a:t>. Run plot.py on the noisy data with the new function. </a:t>
            </a:r>
            <a:endParaRPr/>
          </a:p>
        </p:txBody>
      </p:sp>
      <p:pic>
        <p:nvPicPr>
          <p:cNvPr id="266" name="Google Shape;266;p38"/>
          <p:cNvPicPr preferRelativeResize="0"/>
          <p:nvPr/>
        </p:nvPicPr>
        <p:blipFill>
          <a:blip r:embed="rId3">
            <a:alphaModFix/>
          </a:blip>
          <a:stretch>
            <a:fillRect/>
          </a:stretch>
        </p:blipFill>
        <p:spPr>
          <a:xfrm>
            <a:off x="152400" y="979111"/>
            <a:ext cx="4413501" cy="331012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9"/>
          <p:cNvSpPr txBox="1"/>
          <p:nvPr>
            <p:ph type="ctrTitle"/>
          </p:nvPr>
        </p:nvSpPr>
        <p:spPr>
          <a:xfrm>
            <a:off x="173808" y="248011"/>
            <a:ext cx="6892800" cy="578700"/>
          </a:xfrm>
          <a:prstGeom prst="rect">
            <a:avLst/>
          </a:prstGeom>
        </p:spPr>
        <p:txBody>
          <a:bodyPr anchorCtr="0" anchor="ctr" bIns="40825" lIns="81650" spcFirstLastPara="1" rIns="81650" wrap="square" tIns="40825">
            <a:normAutofit fontScale="90000"/>
          </a:bodyPr>
          <a:lstStyle/>
          <a:p>
            <a:pPr indent="0" lvl="0" marL="0" rtl="0" algn="l">
              <a:spcBef>
                <a:spcPts val="0"/>
              </a:spcBef>
              <a:spcAft>
                <a:spcPts val="0"/>
              </a:spcAft>
              <a:buNone/>
            </a:pPr>
            <a:r>
              <a:rPr lang="en-GB"/>
              <a:t>8. What about noise?</a:t>
            </a:r>
            <a:endParaRPr/>
          </a:p>
        </p:txBody>
      </p:sp>
      <p:pic>
        <p:nvPicPr>
          <p:cNvPr id="273" name="Google Shape;273;p39"/>
          <p:cNvPicPr preferRelativeResize="0"/>
          <p:nvPr/>
        </p:nvPicPr>
        <p:blipFill>
          <a:blip r:embed="rId3">
            <a:alphaModFix/>
          </a:blip>
          <a:stretch>
            <a:fillRect/>
          </a:stretch>
        </p:blipFill>
        <p:spPr>
          <a:xfrm>
            <a:off x="4643976" y="826687"/>
            <a:ext cx="4267200" cy="3200426"/>
          </a:xfrm>
          <a:prstGeom prst="rect">
            <a:avLst/>
          </a:prstGeom>
          <a:noFill/>
          <a:ln>
            <a:noFill/>
          </a:ln>
        </p:spPr>
      </p:pic>
      <p:pic>
        <p:nvPicPr>
          <p:cNvPr id="274" name="Google Shape;274;p39"/>
          <p:cNvPicPr preferRelativeResize="0"/>
          <p:nvPr/>
        </p:nvPicPr>
        <p:blipFill>
          <a:blip r:embed="rId4">
            <a:alphaModFix/>
          </a:blip>
          <a:stretch>
            <a:fillRect/>
          </a:stretch>
        </p:blipFill>
        <p:spPr>
          <a:xfrm>
            <a:off x="304800" y="826711"/>
            <a:ext cx="4267200" cy="3200400"/>
          </a:xfrm>
          <a:prstGeom prst="rect">
            <a:avLst/>
          </a:prstGeom>
          <a:noFill/>
          <a:ln>
            <a:noFill/>
          </a:ln>
        </p:spPr>
      </p:pic>
      <p:sp>
        <p:nvSpPr>
          <p:cNvPr id="275" name="Google Shape;275;p39"/>
          <p:cNvSpPr txBox="1"/>
          <p:nvPr/>
        </p:nvSpPr>
        <p:spPr>
          <a:xfrm>
            <a:off x="541500" y="4027125"/>
            <a:ext cx="8278500" cy="79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25303B"/>
                </a:solidFill>
                <a:latin typeface="Calibri"/>
                <a:ea typeface="Calibri"/>
                <a:cs typeface="Calibri"/>
                <a:sym typeface="Calibri"/>
              </a:rPr>
              <a:t>Is it a good idea to fit our curve to the lumps and bumps that the noise has caused?</a:t>
            </a:r>
            <a:endParaRPr sz="1800">
              <a:solidFill>
                <a:srgbClr val="25303B"/>
              </a:solidFill>
              <a:latin typeface="Calibri"/>
              <a:ea typeface="Calibri"/>
              <a:cs typeface="Calibri"/>
              <a:sym typeface="Calibri"/>
            </a:endParaRPr>
          </a:p>
          <a:p>
            <a:pPr indent="0" lvl="0" marL="0" rtl="0" algn="l">
              <a:spcBef>
                <a:spcPts val="0"/>
              </a:spcBef>
              <a:spcAft>
                <a:spcPts val="0"/>
              </a:spcAft>
              <a:buNone/>
            </a:pPr>
            <a:r>
              <a:rPr lang="en-GB" sz="1800">
                <a:solidFill>
                  <a:srgbClr val="25303B"/>
                </a:solidFill>
                <a:latin typeface="Calibri"/>
                <a:ea typeface="Calibri"/>
                <a:cs typeface="Calibri"/>
                <a:sym typeface="Calibri"/>
              </a:rPr>
              <a:t>Do we get a better prediction of the actual heat capacity using the more fitted curve?</a:t>
            </a:r>
            <a:endParaRPr sz="1800">
              <a:solidFill>
                <a:srgbClr val="25303B"/>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0"/>
          <p:cNvSpPr txBox="1"/>
          <p:nvPr>
            <p:ph type="ctrTitle"/>
          </p:nvPr>
        </p:nvSpPr>
        <p:spPr>
          <a:xfrm>
            <a:off x="173808" y="248011"/>
            <a:ext cx="6892800" cy="578700"/>
          </a:xfrm>
          <a:prstGeom prst="rect">
            <a:avLst/>
          </a:prstGeom>
        </p:spPr>
        <p:txBody>
          <a:bodyPr anchorCtr="0" anchor="ctr" bIns="40825" lIns="81650" spcFirstLastPara="1" rIns="81650" wrap="square" tIns="40825">
            <a:normAutofit fontScale="90000"/>
          </a:bodyPr>
          <a:lstStyle/>
          <a:p>
            <a:pPr indent="0" lvl="0" marL="0" rtl="0" algn="l">
              <a:spcBef>
                <a:spcPts val="0"/>
              </a:spcBef>
              <a:spcAft>
                <a:spcPts val="0"/>
              </a:spcAft>
              <a:buNone/>
            </a:pPr>
            <a:r>
              <a:rPr lang="en-GB"/>
              <a:t>9. Overfitting</a:t>
            </a:r>
            <a:endParaRPr/>
          </a:p>
        </p:txBody>
      </p:sp>
      <p:sp>
        <p:nvSpPr>
          <p:cNvPr id="282" name="Google Shape;282;p40"/>
          <p:cNvSpPr txBox="1"/>
          <p:nvPr/>
        </p:nvSpPr>
        <p:spPr>
          <a:xfrm>
            <a:off x="651400" y="826700"/>
            <a:ext cx="7066500" cy="3832800"/>
          </a:xfrm>
          <a:prstGeom prst="rect">
            <a:avLst/>
          </a:prstGeom>
          <a:noFill/>
          <a:ln>
            <a:noFill/>
          </a:ln>
        </p:spPr>
        <p:txBody>
          <a:bodyPr anchorCtr="0" anchor="t" bIns="91425" lIns="91425" spcFirstLastPara="1" rIns="91425" wrap="square" tIns="91425">
            <a:spAutoFit/>
          </a:bodyPr>
          <a:lstStyle/>
          <a:p>
            <a:pPr indent="0" lvl="0" marL="0" rtl="0" algn="l">
              <a:spcBef>
                <a:spcPts val="360"/>
              </a:spcBef>
              <a:spcAft>
                <a:spcPts val="0"/>
              </a:spcAft>
              <a:buNone/>
            </a:pPr>
            <a:r>
              <a:rPr lang="en-GB" sz="1800">
                <a:solidFill>
                  <a:schemeClr val="dk1"/>
                </a:solidFill>
                <a:latin typeface="Calibri"/>
                <a:ea typeface="Calibri"/>
                <a:cs typeface="Calibri"/>
                <a:sym typeface="Calibri"/>
              </a:rPr>
              <a:t>No!</a:t>
            </a:r>
            <a:endParaRPr sz="1800">
              <a:solidFill>
                <a:schemeClr val="dk1"/>
              </a:solidFill>
              <a:latin typeface="Calibri"/>
              <a:ea typeface="Calibri"/>
              <a:cs typeface="Calibri"/>
              <a:sym typeface="Calibri"/>
            </a:endParaRPr>
          </a:p>
          <a:p>
            <a:pPr indent="0" lvl="0" marL="0" rtl="0" algn="l">
              <a:spcBef>
                <a:spcPts val="360"/>
              </a:spcBef>
              <a:spcAft>
                <a:spcPts val="0"/>
              </a:spcAft>
              <a:buNone/>
            </a:pPr>
            <a:r>
              <a:t/>
            </a:r>
            <a:endParaRPr sz="1800">
              <a:solidFill>
                <a:schemeClr val="dk1"/>
              </a:solidFill>
              <a:latin typeface="Calibri"/>
              <a:ea typeface="Calibri"/>
              <a:cs typeface="Calibri"/>
              <a:sym typeface="Calibri"/>
            </a:endParaRPr>
          </a:p>
          <a:p>
            <a:pPr indent="0" lvl="0" marL="0" rtl="0" algn="l">
              <a:spcBef>
                <a:spcPts val="360"/>
              </a:spcBef>
              <a:spcAft>
                <a:spcPts val="0"/>
              </a:spcAft>
              <a:buNone/>
            </a:pPr>
            <a:r>
              <a:rPr lang="en-GB" sz="1800">
                <a:solidFill>
                  <a:schemeClr val="dk1"/>
                </a:solidFill>
                <a:latin typeface="Calibri"/>
                <a:ea typeface="Calibri"/>
                <a:cs typeface="Calibri"/>
                <a:sym typeface="Calibri"/>
              </a:rPr>
              <a:t>Experimental data is subject to all sorts of error during its collection.</a:t>
            </a:r>
            <a:endParaRPr sz="1800">
              <a:solidFill>
                <a:schemeClr val="dk1"/>
              </a:solidFill>
              <a:latin typeface="Calibri"/>
              <a:ea typeface="Calibri"/>
              <a:cs typeface="Calibri"/>
              <a:sym typeface="Calibri"/>
            </a:endParaRPr>
          </a:p>
          <a:p>
            <a:pPr indent="0" lvl="0" marL="0" rtl="0" algn="l">
              <a:spcBef>
                <a:spcPts val="360"/>
              </a:spcBef>
              <a:spcAft>
                <a:spcPts val="0"/>
              </a:spcAft>
              <a:buNone/>
            </a:pPr>
            <a:r>
              <a:rPr lang="en-GB" sz="1800">
                <a:solidFill>
                  <a:schemeClr val="dk1"/>
                </a:solidFill>
                <a:latin typeface="Calibri"/>
                <a:ea typeface="Calibri"/>
                <a:cs typeface="Calibri"/>
                <a:sym typeface="Calibri"/>
              </a:rPr>
              <a:t>The number that’s made it to your computer is not necessarily accurate, because more error leads to less precision.</a:t>
            </a:r>
            <a:endParaRPr sz="1800">
              <a:solidFill>
                <a:schemeClr val="dk1"/>
              </a:solidFill>
              <a:latin typeface="Calibri"/>
              <a:ea typeface="Calibri"/>
              <a:cs typeface="Calibri"/>
              <a:sym typeface="Calibri"/>
            </a:endParaRPr>
          </a:p>
          <a:p>
            <a:pPr indent="0" lvl="0" marL="0" rtl="0" algn="l">
              <a:spcBef>
                <a:spcPts val="360"/>
              </a:spcBef>
              <a:spcAft>
                <a:spcPts val="0"/>
              </a:spcAft>
              <a:buNone/>
            </a:pPr>
            <a:r>
              <a:t/>
            </a:r>
            <a:endParaRPr sz="1800">
              <a:solidFill>
                <a:schemeClr val="dk1"/>
              </a:solidFill>
              <a:latin typeface="Calibri"/>
              <a:ea typeface="Calibri"/>
              <a:cs typeface="Calibri"/>
              <a:sym typeface="Calibri"/>
            </a:endParaRPr>
          </a:p>
          <a:p>
            <a:pPr indent="0" lvl="0" marL="0" rtl="0" algn="l">
              <a:spcBef>
                <a:spcPts val="360"/>
              </a:spcBef>
              <a:spcAft>
                <a:spcPts val="0"/>
              </a:spcAft>
              <a:buNone/>
            </a:pPr>
            <a:r>
              <a:rPr lang="en-GB" sz="1800">
                <a:solidFill>
                  <a:schemeClr val="dk1"/>
                </a:solidFill>
                <a:latin typeface="Calibri"/>
                <a:ea typeface="Calibri"/>
                <a:cs typeface="Calibri"/>
                <a:sym typeface="Calibri"/>
              </a:rPr>
              <a:t>We build models that predict values based off *trends* in the </a:t>
            </a:r>
            <a:r>
              <a:rPr lang="en-GB" sz="1800">
                <a:solidFill>
                  <a:schemeClr val="dk1"/>
                </a:solidFill>
                <a:latin typeface="Calibri"/>
                <a:ea typeface="Calibri"/>
                <a:cs typeface="Calibri"/>
                <a:sym typeface="Calibri"/>
              </a:rPr>
              <a:t>dataset as a whole, not individual data points.</a:t>
            </a:r>
            <a:endParaRPr sz="1800">
              <a:solidFill>
                <a:schemeClr val="dk1"/>
              </a:solidFill>
              <a:latin typeface="Calibri"/>
              <a:ea typeface="Calibri"/>
              <a:cs typeface="Calibri"/>
              <a:sym typeface="Calibri"/>
            </a:endParaRPr>
          </a:p>
          <a:p>
            <a:pPr indent="0" lvl="0" marL="0" rtl="0" algn="l">
              <a:spcBef>
                <a:spcPts val="360"/>
              </a:spcBef>
              <a:spcAft>
                <a:spcPts val="0"/>
              </a:spcAft>
              <a:buNone/>
            </a:pPr>
            <a:r>
              <a:t/>
            </a:r>
            <a:endParaRPr sz="1800">
              <a:solidFill>
                <a:schemeClr val="dk1"/>
              </a:solidFill>
              <a:latin typeface="Calibri"/>
              <a:ea typeface="Calibri"/>
              <a:cs typeface="Calibri"/>
              <a:sym typeface="Calibri"/>
            </a:endParaRPr>
          </a:p>
          <a:p>
            <a:pPr indent="0" lvl="0" marL="0" rtl="0" algn="l">
              <a:spcBef>
                <a:spcPts val="360"/>
              </a:spcBef>
              <a:spcAft>
                <a:spcPts val="0"/>
              </a:spcAft>
              <a:buNone/>
            </a:pPr>
            <a:r>
              <a:rPr lang="en-GB" sz="1800">
                <a:solidFill>
                  <a:schemeClr val="dk1"/>
                </a:solidFill>
                <a:latin typeface="Calibri"/>
                <a:ea typeface="Calibri"/>
                <a:cs typeface="Calibri"/>
                <a:sym typeface="Calibri"/>
              </a:rPr>
              <a:t>Overfitting means we’d make a model that will only predict c accurately for the dataset it was fit to, and perform terribly when compared to other data. </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type="ctrTitle"/>
          </p:nvPr>
        </p:nvSpPr>
        <p:spPr>
          <a:xfrm>
            <a:off x="173808" y="248011"/>
            <a:ext cx="6892800" cy="578700"/>
          </a:xfrm>
          <a:prstGeom prst="rect">
            <a:avLst/>
          </a:prstGeom>
        </p:spPr>
        <p:txBody>
          <a:bodyPr anchorCtr="0" anchor="ctr" bIns="40825" lIns="81650" spcFirstLastPara="1" rIns="81650" wrap="square" tIns="40825">
            <a:normAutofit fontScale="90000"/>
          </a:bodyPr>
          <a:lstStyle/>
          <a:p>
            <a:pPr indent="0" lvl="0" marL="0" rtl="0" algn="l">
              <a:spcBef>
                <a:spcPts val="0"/>
              </a:spcBef>
              <a:spcAft>
                <a:spcPts val="0"/>
              </a:spcAft>
              <a:buNone/>
            </a:pPr>
            <a:r>
              <a:rPr lang="en-GB"/>
              <a:t>Extension</a:t>
            </a:r>
            <a:endParaRPr/>
          </a:p>
        </p:txBody>
      </p:sp>
      <p:sp>
        <p:nvSpPr>
          <p:cNvPr id="289" name="Google Shape;289;p41"/>
          <p:cNvSpPr txBox="1"/>
          <p:nvPr/>
        </p:nvSpPr>
        <p:spPr>
          <a:xfrm>
            <a:off x="587900" y="996050"/>
            <a:ext cx="7066500" cy="3509400"/>
          </a:xfrm>
          <a:prstGeom prst="rect">
            <a:avLst/>
          </a:prstGeom>
          <a:noFill/>
          <a:ln>
            <a:noFill/>
          </a:ln>
        </p:spPr>
        <p:txBody>
          <a:bodyPr anchorCtr="0" anchor="t" bIns="91425" lIns="91425" spcFirstLastPara="1" rIns="91425" wrap="square" tIns="91425">
            <a:spAutoFit/>
          </a:bodyPr>
          <a:lstStyle/>
          <a:p>
            <a:pPr indent="0" lvl="0" marL="0" rtl="0" algn="l">
              <a:spcBef>
                <a:spcPts val="360"/>
              </a:spcBef>
              <a:spcAft>
                <a:spcPts val="0"/>
              </a:spcAft>
              <a:buNone/>
            </a:pPr>
            <a:r>
              <a:rPr lang="en-GB" sz="1800">
                <a:solidFill>
                  <a:schemeClr val="dk1"/>
                </a:solidFill>
                <a:latin typeface="Calibri"/>
                <a:ea typeface="Calibri"/>
                <a:cs typeface="Calibri"/>
                <a:sym typeface="Calibri"/>
              </a:rPr>
              <a:t>Last year you did some linear fitting to some first-order kinetics data. In that workshop you did that by linearising the equation below (taking the log of both sides) and then fitting a linear function to the data.</a:t>
            </a:r>
            <a:endParaRPr sz="1800">
              <a:solidFill>
                <a:schemeClr val="dk1"/>
              </a:solidFill>
              <a:latin typeface="Calibri"/>
              <a:ea typeface="Calibri"/>
              <a:cs typeface="Calibri"/>
              <a:sym typeface="Calibri"/>
            </a:endParaRPr>
          </a:p>
          <a:p>
            <a:pPr indent="0" lvl="0" marL="0" rtl="0" algn="l">
              <a:spcBef>
                <a:spcPts val="360"/>
              </a:spcBef>
              <a:spcAft>
                <a:spcPts val="0"/>
              </a:spcAft>
              <a:buNone/>
            </a:pPr>
            <a:r>
              <a:t/>
            </a:r>
            <a:endParaRPr sz="1800">
              <a:solidFill>
                <a:schemeClr val="dk1"/>
              </a:solidFill>
              <a:latin typeface="Calibri"/>
              <a:ea typeface="Calibri"/>
              <a:cs typeface="Calibri"/>
              <a:sym typeface="Calibri"/>
            </a:endParaRPr>
          </a:p>
          <a:p>
            <a:pPr indent="0" lvl="0" marL="0" rtl="0" algn="l">
              <a:spcBef>
                <a:spcPts val="360"/>
              </a:spcBef>
              <a:spcAft>
                <a:spcPts val="0"/>
              </a:spcAft>
              <a:buNone/>
            </a:pPr>
            <a:r>
              <a:t/>
            </a:r>
            <a:endParaRPr sz="1800">
              <a:solidFill>
                <a:schemeClr val="dk1"/>
              </a:solidFill>
              <a:latin typeface="Calibri"/>
              <a:ea typeface="Calibri"/>
              <a:cs typeface="Calibri"/>
              <a:sym typeface="Calibri"/>
            </a:endParaRPr>
          </a:p>
          <a:p>
            <a:pPr indent="0" lvl="0" marL="0" rtl="0" algn="l">
              <a:spcBef>
                <a:spcPts val="360"/>
              </a:spcBef>
              <a:spcAft>
                <a:spcPts val="0"/>
              </a:spcAft>
              <a:buNone/>
            </a:pPr>
            <a:r>
              <a:t/>
            </a:r>
            <a:endParaRPr sz="1800">
              <a:solidFill>
                <a:schemeClr val="dk1"/>
              </a:solidFill>
              <a:latin typeface="Calibri"/>
              <a:ea typeface="Calibri"/>
              <a:cs typeface="Calibri"/>
              <a:sym typeface="Calibri"/>
            </a:endParaRPr>
          </a:p>
          <a:p>
            <a:pPr indent="0" lvl="0" marL="0" rtl="0" algn="l">
              <a:spcBef>
                <a:spcPts val="360"/>
              </a:spcBef>
              <a:spcAft>
                <a:spcPts val="0"/>
              </a:spcAft>
              <a:buNone/>
            </a:pPr>
            <a:r>
              <a:rPr lang="en-GB" sz="1800">
                <a:solidFill>
                  <a:schemeClr val="dk1"/>
                </a:solidFill>
                <a:latin typeface="Calibri"/>
                <a:ea typeface="Calibri"/>
                <a:cs typeface="Calibri"/>
                <a:sym typeface="Calibri"/>
              </a:rPr>
              <a:t>Now you have the tools you need to fit this data directly!</a:t>
            </a:r>
            <a:endParaRPr sz="1800">
              <a:solidFill>
                <a:schemeClr val="dk1"/>
              </a:solidFill>
              <a:latin typeface="Calibri"/>
              <a:ea typeface="Calibri"/>
              <a:cs typeface="Calibri"/>
              <a:sym typeface="Calibri"/>
            </a:endParaRPr>
          </a:p>
          <a:p>
            <a:pPr indent="0" lvl="0" marL="0" rtl="0" algn="l">
              <a:spcBef>
                <a:spcPts val="360"/>
              </a:spcBef>
              <a:spcAft>
                <a:spcPts val="0"/>
              </a:spcAft>
              <a:buNone/>
            </a:pPr>
            <a:r>
              <a:t/>
            </a:r>
            <a:endParaRPr sz="1800">
              <a:solidFill>
                <a:schemeClr val="dk1"/>
              </a:solidFill>
              <a:latin typeface="Calibri"/>
              <a:ea typeface="Calibri"/>
              <a:cs typeface="Calibri"/>
              <a:sym typeface="Calibri"/>
            </a:endParaRPr>
          </a:p>
          <a:p>
            <a:pPr indent="0" lvl="0" marL="0" rtl="0" algn="l">
              <a:spcBef>
                <a:spcPts val="360"/>
              </a:spcBef>
              <a:spcAft>
                <a:spcPts val="0"/>
              </a:spcAft>
              <a:buNone/>
            </a:pPr>
            <a:r>
              <a:rPr lang="en-GB" sz="1800">
                <a:solidFill>
                  <a:schemeClr val="dk1"/>
                </a:solidFill>
                <a:latin typeface="Calibri"/>
                <a:ea typeface="Calibri"/>
                <a:cs typeface="Calibri"/>
                <a:sym typeface="Calibri"/>
              </a:rPr>
              <a:t>Download the kinetics data you used last year (kinetics.zip on the VLE), define an appropriate function, and use your Python script to fit the data to the equation above, and find a rate coefficient for each temperature.</a:t>
            </a:r>
            <a:endParaRPr sz="1800">
              <a:solidFill>
                <a:schemeClr val="dk1"/>
              </a:solidFill>
              <a:latin typeface="Calibri"/>
              <a:ea typeface="Calibri"/>
              <a:cs typeface="Calibri"/>
              <a:sym typeface="Calibri"/>
            </a:endParaRPr>
          </a:p>
        </p:txBody>
      </p:sp>
      <p:pic>
        <p:nvPicPr>
          <p:cNvPr id="290" name="Google Shape;290;p41" title="{&quot;red&quot;:37,&quot;green&quot;:48,&quot;blue&quot;:59,&quot;origURL&quot;:&quot;https://www.codecogs.com/eqnedit.php?latex=%5BA%5D%20%3D%20%5BA%5D_0e%5E%7B-kt%7D#0&quot;,&quot;size&quot;:30,&quot;width&quot;:316.3937007874016,&quot;height&quot;:50.90551181102362}"/>
          <p:cNvPicPr preferRelativeResize="0"/>
          <p:nvPr/>
        </p:nvPicPr>
        <p:blipFill>
          <a:blip r:embed="rId3">
            <a:alphaModFix/>
          </a:blip>
          <a:stretch>
            <a:fillRect/>
          </a:stretch>
        </p:blipFill>
        <p:spPr>
          <a:xfrm>
            <a:off x="3337563" y="2208795"/>
            <a:ext cx="2468880" cy="48006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2"/>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Summary</a:t>
            </a:r>
            <a:endParaRPr/>
          </a:p>
        </p:txBody>
      </p:sp>
      <p:sp>
        <p:nvSpPr>
          <p:cNvPr id="296" name="Google Shape;296;p42"/>
          <p:cNvSpPr txBox="1"/>
          <p:nvPr>
            <p:ph idx="1" type="body"/>
          </p:nvPr>
        </p:nvSpPr>
        <p:spPr>
          <a:xfrm>
            <a:off x="293225" y="1073424"/>
            <a:ext cx="8223600" cy="3902700"/>
          </a:xfrm>
          <a:prstGeom prst="rect">
            <a:avLst/>
          </a:prstGeom>
          <a:noFill/>
          <a:ln>
            <a:noFill/>
          </a:ln>
        </p:spPr>
        <p:txBody>
          <a:bodyPr anchorCtr="0" anchor="t" bIns="40825" lIns="81650" spcFirstLastPara="1" rIns="81650" wrap="square" tIns="40825">
            <a:noAutofit/>
          </a:bodyPr>
          <a:lstStyle/>
          <a:p>
            <a:pPr indent="0" lvl="0" marL="0" rtl="0" algn="l">
              <a:spcBef>
                <a:spcPts val="360"/>
              </a:spcBef>
              <a:spcAft>
                <a:spcPts val="0"/>
              </a:spcAft>
              <a:buNone/>
            </a:pPr>
            <a:r>
              <a:rPr lang="en-GB">
                <a:solidFill>
                  <a:schemeClr val="dk1"/>
                </a:solidFill>
              </a:rPr>
              <a:t>Python can be a very valuable tool in analysis:</a:t>
            </a:r>
            <a:endParaRPr>
              <a:solidFill>
                <a:schemeClr val="dk1"/>
              </a:solidFill>
            </a:endParaRPr>
          </a:p>
          <a:p>
            <a:pPr indent="-342900" lvl="0" marL="457200" rtl="0" algn="l">
              <a:spcBef>
                <a:spcPts val="360"/>
              </a:spcBef>
              <a:spcAft>
                <a:spcPts val="0"/>
              </a:spcAft>
              <a:buClr>
                <a:schemeClr val="dk1"/>
              </a:buClr>
              <a:buSzPts val="1800"/>
              <a:buChar char="▪"/>
            </a:pPr>
            <a:r>
              <a:rPr lang="en-GB">
                <a:solidFill>
                  <a:schemeClr val="dk1"/>
                </a:solidFill>
              </a:rPr>
              <a:t>The use of computer scripts allows repetitive analysis to be carried out easily, in a consistent manner.</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Collating results automatically minimises the risk of errors from manual transcription.</a:t>
            </a:r>
            <a:endParaRPr>
              <a:solidFill>
                <a:schemeClr val="dk1"/>
              </a:solidFill>
            </a:endParaRPr>
          </a:p>
          <a:p>
            <a:pPr indent="0" lvl="0" marL="457200" rtl="0" algn="l">
              <a:spcBef>
                <a:spcPts val="360"/>
              </a:spcBef>
              <a:spcAft>
                <a:spcPts val="0"/>
              </a:spcAft>
              <a:buNone/>
            </a:pPr>
            <a:r>
              <a:t/>
            </a:r>
            <a:endParaRPr>
              <a:solidFill>
                <a:schemeClr val="dk1"/>
              </a:solidFill>
            </a:endParaRPr>
          </a:p>
          <a:p>
            <a:pPr indent="0" lvl="0" marL="0" rtl="0" algn="l">
              <a:spcBef>
                <a:spcPts val="360"/>
              </a:spcBef>
              <a:spcAft>
                <a:spcPts val="0"/>
              </a:spcAft>
              <a:buNone/>
            </a:pPr>
            <a:r>
              <a:rPr lang="en-GB">
                <a:solidFill>
                  <a:schemeClr val="dk1"/>
                </a:solidFill>
              </a:rPr>
              <a:t>We can get a line of best fit and use that as a model to predict properties.</a:t>
            </a:r>
            <a:endParaRPr>
              <a:solidFill>
                <a:schemeClr val="dk1"/>
              </a:solidFill>
            </a:endParaRPr>
          </a:p>
          <a:p>
            <a:pPr indent="0" lvl="0" marL="0" rtl="0" algn="l">
              <a:spcBef>
                <a:spcPts val="360"/>
              </a:spcBef>
              <a:spcAft>
                <a:spcPts val="0"/>
              </a:spcAft>
              <a:buNone/>
            </a:pPr>
            <a:r>
              <a:rPr lang="en-GB">
                <a:solidFill>
                  <a:schemeClr val="dk1"/>
                </a:solidFill>
              </a:rPr>
              <a:t> </a:t>
            </a:r>
            <a:endParaRPr>
              <a:solidFill>
                <a:schemeClr val="dk1"/>
              </a:solidFill>
            </a:endParaRPr>
          </a:p>
          <a:p>
            <a:pPr indent="0" lvl="0" marL="0" rtl="0" algn="l">
              <a:spcBef>
                <a:spcPts val="360"/>
              </a:spcBef>
              <a:spcAft>
                <a:spcPts val="0"/>
              </a:spcAft>
              <a:buNone/>
            </a:pPr>
            <a:r>
              <a:rPr lang="en-GB">
                <a:solidFill>
                  <a:schemeClr val="dk1"/>
                </a:solidFill>
              </a:rPr>
              <a:t>Don’t overfit your data.</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University of York Colour Palette">
      <a:dk1>
        <a:srgbClr val="25303B"/>
      </a:dk1>
      <a:lt1>
        <a:srgbClr val="FFFFFF"/>
      </a:lt1>
      <a:dk2>
        <a:srgbClr val="E3E6E5"/>
      </a:dk2>
      <a:lt2>
        <a:srgbClr val="00627D"/>
      </a:lt2>
      <a:accent1>
        <a:srgbClr val="5AB031"/>
      </a:accent1>
      <a:accent2>
        <a:srgbClr val="9067A9"/>
      </a:accent2>
      <a:accent3>
        <a:srgbClr val="E2388C"/>
      </a:accent3>
      <a:accent4>
        <a:srgbClr val="E62A32"/>
      </a:accent4>
      <a:accent5>
        <a:srgbClr val="F18626"/>
      </a:accent5>
      <a:accent6>
        <a:srgbClr val="00ABAA"/>
      </a:accent6>
      <a:hlink>
        <a:srgbClr val="0096D6"/>
      </a:hlink>
      <a:folHlink>
        <a:srgbClr val="E238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