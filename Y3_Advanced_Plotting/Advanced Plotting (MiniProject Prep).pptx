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825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2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9bc51316d_1_57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g309bc51316d_1_57:notes"/>
          <p:cNvSpPr/>
          <p:nvPr>
            <p:ph idx="2" type="sldImg"/>
          </p:nvPr>
        </p:nvSpPr>
        <p:spPr>
          <a:xfrm>
            <a:off x="2516188" y="857250"/>
            <a:ext cx="4111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00db3529_0_152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3a900db3529_0_152:notes"/>
          <p:cNvSpPr/>
          <p:nvPr>
            <p:ph idx="2" type="sldImg"/>
          </p:nvPr>
        </p:nvSpPr>
        <p:spPr>
          <a:xfrm>
            <a:off x="2516188" y="857250"/>
            <a:ext cx="4111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1:notes"/>
          <p:cNvSpPr/>
          <p:nvPr>
            <p:ph idx="2" type="sldImg"/>
          </p:nvPr>
        </p:nvSpPr>
        <p:spPr>
          <a:xfrm>
            <a:off x="2516188" y="857250"/>
            <a:ext cx="4111625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900db3529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3a900db3529_0_0:notes"/>
          <p:cNvSpPr/>
          <p:nvPr>
            <p:ph idx="2" type="sldImg"/>
          </p:nvPr>
        </p:nvSpPr>
        <p:spPr>
          <a:xfrm>
            <a:off x="2516188" y="857250"/>
            <a:ext cx="4111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900db3529_0_6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3a900db3529_0_6:notes"/>
          <p:cNvSpPr/>
          <p:nvPr>
            <p:ph idx="2" type="sldImg"/>
          </p:nvPr>
        </p:nvSpPr>
        <p:spPr>
          <a:xfrm>
            <a:off x="2516188" y="857250"/>
            <a:ext cx="4111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900db3529_0_13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a900db3529_0_13:notes"/>
          <p:cNvSpPr/>
          <p:nvPr>
            <p:ph idx="2" type="sldImg"/>
          </p:nvPr>
        </p:nvSpPr>
        <p:spPr>
          <a:xfrm>
            <a:off x="2516188" y="857250"/>
            <a:ext cx="4111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900db3529_0_25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3a900db3529_0_25:notes"/>
          <p:cNvSpPr/>
          <p:nvPr>
            <p:ph idx="2" type="sldImg"/>
          </p:nvPr>
        </p:nvSpPr>
        <p:spPr>
          <a:xfrm>
            <a:off x="2516188" y="857250"/>
            <a:ext cx="4111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900db3529_0_3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a900db3529_0_30:notes"/>
          <p:cNvSpPr/>
          <p:nvPr>
            <p:ph idx="2" type="sldImg"/>
          </p:nvPr>
        </p:nvSpPr>
        <p:spPr>
          <a:xfrm>
            <a:off x="2516188" y="857250"/>
            <a:ext cx="4111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900db3529_0_81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a900db3529_0_81:notes"/>
          <p:cNvSpPr/>
          <p:nvPr>
            <p:ph idx="2" type="sldImg"/>
          </p:nvPr>
        </p:nvSpPr>
        <p:spPr>
          <a:xfrm>
            <a:off x="2516188" y="857250"/>
            <a:ext cx="4111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900db3529_0_136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a900db3529_0_136:notes"/>
          <p:cNvSpPr/>
          <p:nvPr>
            <p:ph idx="2" type="sldImg"/>
          </p:nvPr>
        </p:nvSpPr>
        <p:spPr>
          <a:xfrm>
            <a:off x="2516188" y="857250"/>
            <a:ext cx="4111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900db3529_0_96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a900db3529_0_96:notes"/>
          <p:cNvSpPr/>
          <p:nvPr>
            <p:ph idx="2" type="sldImg"/>
          </p:nvPr>
        </p:nvSpPr>
        <p:spPr>
          <a:xfrm>
            <a:off x="2516188" y="857250"/>
            <a:ext cx="4111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900db3529_0_104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a900db3529_0_104:notes"/>
          <p:cNvSpPr/>
          <p:nvPr>
            <p:ph idx="2" type="sldImg"/>
          </p:nvPr>
        </p:nvSpPr>
        <p:spPr>
          <a:xfrm>
            <a:off x="2516188" y="857250"/>
            <a:ext cx="4111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900db3529_0_147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a900db3529_0_147:notes"/>
          <p:cNvSpPr/>
          <p:nvPr>
            <p:ph idx="2" type="sldImg"/>
          </p:nvPr>
        </p:nvSpPr>
        <p:spPr>
          <a:xfrm>
            <a:off x="2516188" y="857250"/>
            <a:ext cx="4111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900db3529_0_11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a900db3529_0_110:notes"/>
          <p:cNvSpPr/>
          <p:nvPr>
            <p:ph idx="2" type="sldImg"/>
          </p:nvPr>
        </p:nvSpPr>
        <p:spPr>
          <a:xfrm>
            <a:off x="2516188" y="857250"/>
            <a:ext cx="41115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293355" y="1709081"/>
            <a:ext cx="8229600" cy="858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mbria"/>
              <a:buNone/>
              <a:defRPr sz="4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293077" y="2470263"/>
            <a:ext cx="4778117" cy="1009381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303B"/>
              </a:buClr>
              <a:buSzPts val="3000"/>
              <a:buNone/>
              <a:defRPr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5" name="Google Shape;15;p2"/>
          <p:cNvCxnSpPr/>
          <p:nvPr/>
        </p:nvCxnSpPr>
        <p:spPr>
          <a:xfrm>
            <a:off x="293077" y="4900251"/>
            <a:ext cx="853439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2"/>
          <p:cNvSpPr txBox="1"/>
          <p:nvPr/>
        </p:nvSpPr>
        <p:spPr>
          <a:xfrm>
            <a:off x="8417170" y="4900251"/>
            <a:ext cx="5158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GB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mbria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0" name="Google Shape;20;p3"/>
          <p:cNvCxnSpPr/>
          <p:nvPr/>
        </p:nvCxnSpPr>
        <p:spPr>
          <a:xfrm>
            <a:off x="293077" y="4900251"/>
            <a:ext cx="853439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 txBox="1"/>
          <p:nvPr/>
        </p:nvSpPr>
        <p:spPr>
          <a:xfrm>
            <a:off x="8417170" y="4900251"/>
            <a:ext cx="5158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GB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1" y="2230849"/>
            <a:ext cx="8229600" cy="858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Cambria"/>
              <a:buNone/>
              <a:defRPr sz="5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&amp; Image">
  <p:cSld name="Content &amp; Imag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mbria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293217" y="1073431"/>
            <a:ext cx="4447748" cy="3481108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93077" y="4900251"/>
            <a:ext cx="853439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5"/>
          <p:cNvSpPr txBox="1"/>
          <p:nvPr/>
        </p:nvSpPr>
        <p:spPr>
          <a:xfrm>
            <a:off x="8417170" y="4900251"/>
            <a:ext cx="5158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GB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>
            <p:ph idx="2" type="pic"/>
          </p:nvPr>
        </p:nvSpPr>
        <p:spPr>
          <a:xfrm>
            <a:off x="5019675" y="1073150"/>
            <a:ext cx="3727450" cy="348138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mbria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293217" y="1653539"/>
            <a:ext cx="4126383" cy="2900999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3" name="Google Shape;33;p6"/>
          <p:cNvCxnSpPr/>
          <p:nvPr/>
        </p:nvCxnSpPr>
        <p:spPr>
          <a:xfrm>
            <a:off x="293077" y="4900251"/>
            <a:ext cx="853439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6"/>
          <p:cNvSpPr txBox="1"/>
          <p:nvPr/>
        </p:nvSpPr>
        <p:spPr>
          <a:xfrm>
            <a:off x="8417170" y="4900251"/>
            <a:ext cx="5158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GB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293077" y="1073151"/>
            <a:ext cx="4126523" cy="51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303B"/>
              </a:buClr>
              <a:buSzPts val="3000"/>
              <a:buNone/>
              <a:defRPr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4724542" y="1653539"/>
            <a:ext cx="4126383" cy="2900999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4724402" y="1073151"/>
            <a:ext cx="4126523" cy="51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303B"/>
              </a:buClr>
              <a:buSzPts val="3000"/>
              <a:buNone/>
              <a:defRPr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3 way">
  <p:cSld name="Comparison 3 wa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mbria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93218" y="1653539"/>
            <a:ext cx="2853580" cy="2900999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1" name="Google Shape;41;p7"/>
          <p:cNvCxnSpPr/>
          <p:nvPr/>
        </p:nvCxnSpPr>
        <p:spPr>
          <a:xfrm>
            <a:off x="293077" y="4900251"/>
            <a:ext cx="853439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7"/>
          <p:cNvSpPr txBox="1"/>
          <p:nvPr/>
        </p:nvSpPr>
        <p:spPr>
          <a:xfrm>
            <a:off x="8417170" y="4900251"/>
            <a:ext cx="5158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GB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293077" y="1073151"/>
            <a:ext cx="2853721" cy="51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303B"/>
              </a:buClr>
              <a:buSzPts val="3000"/>
              <a:buNone/>
              <a:defRPr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268860" y="1653539"/>
            <a:ext cx="2853580" cy="2900999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268719" y="1073151"/>
            <a:ext cx="2853721" cy="51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303B"/>
              </a:buClr>
              <a:buSzPts val="3000"/>
              <a:buNone/>
              <a:defRPr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5" type="body"/>
          </p:nvPr>
        </p:nvSpPr>
        <p:spPr>
          <a:xfrm>
            <a:off x="6219278" y="1653539"/>
            <a:ext cx="2853580" cy="2900999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6" type="body"/>
          </p:nvPr>
        </p:nvSpPr>
        <p:spPr>
          <a:xfrm>
            <a:off x="6219137" y="1073151"/>
            <a:ext cx="2853721" cy="51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303B"/>
              </a:buClr>
              <a:buSzPts val="3000"/>
              <a:buNone/>
              <a:defRPr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wo colum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mbria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293217" y="1073151"/>
            <a:ext cx="4126383" cy="3481387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077" y="4900251"/>
            <a:ext cx="853439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8"/>
          <p:cNvSpPr txBox="1"/>
          <p:nvPr/>
        </p:nvSpPr>
        <p:spPr>
          <a:xfrm>
            <a:off x="8417170" y="4900251"/>
            <a:ext cx="51581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GB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4724542" y="1073151"/>
            <a:ext cx="4126383" cy="3481387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1" y="1709081"/>
            <a:ext cx="8229600" cy="858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mbria"/>
              <a:buNone/>
              <a:defRPr b="1" i="0" sz="49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1" y="2668450"/>
            <a:ext cx="8229600" cy="50782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5303B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25303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73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869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3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matplotlib.org/stable/api/_as_gen/matplotlib.pyplot.errorbar.html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matplotlib.org/stable/api/_as_gen/matplotlib.pyplot.plot.html#matplotlib.pyplot.plot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matplotlib.org/stable/api/_as_gen/matplotlib.pyplot.boxplot.html" TargetMode="External"/><Relationship Id="rId4" Type="http://schemas.openxmlformats.org/officeDocument/2006/relationships/hyperlink" Target="https://matplotlib.org/stable/api/_as_gen/matplotlib.pyplot.bar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matplotlib.org/cheatsheets/_images/cheatsheets-2.png" TargetMode="External"/><Relationship Id="rId4" Type="http://schemas.openxmlformats.org/officeDocument/2006/relationships/hyperlink" Target="https://matplotlib.org/stable/plot_types/arrays/contour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293355" y="1709081"/>
            <a:ext cx="8229600" cy="858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mbria"/>
              <a:buNone/>
            </a:pPr>
            <a:r>
              <a:rPr lang="en-GB"/>
              <a:t>MiniProject Preparation</a:t>
            </a:r>
            <a:endParaRPr/>
          </a:p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293076" y="2842790"/>
            <a:ext cx="82296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3000"/>
              <a:buNone/>
            </a:pPr>
            <a:r>
              <a:rPr lang="en-GB"/>
              <a:t>Plotting different types of data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CheckIn Code: </a:t>
            </a:r>
            <a:r>
              <a:rPr lang="en-GB"/>
              <a:t>182171</a:t>
            </a:r>
            <a:endParaRPr/>
          </a:p>
        </p:txBody>
      </p:sp>
      <p:sp>
        <p:nvSpPr>
          <p:cNvPr id="60" name="Google Shape;60;p9"/>
          <p:cNvSpPr/>
          <p:nvPr/>
        </p:nvSpPr>
        <p:spPr>
          <a:xfrm>
            <a:off x="207875" y="207875"/>
            <a:ext cx="145500" cy="15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9"/>
          <p:cNvSpPr/>
          <p:nvPr/>
        </p:nvSpPr>
        <p:spPr>
          <a:xfrm>
            <a:off x="734475" y="651325"/>
            <a:ext cx="256500" cy="10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Things you’ll need</a:t>
            </a:r>
            <a:endParaRPr/>
          </a:p>
        </p:txBody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293217" y="1073431"/>
            <a:ext cx="8223598" cy="34811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CheckIn Code: </a:t>
            </a:r>
            <a:r>
              <a:rPr lang="en-GB"/>
              <a:t>182171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VLE page: Advanced Topics and Practical &gt; PC Workshops &gt; Miniproject Preparation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GB"/>
              <a:t>Download the file “data_and_scripts.zip”.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GB"/>
              <a:t>Unzip this file (Extract All…), and open the resulting folder in File Explorer</a:t>
            </a:r>
            <a:endParaRPr>
              <a:highlight>
                <a:srgbClr val="00FFFF"/>
              </a:highlight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5303B"/>
              </a:buClr>
              <a:buSzPts val="1800"/>
              <a:buFont typeface="Noto Sans Symbols"/>
              <a:buChar char="▪"/>
            </a:pPr>
            <a:r>
              <a:rPr lang="en-GB"/>
              <a:t>Download and open this presentation.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ctrTitle"/>
          </p:nvPr>
        </p:nvSpPr>
        <p:spPr>
          <a:xfrm>
            <a:off x="173808" y="248011"/>
            <a:ext cx="6892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GB"/>
              <a:t>Today’s goals</a:t>
            </a:r>
            <a:endParaRPr/>
          </a:p>
        </p:txBody>
      </p:sp>
      <p:sp>
        <p:nvSpPr>
          <p:cNvPr id="73" name="Google Shape;73;p11"/>
          <p:cNvSpPr txBox="1"/>
          <p:nvPr/>
        </p:nvSpPr>
        <p:spPr>
          <a:xfrm>
            <a:off x="554750" y="1124800"/>
            <a:ext cx="2416500" cy="3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make different types of plots.</a:t>
            </a:r>
            <a:endParaRPr b="0" i="0" sz="3000" u="none" cap="none" strike="noStrike">
              <a:solidFill>
                <a:srgbClr val="2530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1"/>
          <p:cNvSpPr txBox="1"/>
          <p:nvPr/>
        </p:nvSpPr>
        <p:spPr>
          <a:xfrm>
            <a:off x="3363750" y="1124800"/>
            <a:ext cx="2416500" cy="3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best way to plot data?</a:t>
            </a:r>
            <a:endParaRPr b="0" i="0" sz="3000" u="none" cap="none" strike="noStrike">
              <a:solidFill>
                <a:srgbClr val="2530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6172750" y="1124800"/>
            <a:ext cx="2416500" cy="3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read documentation.</a:t>
            </a:r>
            <a:endParaRPr b="0" i="0" sz="3000" u="none" cap="none" strike="noStrike">
              <a:solidFill>
                <a:srgbClr val="2530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1" title="cont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100" y="2020600"/>
            <a:ext cx="2792859" cy="209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 title="b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0875" y="2720825"/>
            <a:ext cx="2182626" cy="163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1" title="boxplo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3525" y="1933150"/>
            <a:ext cx="1837475" cy="13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 rotWithShape="1">
          <a:blip r:embed="rId6">
            <a:alphaModFix/>
          </a:blip>
          <a:srcRect b="57334" l="0" r="0" t="0"/>
          <a:stretch/>
        </p:blipFill>
        <p:spPr>
          <a:xfrm>
            <a:off x="5438632" y="2173960"/>
            <a:ext cx="3550792" cy="1104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ctrTitle"/>
          </p:nvPr>
        </p:nvSpPr>
        <p:spPr>
          <a:xfrm>
            <a:off x="173808" y="248011"/>
            <a:ext cx="6892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 Decisions Decisions…</a:t>
            </a:r>
            <a:endParaRPr/>
          </a:p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293225" y="1073425"/>
            <a:ext cx="3372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The tables on the right show the clearing temperatures (above) and melting temperatures (below) for a series of liquid crystals of different chain lengths (C</a:t>
            </a:r>
            <a:r>
              <a:rPr baseline="-25000" lang="en-GB"/>
              <a:t>8</a:t>
            </a:r>
            <a:r>
              <a:rPr lang="en-GB"/>
              <a:t>, C</a:t>
            </a:r>
            <a:r>
              <a:rPr baseline="-25000" lang="en-GB"/>
              <a:t>9</a:t>
            </a:r>
            <a:r>
              <a:rPr lang="en-GB"/>
              <a:t>, C</a:t>
            </a:r>
            <a:r>
              <a:rPr baseline="-25000" lang="en-GB" sz="1700"/>
              <a:t>10</a:t>
            </a:r>
            <a:r>
              <a:rPr lang="en-GB"/>
              <a:t>) and counterions.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How many different ways can you think of to display this data?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What reasons can you think of to choose one method over another?</a:t>
            </a:r>
            <a:endParaRPr/>
          </a:p>
        </p:txBody>
      </p:sp>
      <p:pic>
        <p:nvPicPr>
          <p:cNvPr id="86" name="Google Shape;86;p12" title="T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9625" y="2954875"/>
            <a:ext cx="5140890" cy="170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2" title="T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9625" y="2954875"/>
            <a:ext cx="5140890" cy="170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2" title="T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6020" y="1250347"/>
            <a:ext cx="5140899" cy="1704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type="ctrTitle"/>
          </p:nvPr>
        </p:nvSpPr>
        <p:spPr>
          <a:xfrm>
            <a:off x="173808" y="248011"/>
            <a:ext cx="6892914" cy="57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. </a:t>
            </a:r>
            <a:r>
              <a:rPr lang="en-GB"/>
              <a:t>Plotting with </a:t>
            </a:r>
            <a:r>
              <a:rPr lang="en-GB"/>
              <a:t>error bars</a:t>
            </a:r>
            <a:endParaRPr/>
          </a:p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293225" y="1073425"/>
            <a:ext cx="8223600" cy="3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The first graph we want to create plots the % change in ozone concentration against the % </a:t>
            </a:r>
            <a:r>
              <a:rPr lang="en-GB">
                <a:solidFill>
                  <a:schemeClr val="dk1"/>
                </a:solidFill>
              </a:rPr>
              <a:t>change in </a:t>
            </a:r>
            <a:r>
              <a:rPr lang="en-GB"/>
              <a:t>the emission of VOCs from different sources. Our first attempt at this can be found by running: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002060"/>
                </a:solidFill>
              </a:rPr>
              <a:t>python</a:t>
            </a:r>
            <a:r>
              <a:rPr lang="en-GB"/>
              <a:t> </a:t>
            </a:r>
            <a:r>
              <a:rPr lang="en-GB">
                <a:solidFill>
                  <a:srgbClr val="FF0000"/>
                </a:solidFill>
              </a:rPr>
              <a:t>ozone</a:t>
            </a:r>
            <a:r>
              <a:rPr lang="en-GB">
                <a:solidFill>
                  <a:srgbClr val="FF0000"/>
                </a:solidFill>
              </a:rPr>
              <a:t>.py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To run this, open a Terminal window (right click in the folder which contains the Python scripts), and type the instruction above.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The script should run, and will create a graph</a:t>
            </a:r>
            <a:r>
              <a:rPr lang="en-GB"/>
              <a:t> from the file as a .png (which gets saved into your working directory, you can access the image in File Explorer)</a:t>
            </a:r>
            <a:r>
              <a:rPr lang="en-GB"/>
              <a:t>. I actually remembered to label the graph this time!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ctrTitle"/>
          </p:nvPr>
        </p:nvSpPr>
        <p:spPr>
          <a:xfrm>
            <a:off x="173808" y="248011"/>
            <a:ext cx="6892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Plotting with error bars</a:t>
            </a:r>
            <a:endParaRPr/>
          </a:p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293225" y="1073425"/>
            <a:ext cx="8223600" cy="3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However, if we open the data file (</a:t>
            </a:r>
            <a:r>
              <a:rPr lang="en-GB">
                <a:solidFill>
                  <a:srgbClr val="38761D"/>
                </a:solidFill>
              </a:rPr>
              <a:t>vehicular.txt</a:t>
            </a:r>
            <a:r>
              <a:rPr lang="en-GB"/>
              <a:t>), we can see we have error bars on each point. It would be good to show these as well!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There’s a python function for that: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plt.errorbar</a:t>
            </a:r>
            <a:r>
              <a:rPr lang="en-GB"/>
              <a:t>. Let’s check the documentation.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 b="57334" l="0" r="0" t="0"/>
          <a:stretch/>
        </p:blipFill>
        <p:spPr>
          <a:xfrm>
            <a:off x="943150" y="2438975"/>
            <a:ext cx="7062349" cy="219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ctrTitle"/>
          </p:nvPr>
        </p:nvSpPr>
        <p:spPr>
          <a:xfrm>
            <a:off x="173808" y="248011"/>
            <a:ext cx="6892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Plotting with error bars</a:t>
            </a:r>
            <a:endParaRPr/>
          </a:p>
        </p:txBody>
      </p:sp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318725" y="2445927"/>
            <a:ext cx="8363400" cy="16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Replace plt.plot with plt.errorbar, and add the third column of data in </a:t>
            </a:r>
            <a:r>
              <a:rPr lang="en-GB">
                <a:solidFill>
                  <a:srgbClr val="38761D"/>
                </a:solidFill>
              </a:rPr>
              <a:t>vehicular.txt </a:t>
            </a:r>
            <a:r>
              <a:rPr lang="en-GB">
                <a:solidFill>
                  <a:schemeClr val="dk1"/>
                </a:solidFill>
              </a:rPr>
              <a:t>as the y error bars.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chemeClr val="dk1"/>
                </a:solidFill>
              </a:rPr>
              <a:t>Reminder: to select a column of a numpy array, use [:,m] after the variable name to get the (m-1) column.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chemeClr val="dk1"/>
                </a:solidFill>
              </a:rPr>
              <a:t>Optional: Add a format string (see the “notes” section of this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documentation</a:t>
            </a:r>
            <a:r>
              <a:rPr lang="en-GB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4">
            <a:alphaModFix/>
          </a:blip>
          <a:srcRect b="57333" l="0" r="0" t="11607"/>
          <a:stretch/>
        </p:blipFill>
        <p:spPr>
          <a:xfrm>
            <a:off x="1251600" y="956210"/>
            <a:ext cx="6640825" cy="150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ctrTitle"/>
          </p:nvPr>
        </p:nvSpPr>
        <p:spPr>
          <a:xfrm>
            <a:off x="173808" y="248011"/>
            <a:ext cx="6892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Plotting with error bars</a:t>
            </a:r>
            <a:endParaRPr/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443450" y="1073425"/>
            <a:ext cx="8238600" cy="3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Let’s make this graph even more useful: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Read the data from </a:t>
            </a:r>
            <a:r>
              <a:rPr lang="en-GB">
                <a:solidFill>
                  <a:srgbClr val="38761D"/>
                </a:solidFill>
              </a:rPr>
              <a:t>paint</a:t>
            </a:r>
            <a:r>
              <a:rPr lang="en-GB">
                <a:solidFill>
                  <a:srgbClr val="38761D"/>
                </a:solidFill>
              </a:rPr>
              <a:t>.txt </a:t>
            </a:r>
            <a:r>
              <a:rPr lang="en-GB">
                <a:solidFill>
                  <a:schemeClr val="dk1"/>
                </a:solidFill>
              </a:rPr>
              <a:t>and</a:t>
            </a:r>
            <a:r>
              <a:rPr lang="en-GB">
                <a:solidFill>
                  <a:srgbClr val="38761D"/>
                </a:solidFill>
              </a:rPr>
              <a:t> solvents.txt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Add a line, with error bars, for each of those data sources, labelling them appropriately.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Optional: Let’s make the graph even more beautiful.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Make every line formatted differently, with different colours and patterns.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Add a cap to the end of the error bars (check the documentation).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ctrTitle"/>
          </p:nvPr>
        </p:nvSpPr>
        <p:spPr>
          <a:xfrm>
            <a:off x="173808" y="248011"/>
            <a:ext cx="6892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Summarising data</a:t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293225" y="1073425"/>
            <a:ext cx="8223600" cy="3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For our next graph, we have a new dataset in </a:t>
            </a:r>
            <a:r>
              <a:rPr lang="en-GB">
                <a:solidFill>
                  <a:srgbClr val="38761D"/>
                </a:solidFill>
              </a:rPr>
              <a:t>green</a:t>
            </a:r>
            <a:r>
              <a:rPr lang="en-GB">
                <a:solidFill>
                  <a:srgbClr val="38761D"/>
                </a:solidFill>
              </a:rPr>
              <a:t>.csv. </a:t>
            </a:r>
            <a:r>
              <a:rPr lang="en-GB">
                <a:solidFill>
                  <a:schemeClr val="dk1"/>
                </a:solidFill>
              </a:rPr>
              <a:t>Open it to take a look at what the data looks like.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chemeClr val="dk1"/>
                </a:solidFill>
              </a:rPr>
              <a:t>It contains a series of reaction conditions for the reaction above, with the yield and enantiomeric excess for each listed.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chemeClr val="dk1"/>
                </a:solidFill>
              </a:rPr>
              <a:t>We want to see the effect of changing the base between TEA and DIPEA.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175" y="1767500"/>
            <a:ext cx="6989149" cy="133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ctrTitle"/>
          </p:nvPr>
        </p:nvSpPr>
        <p:spPr>
          <a:xfrm>
            <a:off x="173808" y="248011"/>
            <a:ext cx="6892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The Pandas library</a:t>
            </a:r>
            <a:endParaRPr/>
          </a:p>
        </p:txBody>
      </p:sp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293225" y="1073425"/>
            <a:ext cx="8223600" cy="3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Today we are using a new Python library called “pandas”. It is similar to numpy - in some ways easier to use, and in some way more confusing (IMO).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GB"/>
              <a:t>Loading data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data = pd.read_csv('green.csv')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GB"/>
              <a:t>Selecting data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tea = data[data['Base']=='TEA']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GB">
                <a:solidFill>
                  <a:schemeClr val="dk1"/>
                </a:solidFill>
              </a:rPr>
              <a:t>Accessing data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chemeClr val="dk1"/>
                </a:solidFill>
              </a:rPr>
              <a:t>tea_yield = tea['Yield (%)'].values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ctrTitle"/>
          </p:nvPr>
        </p:nvSpPr>
        <p:spPr>
          <a:xfrm>
            <a:off x="173808" y="248011"/>
            <a:ext cx="6892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Summarising data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293225" y="2141050"/>
            <a:ext cx="4278900" cy="26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EITHER Box plot: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Look up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matplotlib documentation of a box plot</a:t>
            </a:r>
            <a:r>
              <a:rPr lang="en-GB"/>
              <a:t>, and create a box plot of the reaction yields when TEA and DIPEA are the bases.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Add labels to the two box plots (see the “tick_labels” option).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293225" y="1073425"/>
            <a:ext cx="8513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GB"/>
              <a:t>Modify </a:t>
            </a:r>
            <a:r>
              <a:rPr lang="en-GB">
                <a:solidFill>
                  <a:schemeClr val="accent4"/>
                </a:solidFill>
              </a:rPr>
              <a:t>yields.py</a:t>
            </a:r>
            <a:r>
              <a:rPr lang="en-GB"/>
              <a:t> to add a box plot or a bar chart to </a:t>
            </a:r>
            <a:r>
              <a:rPr lang="en-GB">
                <a:solidFill>
                  <a:schemeClr val="dk1"/>
                </a:solidFill>
              </a:rPr>
              <a:t>show</a:t>
            </a:r>
            <a:r>
              <a:rPr lang="en-GB">
                <a:solidFill>
                  <a:schemeClr val="dk1"/>
                </a:solidFill>
              </a:rPr>
              <a:t> the effect of changing the base.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Create a new variable which contains only rows of the data where the base is DIPEA.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Create a variable which only contains the yields from the rows above.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4649350" y="2141050"/>
            <a:ext cx="4226700" cy="26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OR Bar Chart: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Use a numpy </a:t>
            </a:r>
            <a:r>
              <a:rPr lang="en-GB"/>
              <a:t>function</a:t>
            </a:r>
            <a:r>
              <a:rPr lang="en-GB"/>
              <a:t> to calculate the average yield when </a:t>
            </a:r>
            <a:r>
              <a:rPr lang="en-GB">
                <a:solidFill>
                  <a:schemeClr val="dk1"/>
                </a:solidFill>
              </a:rPr>
              <a:t>TEA and DIPEA is the base.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Look up the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matplotlib documentation of a bar chart</a:t>
            </a:r>
            <a:r>
              <a:rPr lang="en-GB"/>
              <a:t>, and plot these averages on a chart.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ctrTitle"/>
          </p:nvPr>
        </p:nvSpPr>
        <p:spPr>
          <a:xfrm>
            <a:off x="173808" y="248011"/>
            <a:ext cx="6892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Summarising data</a:t>
            </a:r>
            <a:endParaRPr/>
          </a:p>
        </p:txBody>
      </p:sp>
      <p:pic>
        <p:nvPicPr>
          <p:cNvPr id="141" name="Google Shape;141;p20" title="b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9102"/>
            <a:ext cx="4293150" cy="3219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 title="box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8450" y="979097"/>
            <a:ext cx="4293150" cy="32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ctrTitle"/>
          </p:nvPr>
        </p:nvSpPr>
        <p:spPr>
          <a:xfrm>
            <a:off x="173808" y="248011"/>
            <a:ext cx="6892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 3D data</a:t>
            </a:r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293225" y="1940125"/>
            <a:ext cx="8513700" cy="28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Run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002060"/>
                </a:solidFill>
              </a:rPr>
              <a:t>python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rgbClr val="FF0000"/>
                </a:solidFill>
              </a:rPr>
              <a:t>contour.py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Then decorate your plot to make it beautiful.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Add axis labels, a title, and a colorbar.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Try using filled contours with the function “contourf”.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Modify the colours of the plot, using either the argument “color” to specify a list of colours, or “cmap” to use a predefined colourmap.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Available colours and maps.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Check the other arguments in the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documentation</a:t>
            </a:r>
            <a:r>
              <a:rPr lang="en-GB"/>
              <a:t> for further modifications.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293225" y="1073425"/>
            <a:ext cx="8513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Sometimes we have data which depends on 2 variables, and we want to show the effect of both at the same time. For example, </a:t>
            </a:r>
            <a:r>
              <a:rPr lang="en-GB">
                <a:solidFill>
                  <a:srgbClr val="38761D"/>
                </a:solidFill>
              </a:rPr>
              <a:t>activity.txt</a:t>
            </a:r>
            <a:r>
              <a:rPr lang="en-GB"/>
              <a:t> shows how the % activity of an enzyme varies with both pH and temperature.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ctrTitle"/>
          </p:nvPr>
        </p:nvSpPr>
        <p:spPr>
          <a:xfrm>
            <a:off x="173808" y="248011"/>
            <a:ext cx="6892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 Multiple plots</a:t>
            </a:r>
            <a:endParaRPr/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293225" y="1073425"/>
            <a:ext cx="8513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Back to reaction data - have varying solvent as well as base.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Is yield correlated with EE?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Does that depend on Solvent choice/ Base choice?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ctrTitle"/>
          </p:nvPr>
        </p:nvSpPr>
        <p:spPr>
          <a:xfrm>
            <a:off x="173808" y="248011"/>
            <a:ext cx="6892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 Multiple plots</a:t>
            </a:r>
            <a:endParaRPr/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293225" y="1073425"/>
            <a:ext cx="8513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It can be helpful to split data across two plots, to make sure a single plot doesn’t become too cluttered. Thankfully there’s an easy way to do that in Python (</a:t>
            </a:r>
            <a:r>
              <a:rPr lang="en-GB">
                <a:solidFill>
                  <a:schemeClr val="accent4"/>
                </a:solidFill>
              </a:rPr>
              <a:t>multiplot.py</a:t>
            </a:r>
            <a:r>
              <a:rPr lang="en-GB">
                <a:solidFill>
                  <a:schemeClr val="dk1"/>
                </a:solidFill>
              </a:rPr>
              <a:t>)</a:t>
            </a:r>
            <a:r>
              <a:rPr lang="en-GB"/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fig, ax = plt.subplots(1,2)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This creates one Figure (controlled by the variable fig) with two sets of axes. These are stored in a list in the variable ax: ax[0] is the first plot, ax[1] is the second.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To modify a particular set of axes, we can run ax[1].function_name(). For example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ax[1].scatter(tea_yield,tea_ee)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creates a scatter plot on axis 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ctrTitle"/>
          </p:nvPr>
        </p:nvSpPr>
        <p:spPr>
          <a:xfrm>
            <a:off x="173808" y="248011"/>
            <a:ext cx="6892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25" lIns="81650" spcFirstLastPara="1" rIns="81650" wrap="square" tIns="408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 Multiple plots</a:t>
            </a:r>
            <a:endParaRPr/>
          </a:p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293225" y="873050"/>
            <a:ext cx="8513700" cy="3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25" lIns="81650" spcFirstLastPara="1" rIns="81650" wrap="square" tIns="40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To see our starting point, run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002060"/>
                </a:solidFill>
              </a:rPr>
              <a:t>python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rgbClr val="FF0000"/>
                </a:solidFill>
              </a:rPr>
              <a:t>multiplot</a:t>
            </a:r>
            <a:r>
              <a:rPr lang="en-GB">
                <a:solidFill>
                  <a:srgbClr val="FF0000"/>
                </a:solidFill>
              </a:rPr>
              <a:t>.py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Then complete the following steps: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On axis 0, add a scatter plot of the yield against enantiomeric excess when the solvent is CPME.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Add x axis labels to both sets of axes, and a y axis label only to the left hand axis.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Make sure that the scale of the y axis is the same in both plots.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Add a title to the figure (not the axes).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Advanced: For each set of axes (and therefore for each solvent separately), plot a scatter of the yield against </a:t>
            </a:r>
            <a:r>
              <a:rPr lang="en-GB">
                <a:solidFill>
                  <a:schemeClr val="dk1"/>
                </a:solidFill>
              </a:rPr>
              <a:t>enantiomeric excess when the base is TEA and DIPEA separately. Add a legend.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University of York Colour Palette">
      <a:dk1>
        <a:srgbClr val="25303B"/>
      </a:dk1>
      <a:lt1>
        <a:srgbClr val="FFFFFF"/>
      </a:lt1>
      <a:dk2>
        <a:srgbClr val="E3E6E5"/>
      </a:dk2>
      <a:lt2>
        <a:srgbClr val="00627D"/>
      </a:lt2>
      <a:accent1>
        <a:srgbClr val="5AB031"/>
      </a:accent1>
      <a:accent2>
        <a:srgbClr val="9067A9"/>
      </a:accent2>
      <a:accent3>
        <a:srgbClr val="E2388C"/>
      </a:accent3>
      <a:accent4>
        <a:srgbClr val="E62A32"/>
      </a:accent4>
      <a:accent5>
        <a:srgbClr val="F18626"/>
      </a:accent5>
      <a:accent6>
        <a:srgbClr val="00ABAA"/>
      </a:accent6>
      <a:hlink>
        <a:srgbClr val="0096D6"/>
      </a:hlink>
      <a:folHlink>
        <a:srgbClr val="E238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