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c204ffd46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c204ffd4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d579dd71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d579dd71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1b21acd8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1b21acd8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0783e7d3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d0783e7d3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1b21acd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d1b21acd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1b21acd8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1b21acd8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1b21acd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d1b21acd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1b21acd8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1b21acd8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1b21acd8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1b21acd8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1b21acd8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d1b21acd8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1b21acd8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1b21acd8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1b21acd8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1b21acd8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1b21acd8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d1b21acd8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1b21acd8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1b21acd8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1b21acd8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1b21acd8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1f9016a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d1f9016a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1f9016ad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d1f9016ad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1f9016ad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d1f9016ad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1f9016ad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1f9016ad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1f9016ad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d1f9016ad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1f9016ad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1f9016ad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1f9016a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1f9016a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d1f9016ad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d1f9016ad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1f9016ad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1f9016ad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5" y="2791900"/>
            <a:ext cx="7688100" cy="21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8864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874622"/>
            <a:ext cx="76887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1393075"/>
            <a:ext cx="76887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111950" y="29175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Mass Spectrometry Isotope Patterns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826950" y="29175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Dr. Alan M. Lewis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2937150" y="29400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8864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25" y="1393075"/>
            <a:ext cx="37743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43602" y="1393075"/>
            <a:ext cx="37743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111950" y="29175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Mass Spectrometry Isotope Patterns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5826950" y="29175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Dr. Alan M. Lewis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2937150" y="29400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9" name="Google Shape;49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6" name="Google Shape;56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111950" y="29175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Mass Spectrometry Isotope Patterns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5826950" y="29175"/>
            <a:ext cx="32733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Dr. Alan M. Lewis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3" name="Google Shape;8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file/d/1-AeRry80hnoOy0wmQqq5nd4BGE1ElEy-/view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google.com/document/d/1eBMUNUDO44L2uZdlVO8WVgcaOtTnrG5N/edit" TargetMode="External"/><Relationship Id="rId4" Type="http://schemas.openxmlformats.org/officeDocument/2006/relationships/hyperlink" Target="https://www.chem.ualberta.ca/~massspec/atomic_mass_abund.pd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document/d/1eBMUNUDO44L2uZdlVO8WVgcaOtTnrG5N/edit" TargetMode="External"/><Relationship Id="rId4" Type="http://schemas.openxmlformats.org/officeDocument/2006/relationships/hyperlink" Target="https://www.chem.ualberta.ca/~massspec/atomic_mass_abund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580"/>
              <a:t>Mass Spectrometry Isotope Patterns</a:t>
            </a:r>
            <a:endParaRPr sz="3580"/>
          </a:p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29625" y="2791900"/>
            <a:ext cx="7688100" cy="21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PC Workshop - Introductory Skills and Practical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Dr. Alan M. Lewis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076025" y="3609100"/>
            <a:ext cx="3767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Checkin: </a:t>
            </a:r>
            <a:r>
              <a:rPr b="1" lang="en-GB" sz="2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672070</a:t>
            </a:r>
            <a:endParaRPr b="1" sz="24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730000" y="1318650"/>
            <a:ext cx="3300900" cy="21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33"/>
              <a:t>VLE Page:</a:t>
            </a:r>
            <a:endParaRPr sz="29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Introductory Skills and Practical 2 &gt; PC Sessions</a:t>
            </a:r>
            <a:endParaRPr b="0"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&gt; Mass Spectrometry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>
            <p:ph idx="2" type="body"/>
          </p:nvPr>
        </p:nvSpPr>
        <p:spPr>
          <a:xfrm>
            <a:off x="4855350" y="590625"/>
            <a:ext cx="36933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Setup: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Download 3 Python (.py) files.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 a new folder and move all 3 Python files into it.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Open Powershell by holding shift, right clicking in the folder, and selecting “Open Powershell here”.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Find a pen and paper</a:t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61425" y="3609100"/>
            <a:ext cx="3767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Checkin: </a:t>
            </a:r>
            <a:r>
              <a:rPr b="1" lang="en-GB" sz="2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672070</a:t>
            </a:r>
            <a:endParaRPr b="1" sz="24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Isotope Patterns in Mass Spectrometry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729325" y="1393075"/>
            <a:ext cx="37743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element has isotopes: atoms with the same number of protons and different numbers of neutrons.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E.g. ~99% of carbon atoms are </a:t>
            </a:r>
            <a:r>
              <a:rPr baseline="30000" lang="en-GB"/>
              <a:t>12</a:t>
            </a:r>
            <a:r>
              <a:rPr lang="en-GB"/>
              <a:t>C;</a:t>
            </a:r>
            <a:br>
              <a:rPr lang="en-GB"/>
            </a:br>
            <a:r>
              <a:rPr lang="en-GB"/>
              <a:t>       ~1% are </a:t>
            </a:r>
            <a:r>
              <a:rPr baseline="30000" lang="en-GB"/>
              <a:t>13</a:t>
            </a:r>
            <a:r>
              <a:rPr lang="en-GB"/>
              <a:t>C.</a:t>
            </a:r>
            <a:endParaRPr/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Isotope Patterns in Mass Spectrometry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729325" y="1393075"/>
            <a:ext cx="37743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element has isotopes: atoms with the same number of protons and different numbers of neutrons.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E.g. ~99% of carbon atoms are </a:t>
            </a:r>
            <a:r>
              <a:rPr baseline="30000" lang="en-GB"/>
              <a:t>12</a:t>
            </a:r>
            <a:r>
              <a:rPr lang="en-GB"/>
              <a:t>C;</a:t>
            </a:r>
            <a:br>
              <a:rPr lang="en-GB"/>
            </a:br>
            <a:r>
              <a:rPr lang="en-GB"/>
              <a:t>       ~1% are </a:t>
            </a:r>
            <a:r>
              <a:rPr baseline="30000" lang="en-GB"/>
              <a:t>13</a:t>
            </a:r>
            <a:r>
              <a:rPr lang="en-GB"/>
              <a:t>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This affects the mass spectrum we see in mass spectroscopy:</a:t>
            </a:r>
            <a:endParaRPr/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Mass Spectrum of Methane" id="119" name="Google Shape;11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150" y="1393075"/>
            <a:ext cx="4618766" cy="346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6"/>
          <p:cNvCxnSpPr/>
          <p:nvPr/>
        </p:nvCxnSpPr>
        <p:spPr>
          <a:xfrm flipH="1">
            <a:off x="8203250" y="2305225"/>
            <a:ext cx="263100" cy="1855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1" name="Google Shape;121;p16"/>
          <p:cNvSpPr txBox="1"/>
          <p:nvPr/>
        </p:nvSpPr>
        <p:spPr>
          <a:xfrm>
            <a:off x="8268400" y="2381425"/>
            <a:ext cx="1045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Small M+1</a:t>
            </a:r>
            <a:br>
              <a:rPr lang="en-GB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peak</a:t>
            </a:r>
            <a:endParaRPr sz="18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minute activity</a:t>
            </a:r>
            <a:endParaRPr/>
          </a:p>
        </p:txBody>
      </p:sp>
      <p:sp>
        <p:nvSpPr>
          <p:cNvPr id="127" name="Google Shape;127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Sketch the mass spectrum of HCl.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/>
              <a:t>Assume all H atoms have mass 1, 75% of Cl atoms are </a:t>
            </a:r>
            <a:r>
              <a:rPr baseline="30000" lang="en-GB" sz="2200"/>
              <a:t>35</a:t>
            </a:r>
            <a:r>
              <a:rPr lang="en-GB" sz="2200"/>
              <a:t>Cl, and 25% are </a:t>
            </a:r>
            <a:r>
              <a:rPr baseline="30000" lang="en-GB" sz="2200"/>
              <a:t>37</a:t>
            </a:r>
            <a:r>
              <a:rPr lang="en-GB" sz="2200"/>
              <a:t>Cl.</a:t>
            </a:r>
            <a:endParaRPr sz="2200"/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isotopes in a molecule</a:t>
            </a: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Every element has isotopes: in a molecule we need to think about all possible combinations of isotopes.</a:t>
            </a:r>
            <a:endParaRPr/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isotopes in a molecule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element has isotopes: in a molecule we need to think about all possible combinations of isotopes.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E.g. C</a:t>
            </a:r>
            <a:r>
              <a:rPr baseline="-25000" lang="en-GB"/>
              <a:t>2</a:t>
            </a:r>
            <a:r>
              <a:rPr lang="en-GB"/>
              <a:t>H</a:t>
            </a:r>
            <a:r>
              <a:rPr baseline="-25000" lang="en-GB"/>
              <a:t>6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Probability of </a:t>
            </a:r>
            <a:r>
              <a:rPr baseline="30000" lang="en-GB"/>
              <a:t>12</a:t>
            </a:r>
            <a:r>
              <a:rPr lang="en-GB"/>
              <a:t>C</a:t>
            </a:r>
            <a:r>
              <a:rPr baseline="-25000" lang="en-GB"/>
              <a:t>2</a:t>
            </a:r>
            <a:r>
              <a:rPr lang="en-GB"/>
              <a:t>H</a:t>
            </a:r>
            <a:r>
              <a:rPr baseline="-25000" lang="en-GB"/>
              <a:t>6</a:t>
            </a:r>
            <a:r>
              <a:rPr lang="en-GB"/>
              <a:t>: 0.99</a:t>
            </a:r>
            <a:r>
              <a:rPr baseline="30000" lang="en-GB"/>
              <a:t>2</a:t>
            </a:r>
            <a:r>
              <a:rPr lang="en-GB"/>
              <a:t> ≅ 0.98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Probability of </a:t>
            </a:r>
            <a:r>
              <a:rPr baseline="30000" lang="en-GB"/>
              <a:t>12</a:t>
            </a:r>
            <a:r>
              <a:rPr lang="en-GB"/>
              <a:t>C</a:t>
            </a:r>
            <a:r>
              <a:rPr baseline="30000" lang="en-GB"/>
              <a:t>13</a:t>
            </a:r>
            <a:r>
              <a:rPr lang="en-GB"/>
              <a:t>CH</a:t>
            </a:r>
            <a:r>
              <a:rPr baseline="-25000" lang="en-GB"/>
              <a:t>6</a:t>
            </a:r>
            <a:r>
              <a:rPr lang="en-GB"/>
              <a:t>: 0.99 x 0.01 x 2 ≅ 0.02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Probability of </a:t>
            </a:r>
            <a:r>
              <a:rPr baseline="30000" lang="en-GB"/>
              <a:t>13</a:t>
            </a:r>
            <a:r>
              <a:rPr lang="en-GB"/>
              <a:t>C</a:t>
            </a:r>
            <a:r>
              <a:rPr baseline="-25000" lang="en-GB"/>
              <a:t>2</a:t>
            </a:r>
            <a:r>
              <a:rPr lang="en-GB"/>
              <a:t>H</a:t>
            </a:r>
            <a:r>
              <a:rPr baseline="-25000" lang="en-GB"/>
              <a:t>6</a:t>
            </a:r>
            <a:r>
              <a:rPr lang="en-GB"/>
              <a:t>: 0.01</a:t>
            </a:r>
            <a:r>
              <a:rPr baseline="30000" lang="en-GB"/>
              <a:t>2</a:t>
            </a:r>
            <a:r>
              <a:rPr lang="en-GB"/>
              <a:t> ≅ 0.00</a:t>
            </a:r>
            <a:endParaRPr/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isotopes in a molecule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 element has isotopes: in a molecule we need to think about all possible combinations of isotopes.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E.g. C</a:t>
            </a:r>
            <a:r>
              <a:rPr baseline="-25000" lang="en-GB"/>
              <a:t>2</a:t>
            </a:r>
            <a:r>
              <a:rPr lang="en-GB"/>
              <a:t>H</a:t>
            </a:r>
            <a:r>
              <a:rPr baseline="-25000" lang="en-GB"/>
              <a:t>6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Probability of </a:t>
            </a:r>
            <a:r>
              <a:rPr baseline="30000" lang="en-GB"/>
              <a:t>12</a:t>
            </a:r>
            <a:r>
              <a:rPr lang="en-GB"/>
              <a:t>C</a:t>
            </a:r>
            <a:r>
              <a:rPr baseline="-25000" lang="en-GB"/>
              <a:t>2</a:t>
            </a:r>
            <a:r>
              <a:rPr lang="en-GB"/>
              <a:t>H</a:t>
            </a:r>
            <a:r>
              <a:rPr baseline="-25000" lang="en-GB"/>
              <a:t>6</a:t>
            </a:r>
            <a:r>
              <a:rPr lang="en-GB"/>
              <a:t>: 0.99</a:t>
            </a:r>
            <a:r>
              <a:rPr baseline="30000" lang="en-GB"/>
              <a:t>2</a:t>
            </a:r>
            <a:r>
              <a:rPr lang="en-GB"/>
              <a:t> ≅ 0.98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Probability of </a:t>
            </a:r>
            <a:r>
              <a:rPr baseline="30000" lang="en-GB"/>
              <a:t>12</a:t>
            </a:r>
            <a:r>
              <a:rPr lang="en-GB"/>
              <a:t>C</a:t>
            </a:r>
            <a:r>
              <a:rPr baseline="30000" lang="en-GB"/>
              <a:t>13</a:t>
            </a:r>
            <a:r>
              <a:rPr lang="en-GB"/>
              <a:t>CH</a:t>
            </a:r>
            <a:r>
              <a:rPr baseline="-25000" lang="en-GB"/>
              <a:t>6</a:t>
            </a:r>
            <a:r>
              <a:rPr lang="en-GB"/>
              <a:t>: 0.99 x 0.01 x 2 ≅ 0.02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Probability of </a:t>
            </a:r>
            <a:r>
              <a:rPr baseline="30000" lang="en-GB"/>
              <a:t>13</a:t>
            </a:r>
            <a:r>
              <a:rPr lang="en-GB"/>
              <a:t>C</a:t>
            </a:r>
            <a:r>
              <a:rPr baseline="-25000" lang="en-GB"/>
              <a:t>2</a:t>
            </a:r>
            <a:r>
              <a:rPr lang="en-GB"/>
              <a:t>H</a:t>
            </a:r>
            <a:r>
              <a:rPr baseline="-25000" lang="en-GB"/>
              <a:t>6</a:t>
            </a:r>
            <a:r>
              <a:rPr lang="en-GB"/>
              <a:t>: 0.01</a:t>
            </a:r>
            <a:r>
              <a:rPr baseline="30000" lang="en-GB"/>
              <a:t>2</a:t>
            </a:r>
            <a:r>
              <a:rPr lang="en-GB"/>
              <a:t> ≅ 0.00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(See “Calculating peak intensities method 2”, NJW lecture 2)</a:t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minute activity</a:t>
            </a:r>
            <a:endParaRPr/>
          </a:p>
        </p:txBody>
      </p:sp>
      <p:sp>
        <p:nvSpPr>
          <p:cNvPr id="155" name="Google Shape;15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Sketch the mass spectrum of Cl</a:t>
            </a:r>
            <a:r>
              <a:rPr baseline="-25000" lang="en-GB" sz="2200"/>
              <a:t>2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/>
              <a:t>Assume 75% of Cl atoms are </a:t>
            </a:r>
            <a:r>
              <a:rPr baseline="30000" lang="en-GB" sz="2200"/>
              <a:t>35</a:t>
            </a:r>
            <a:r>
              <a:rPr lang="en-GB" sz="2200"/>
              <a:t>Cl, and 25% are </a:t>
            </a:r>
            <a:r>
              <a:rPr baseline="30000" lang="en-GB" sz="2200"/>
              <a:t>37</a:t>
            </a:r>
            <a:r>
              <a:rPr lang="en-GB" sz="2200"/>
              <a:t>Cl.</a:t>
            </a:r>
            <a:endParaRPr sz="2200"/>
          </a:p>
        </p:txBody>
      </p:sp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100 minute activity</a:t>
            </a:r>
            <a:endParaRPr/>
          </a:p>
        </p:txBody>
      </p:sp>
      <p:sp>
        <p:nvSpPr>
          <p:cNvPr id="162" name="Google Shape;162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Sketch the mass spectrum of C</a:t>
            </a:r>
            <a:r>
              <a:rPr baseline="-25000" lang="en-GB" sz="2200"/>
              <a:t>60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/>
              <a:t>Assume 99% of C atoms are </a:t>
            </a:r>
            <a:r>
              <a:rPr baseline="30000" lang="en-GB" sz="2200"/>
              <a:t>12</a:t>
            </a:r>
            <a:r>
              <a:rPr lang="en-GB" sz="2200"/>
              <a:t>C, and 1% are </a:t>
            </a:r>
            <a:r>
              <a:rPr baseline="30000" lang="en-GB" sz="2200"/>
              <a:t>13</a:t>
            </a:r>
            <a:r>
              <a:rPr lang="en-GB" sz="2200"/>
              <a:t>C.</a:t>
            </a:r>
            <a:endParaRPr sz="2200"/>
          </a:p>
        </p:txBody>
      </p:sp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100 minute activity</a:t>
            </a:r>
            <a:endParaRPr/>
          </a:p>
        </p:txBody>
      </p:sp>
      <p:sp>
        <p:nvSpPr>
          <p:cNvPr id="169" name="Google Shape;169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Sketch the mass spectrum of C</a:t>
            </a:r>
            <a:r>
              <a:rPr baseline="-25000" lang="en-GB" sz="2200"/>
              <a:t>60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/>
              <a:t>Assume 99% of C atoms are </a:t>
            </a:r>
            <a:r>
              <a:rPr baseline="30000" lang="en-GB" sz="2200"/>
              <a:t>12</a:t>
            </a:r>
            <a:r>
              <a:rPr lang="en-GB" sz="2200"/>
              <a:t>C, and 1% are </a:t>
            </a:r>
            <a:r>
              <a:rPr baseline="30000" lang="en-GB" sz="2200"/>
              <a:t>13</a:t>
            </a:r>
            <a:r>
              <a:rPr lang="en-GB" sz="2200"/>
              <a:t>C.</a:t>
            </a:r>
            <a:endParaRPr sz="2200"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1" name="Google Shape;171;p23"/>
          <p:cNvCxnSpPr/>
          <p:nvPr/>
        </p:nvCxnSpPr>
        <p:spPr>
          <a:xfrm>
            <a:off x="403400" y="648350"/>
            <a:ext cx="7945800" cy="394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3"/>
          <p:cNvCxnSpPr/>
          <p:nvPr/>
        </p:nvCxnSpPr>
        <p:spPr>
          <a:xfrm flipH="1">
            <a:off x="403400" y="648350"/>
            <a:ext cx="7945800" cy="394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Mass Spectra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729325" y="1393075"/>
            <a:ext cx="7857600" cy="3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Computers are faster at maths than us!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 have written a Python program which will calculate each of the probabilities. In Powershell, type: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FF"/>
                </a:solidFill>
              </a:rPr>
              <a:t>python </a:t>
            </a:r>
            <a:r>
              <a:rPr i="1" lang="en-GB">
                <a:solidFill>
                  <a:srgbClr val="FF0000"/>
                </a:solidFill>
              </a:rPr>
              <a:t>ms_pattern.py</a:t>
            </a:r>
            <a:endParaRPr i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should produce two files: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isotope_pattern.png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isotope_pattern.csv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first is the plot of the mass spectrum; the second is the raw data used to make the plot. Open the .png file - does the spectrum look right?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Mass Spectra</a:t>
            </a:r>
            <a:endParaRPr/>
          </a:p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729325" y="1393075"/>
            <a:ext cx="7857600" cy="3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good start! We want to: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label the axes properly.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scale every peak so the largest peak has intensity 100.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Open </a:t>
            </a:r>
            <a:r>
              <a:rPr lang="en-GB">
                <a:solidFill>
                  <a:srgbClr val="FF0000"/>
                </a:solidFill>
              </a:rPr>
              <a:t>ms_pattern.py </a:t>
            </a:r>
            <a:r>
              <a:rPr lang="en-GB"/>
              <a:t>in Notepad++ and try to make these changes.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relabeled axes last time - find the “PLOTTING DETAILS” section.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</a:t>
            </a:r>
            <a:r>
              <a:rPr lang="en-GB"/>
              <a:t>ind the “DATA MANIPULATION” section. </a:t>
            </a:r>
            <a:r>
              <a:rPr lang="en-GB"/>
              <a:t>The numpy function to find the maximum value in a list is </a:t>
            </a:r>
            <a:r>
              <a:rPr lang="en-GB">
                <a:solidFill>
                  <a:srgbClr val="38761D"/>
                </a:solidFill>
              </a:rPr>
              <a:t>np.max(y)</a:t>
            </a:r>
            <a:r>
              <a:rPr lang="en-GB"/>
              <a:t>. You might also find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this list of functions</a:t>
            </a:r>
            <a:r>
              <a:rPr lang="en-GB"/>
              <a:t> helpful.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Remember to save the python file and re-run using PowerShell to test!</a:t>
            </a:r>
            <a:endParaRPr/>
          </a:p>
        </p:txBody>
      </p:sp>
      <p:sp>
        <p:nvSpPr>
          <p:cNvPr id="186" name="Google Shape;186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Mass Spectra</a:t>
            </a:r>
            <a:endParaRPr/>
          </a:p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You should have a spectrum which looks like this:</a:t>
            </a:r>
            <a:endParaRPr/>
          </a:p>
        </p:txBody>
      </p:sp>
      <p:sp>
        <p:nvSpPr>
          <p:cNvPr id="193" name="Google Shape;193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Calculated spectrum of C60" id="194" name="Google Shape;194;p26"/>
          <p:cNvPicPr preferRelativeResize="0"/>
          <p:nvPr/>
        </p:nvPicPr>
        <p:blipFill rotWithShape="1">
          <a:blip r:embed="rId3">
            <a:alphaModFix/>
          </a:blip>
          <a:srcRect b="0" l="0" r="6785" t="11316"/>
          <a:stretch/>
        </p:blipFill>
        <p:spPr>
          <a:xfrm>
            <a:off x="2556200" y="1805775"/>
            <a:ext cx="4630200" cy="33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Favourite Molecule 1</a:t>
            </a:r>
            <a:endParaRPr/>
          </a:p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729325" y="1393075"/>
            <a:ext cx="7857600" cy="3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this program to predict the isotope pattern of any molecule.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Open ChemDraw and draw your favourite molecule which you can make out of </a:t>
            </a:r>
            <a:r>
              <a:rPr lang="en-GB"/>
              <a:t>only</a:t>
            </a:r>
            <a:r>
              <a:rPr lang="en-GB"/>
              <a:t> C, H, N, and O atoms.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View &gt; Show Analysis to get the formula for your molecule.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Copy that formula into </a:t>
            </a:r>
            <a:r>
              <a:rPr lang="en-GB"/>
              <a:t>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‘mol’</a:t>
            </a:r>
            <a:r>
              <a:rPr lang="en-GB"/>
              <a:t> variable in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(Optional) Change the variable </a:t>
            </a:r>
            <a:r>
              <a:rPr lang="en-GB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  <a:r>
              <a:rPr lang="en-GB"/>
              <a:t> to change the name of the png file and csv file you will make - if not your old file will be overwritten. Suggestion: add </a:t>
            </a:r>
            <a:r>
              <a:rPr lang="en-GB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+ mol</a:t>
            </a:r>
            <a:r>
              <a:rPr lang="en-GB"/>
              <a:t> to the end of the line - what </a:t>
            </a:r>
            <a:r>
              <a:rPr lang="en-GB"/>
              <a:t>will this do?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 in PowerShell and check your new spectrum looks like you expect it to.</a:t>
            </a:r>
            <a:endParaRPr/>
          </a:p>
        </p:txBody>
      </p:sp>
      <p:sp>
        <p:nvSpPr>
          <p:cNvPr id="201" name="Google Shape;201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Favourite Molecule 2</a:t>
            </a:r>
            <a:endParaRPr/>
          </a:p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this program to predict the isotope pattern of any molecule.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Open ChemDraw and draw your favourite molecule </a:t>
            </a:r>
            <a:r>
              <a:rPr b="1" lang="en-GB"/>
              <a:t>which includes at least one atom which is not</a:t>
            </a:r>
            <a:r>
              <a:rPr b="1" lang="en-GB"/>
              <a:t> C, H, N, or O</a:t>
            </a:r>
            <a:r>
              <a:rPr b="1" lang="en-GB"/>
              <a:t>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View &gt; Show Analysis to get the formula for your molecule.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Copy that formula into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, changing 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‘mol’</a:t>
            </a:r>
            <a:r>
              <a:rPr lang="en-GB"/>
              <a:t> variable.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(Optional) </a:t>
            </a:r>
            <a:r>
              <a:rPr lang="en-GB"/>
              <a:t>Change the variable </a:t>
            </a:r>
            <a:r>
              <a:rPr lang="en-GB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fname.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 in PowerShell: </a:t>
            </a:r>
            <a:r>
              <a:rPr b="1" lang="en-GB"/>
              <a:t>you will get an error message!</a:t>
            </a:r>
            <a:endParaRPr b="1"/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Python Errors</a:t>
            </a:r>
            <a:endParaRPr/>
          </a:p>
        </p:txBody>
      </p:sp>
      <p:sp>
        <p:nvSpPr>
          <p:cNvPr id="214" name="Google Shape;214;p29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Traceback (most recent call last):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File "???/ms_pattern.py",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 49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, in &lt;module&gt;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atom_data = np.array(data[atom])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KeyError: 'Cl'</a:t>
            </a:r>
            <a:endParaRPr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Python Errors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Traceback (most recent call last):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File "???/ms_pattern.py",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 49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, in &lt;module&gt;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atom_data = np.array(data[atom])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KeyError: 'Cl'</a:t>
            </a:r>
            <a:endParaRPr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Need to find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GB"/>
              <a:t> variable: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from isotope_data import data</a:t>
            </a:r>
            <a:endParaRPr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Need to find 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isotope_data</a:t>
            </a:r>
            <a:r>
              <a:rPr lang="en-GB"/>
              <a:t> file!</a:t>
            </a:r>
            <a:endParaRPr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Python Errors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729325" y="1393075"/>
            <a:ext cx="7857600" cy="3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isotope_data.py </a:t>
            </a:r>
            <a:r>
              <a:rPr lang="en-GB"/>
              <a:t>in Notepad++.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data = {</a:t>
            </a:r>
            <a:br>
              <a:rPr lang="en-GB"/>
            </a:br>
            <a:r>
              <a:rPr lang="en-GB"/>
              <a:t>'H' : [(1.007825, 99.9885),(2.014102, 0.0115)],</a:t>
            </a:r>
            <a:br>
              <a:rPr lang="en-GB"/>
            </a:br>
            <a:r>
              <a:rPr lang="en-GB"/>
              <a:t>'C' : [ (12.0, 98.93),(13.003355, 1.07)],</a:t>
            </a:r>
            <a:br>
              <a:rPr lang="en-GB"/>
            </a:br>
            <a:r>
              <a:rPr lang="en-GB"/>
              <a:t>'N' : [(14.003074, 99.632),(15.000109, 0.368)],</a:t>
            </a:r>
            <a:br>
              <a:rPr lang="en-GB"/>
            </a:br>
            <a:r>
              <a:rPr lang="en-GB"/>
              <a:t>'O' : [(15.994915 , 99.757),(16.999132, 0.038),(17.999160,0.205)]</a:t>
            </a:r>
            <a:br>
              <a:rPr lang="en-GB"/>
            </a:b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This is a dictionary. We need to add an entry for any elements which are missing! Use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Nick’s isotope abundance chart</a:t>
            </a:r>
            <a:r>
              <a:rPr lang="en-GB"/>
              <a:t>, or if you’ve picked something unusual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this detailed table</a:t>
            </a:r>
            <a:r>
              <a:rPr lang="en-GB"/>
              <a:t>.</a:t>
            </a:r>
            <a:endParaRPr/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Favourite Molecule 2</a:t>
            </a:r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729325" y="1393075"/>
            <a:ext cx="7857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you have updated (and saved!)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isotope_data.py</a:t>
            </a:r>
            <a:r>
              <a:rPr lang="en-GB"/>
              <a:t>, rerun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. It </a:t>
            </a:r>
            <a:r>
              <a:rPr lang="en-GB"/>
              <a:t>should</a:t>
            </a:r>
            <a:r>
              <a:rPr lang="en-GB"/>
              <a:t> now run without any errors!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Extra Exercise</a:t>
            </a:r>
            <a:r>
              <a:rPr lang="en-GB"/>
              <a:t>: How many isotopologues can you write down which will contribute to your M+1 peak?</a:t>
            </a:r>
            <a:endParaRPr/>
          </a:p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Resolution Mass Spectrometry</a:t>
            </a:r>
            <a:endParaRPr/>
          </a:p>
        </p:txBody>
      </p:sp>
      <p:sp>
        <p:nvSpPr>
          <p:cNvPr id="242" name="Google Shape;242;p33"/>
          <p:cNvSpPr txBox="1"/>
          <p:nvPr>
            <p:ph idx="1" type="body"/>
          </p:nvPr>
        </p:nvSpPr>
        <p:spPr>
          <a:xfrm>
            <a:off x="729325" y="1393075"/>
            <a:ext cx="78576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far we’ve always rounded our isotope masses to the nearest whole number. What if we don’t do that?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Open </a:t>
            </a:r>
            <a:r>
              <a:rPr lang="en-GB">
                <a:solidFill>
                  <a:srgbClr val="FF0000"/>
                </a:solidFill>
              </a:rPr>
              <a:t>ms_pattern.py </a:t>
            </a:r>
            <a:r>
              <a:rPr lang="en-GB"/>
              <a:t>and change the resolution variable to 3. This is the resolution we can expect using a ToF spectrometer.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Before </a:t>
            </a:r>
            <a:r>
              <a:rPr lang="en-GB"/>
              <a:t>you </a:t>
            </a:r>
            <a:r>
              <a:rPr lang="en-GB"/>
              <a:t>rerun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, try and answer the following questions: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many “M+1” peaks will there be in the high resolution spectrum?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Which “M+1” peak will be the most intense (the first, second, third, ...)?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Rerun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, and view your plot. It’s hard to tell the answers!</a:t>
            </a:r>
            <a:endParaRPr/>
          </a:p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Resolution Mass Spectrometry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729325" y="1393075"/>
            <a:ext cx="78576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ways to check our answers: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Open the raw data file and check the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Replot the spectrum in just the region of the M+1 peaks by adding </a:t>
            </a:r>
            <a:r>
              <a:rPr lang="en-GB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plt.xlim(left=a,right=b)</a:t>
            </a:r>
            <a:r>
              <a:rPr lang="en-GB"/>
              <a:t> to </a:t>
            </a:r>
            <a:r>
              <a:rPr lang="en-GB">
                <a:solidFill>
                  <a:srgbClr val="FF0000"/>
                </a:solidFill>
              </a:rPr>
              <a:t>ms_pattern.py</a:t>
            </a:r>
            <a:r>
              <a:rPr lang="en-GB"/>
              <a:t> in the appropriate place, and choosing sensible values of a and 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Try and get the answers by both methods!</a:t>
            </a:r>
            <a:endParaRPr/>
          </a:p>
        </p:txBody>
      </p:sp>
      <p:sp>
        <p:nvSpPr>
          <p:cNvPr id="250" name="Google Shape;250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Resolution Mass Spectrometry</a:t>
            </a:r>
            <a:endParaRPr/>
          </a:p>
        </p:txBody>
      </p:sp>
      <p:sp>
        <p:nvSpPr>
          <p:cNvPr id="256" name="Google Shape;256;p35"/>
          <p:cNvSpPr txBox="1"/>
          <p:nvPr>
            <p:ph idx="1" type="body"/>
          </p:nvPr>
        </p:nvSpPr>
        <p:spPr>
          <a:xfrm>
            <a:off x="729325" y="1393075"/>
            <a:ext cx="78576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high resolution mass spectrometry to identify molecules which have the same rounded weight. E.g. C</a:t>
            </a:r>
            <a:r>
              <a:rPr baseline="-25000" lang="en-GB"/>
              <a:t>2</a:t>
            </a:r>
            <a:r>
              <a:rPr lang="en-GB"/>
              <a:t>H</a:t>
            </a:r>
            <a:r>
              <a:rPr baseline="-25000" lang="en-GB"/>
              <a:t>8</a:t>
            </a:r>
            <a:r>
              <a:rPr lang="en-GB"/>
              <a:t>N</a:t>
            </a:r>
            <a:r>
              <a:rPr baseline="-25000" lang="en-GB"/>
              <a:t>2</a:t>
            </a:r>
            <a:r>
              <a:rPr lang="en-GB"/>
              <a:t>, C</a:t>
            </a:r>
            <a:r>
              <a:rPr baseline="-25000" lang="en-GB"/>
              <a:t>3</a:t>
            </a:r>
            <a:r>
              <a:rPr lang="en-GB"/>
              <a:t>H</a:t>
            </a:r>
            <a:r>
              <a:rPr baseline="-25000" lang="en-GB"/>
              <a:t>8</a:t>
            </a:r>
            <a:r>
              <a:rPr lang="en-GB"/>
              <a:t>O (see NJW lecture 2).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accurate mass of the M peak tell us which elements are in a molecule and how many of each element.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I’ve written a program which predicts the molecule from the mass!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Resolution Mass Spectrometry</a:t>
            </a:r>
            <a:endParaRPr/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729325" y="1393075"/>
            <a:ext cx="78576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a </a:t>
            </a:r>
            <a:r>
              <a:rPr b="1" lang="en-GB"/>
              <a:t>high resolution </a:t>
            </a:r>
            <a:r>
              <a:rPr lang="en-GB"/>
              <a:t>spectrum of your Favourite Molecule 1 (only C, H, N, O atoms).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Tell the person next to you </a:t>
            </a:r>
            <a:r>
              <a:rPr lang="en-GB"/>
              <a:t>the mass of the first peak in the spectrum</a:t>
            </a:r>
            <a:r>
              <a:rPr lang="en-GB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</a:t>
            </a:r>
            <a:r>
              <a:rPr lang="en-GB">
                <a:solidFill>
                  <a:srgbClr val="0000FF"/>
                </a:solidFill>
              </a:rPr>
              <a:t>python</a:t>
            </a:r>
            <a:r>
              <a:rPr lang="en-GB"/>
              <a:t> </a:t>
            </a:r>
            <a:r>
              <a:rPr lang="en-GB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ms_solve.py</a:t>
            </a:r>
            <a:r>
              <a:rPr lang="en-GB"/>
              <a:t> </a:t>
            </a:r>
            <a:r>
              <a:rPr lang="en-GB">
                <a:solidFill>
                  <a:srgbClr val="38761D"/>
                </a:solidFill>
              </a:rPr>
              <a:t>mass </a:t>
            </a:r>
            <a:r>
              <a:rPr lang="en-GB"/>
              <a:t>where you replace the word mass with mass you have been given - does it correctly identify the molecule?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Will this work with a low resolution mass? Try it and see!</a:t>
            </a:r>
            <a:endParaRPr/>
          </a:p>
        </p:txBody>
      </p:sp>
      <p:sp>
        <p:nvSpPr>
          <p:cNvPr id="264" name="Google Shape;264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type="title"/>
          </p:nvPr>
        </p:nvSpPr>
        <p:spPr>
          <a:xfrm>
            <a:off x="729450" y="874626"/>
            <a:ext cx="7688400" cy="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</a:t>
            </a:r>
            <a:r>
              <a:rPr lang="en-GB"/>
              <a:t> Resolution M+1 Challenge</a:t>
            </a:r>
            <a:endParaRPr/>
          </a:p>
        </p:txBody>
      </p:sp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729325" y="1393075"/>
            <a:ext cx="78576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finish, a challenge for you! In groups of 4-5, choose a heteroatom which </a:t>
            </a:r>
            <a:r>
              <a:rPr b="1" lang="en-GB"/>
              <a:t>must </a:t>
            </a:r>
            <a:r>
              <a:rPr lang="en-GB"/>
              <a:t>be included in your molecule. Make sure you add the correct isotope </a:t>
            </a:r>
            <a:r>
              <a:rPr lang="en-GB"/>
              <a:t>abundances</a:t>
            </a:r>
            <a:r>
              <a:rPr lang="en-GB"/>
              <a:t> for this heteroatom to your </a:t>
            </a:r>
            <a:r>
              <a:rPr lang="en-GB">
                <a:solidFill>
                  <a:srgbClr val="FF0000"/>
                </a:solidFill>
              </a:rPr>
              <a:t>isotope_data.py</a:t>
            </a:r>
            <a:r>
              <a:rPr lang="en-GB"/>
              <a:t> file.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The Challenge:</a:t>
            </a:r>
            <a:r>
              <a:rPr lang="en-GB"/>
              <a:t> </a:t>
            </a:r>
            <a:r>
              <a:rPr lang="en-GB"/>
              <a:t>Create a real molecule using ChemDraw with the low resolution M+1 peak as close to 20% relative intensity as possible. Whoever gets closest wins!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Nick’s isotope abundance chart</a:t>
            </a:r>
            <a:r>
              <a:rPr lang="en-GB"/>
              <a:t>, or </a:t>
            </a:r>
            <a:r>
              <a:rPr lang="en-GB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detailed abundance table</a:t>
            </a:r>
            <a:r>
              <a:rPr lang="en-GB"/>
              <a:t>.</a:t>
            </a:r>
            <a:endParaRPr/>
          </a:p>
        </p:txBody>
      </p:sp>
      <p:sp>
        <p:nvSpPr>
          <p:cNvPr id="271" name="Google Shape;271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